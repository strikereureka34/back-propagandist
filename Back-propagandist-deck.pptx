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1759C5-48E4-1DAF-3B4C-31A1CF790C26}">
          <p14:sldIdLst>
            <p14:sldId id="256"/>
            <p14:sldId id="257"/>
          </p14:sldIdLst>
        </p14:section>
        <p14:section name="Problem and approach" id="{DBBE8F00-470A-A041-B8A3-3BDBB30C323C}">
          <p14:sldIdLst>
            <p14:sldId id="258"/>
            <p14:sldId id="259"/>
            <p14:sldId id="260"/>
          </p14:sldIdLst>
        </p14:section>
        <p14:section name="Application and architecture" id="{48A8DF45-44FD-225D-D5F5-2AE72452053B}">
          <p14:sldIdLst>
            <p14:sldId id="261"/>
            <p14:sldId id="262"/>
            <p14:sldId id="263"/>
            <p14:sldId id="264"/>
            <p14:sldId id="265"/>
            <p14:sldId id="266"/>
            <p14:sldId id="267"/>
          </p14:sldIdLst>
        </p14:section>
        <p14:section name="Experiments and results" id="{3C2EF7C1-9453-165B-FE7F-7DE23695AD57}">
          <p14:sldIdLst>
            <p14:sldId id="268"/>
            <p14:sldId id="269"/>
            <p14:sldId id="270"/>
            <p14:sldId id="271"/>
            <p14:sldId id="272"/>
            <p14:sldId id="273"/>
          </p14:sldIdLst>
        </p14:section>
        <p14:section name="Learnings and next steps" id="{33D059C7-1F78-FB07-454E-B4050311E2BE}">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84"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Leverage</c:v>
                </c:pt>
              </c:strCache>
            </c:strRef>
          </c:tx>
          <c:spPr>
            <a:solidFill>
              <a:srgbClr val="C2410C"/>
            </a:solidFill>
            <a:effectLst/>
          </c:spPr>
          <c:invertIfNegative val="0"/>
          <c:dLbls>
            <c:numFmt formatCode="0.0#" sourceLinked="0"/>
            <c:spPr>
              <a:noFill/>
              <a:ln>
                <a:noFill/>
              </a:ln>
              <a:effectLst/>
            </c:spPr>
            <c:txPr>
              <a:bodyPr/>
              <a:lstStyle/>
              <a:p>
                <a:pPr>
                  <a:defRPr sz="1200" b="0" i="0" u="none" strike="noStrike">
                    <a:solidFill>
                      <a:srgbClr val="17150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blast-loss · high, mild</c:v>
                </c:pt>
                <c:pt idx="1">
                  <c:v>blast-latency · medium, mild</c:v>
                </c:pt>
                <c:pt idx="2">
                  <c:v>quote-garbage · high, targeted</c:v>
                </c:pt>
                <c:pt idx="3">
                  <c:v>cpu-starve · medium, broad</c:v>
                </c:pt>
                <c:pt idx="4">
                  <c:v>cart-wipe + traffic-spike · high, pair</c:v>
                </c:pt>
              </c:strCache>
            </c:strRef>
          </c:cat>
          <c:val>
            <c:numRef>
              <c:f>Sheet1!$B$2:$B$6</c:f>
              <c:numCache>
                <c:formatCode>General</c:formatCode>
                <c:ptCount val="5"/>
                <c:pt idx="0">
                  <c:v>3</c:v>
                </c:pt>
                <c:pt idx="1">
                  <c:v>2</c:v>
                </c:pt>
                <c:pt idx="2">
                  <c:v>1.5</c:v>
                </c:pt>
                <c:pt idx="3">
                  <c:v>0.67</c:v>
                </c:pt>
                <c:pt idx="4">
                  <c:v>0.6</c:v>
                </c:pt>
              </c:numCache>
            </c:numRef>
          </c:val>
          <c:extLst>
            <c:ext xmlns:c16="http://schemas.microsoft.com/office/drawing/2014/chart" uri="{C3380CC4-5D6E-409C-BE32-E72D297353CC}">
              <c16:uniqueId val="{00000000-D420-4523-863B-F7C36381B28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5C574C"/>
                </a:solidFill>
                <a:latin typeface="+mn-lt"/>
              </a:defRPr>
            </a:pPr>
            <a:endParaRPr lang="en-US"/>
          </a:p>
        </c:txPr>
        <c:crossAx val="2094734552"/>
        <c:crosses val="autoZero"/>
        <c:auto val="1"/>
        <c:lblAlgn val="ctr"/>
        <c:lblOffset val="100"/>
        <c:noMultiLvlLbl val="1"/>
      </c:catAx>
      <c:valAx>
        <c:axId val="2094734552"/>
        <c:scaling>
          <c:orientation val="minMax"/>
          <c:max val="3.6"/>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571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Back-propagandist. In one line: the AI plans the chaos experiments and explains them, code measures every number, and a person approves each run before anything touches the cluster.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8. Fill in roll numbers, institute and batch before submitting.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the solution must do, straight from the problem statement. The part we thought hardest about is on the right: if you reward damage, the AI learns to break everything. That's why we rank by leverage.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design choice. Code does everything that has to be right: measuring, scoring, safety. Models do what they're good at: reading the context, forming hypotheses and explaining. A person decides. The line at the bottom is the rule we never broke.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checkpoints, all blue because they're a person's. The bottom card is the proof from our own runs: in the demo, catalog-kill was queued but nobody approved it, so it never ran, and a person corrected the first fix the model drafted.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the OpenTelemetry demo because it's a realistic shop with about 20 services, and it already emits traces and metrics, so we could map it and measure it without adding our own tracing. The map on the right is built by depmap.py from those traces.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Box 1: code builds the context pack. Box 2: the agent session, where a person picks the pool, the planner orders it, a person approves each run, chaos.py injects under a kill switch, bank.py rates the damage from Prometheus, and the analyst explains. Box 3: rules rank and score, the fixer proposes, the summary writes report.md.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didn't let models talk to each other. Each node calls one model once, and every answer comes back through rules. There are two feedback loops: inside a session the analyst can queue a follow-up, and across sessions the fixer names the fault that proves its fix.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allocation: gpt-oss-120b plans, writes the summary and fixes high-severity findings; gpt-oss-20b runs once per experiment. Every prompt is a context pack built by code: the map facts, the measured numbers, the service facts we wrote from the shop's source. Answers are cached by a hash of the prompt, so replaying a session costs nothing.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Leverage is impact divided by how hard we pushed. blast-loss is only 10 percent packet loss but it broke checkout, so it ranks first at 3.0. The cart-wipe plus traffic-spike pair also rated high, but half of it is a flood, so it ranks last. The resilience score is krkn's formula, but over SLOs a customer actually feels.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check is what a reviewer would do by hand: does the note contradict the numbers, does it name what broke, is the sample big enough, does it cite anything. The model's own confidence is shown because Bosch asks for confidence next to every AI output, but it's labelled unchecked, because self-reported numbers aren't calibrated.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open source or free tier. One design choice worth calling out: every model call goes through one llm() function, so swapping in a model Bosch provides is a one-place change.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fault comes from outside the app, the way real trouble does. We dropped the demo's own failure flags as findings because their outcome is written into the demo, and kept two as controls to prove our measuring is right. The heatmap is the console's view of the bank: which services each fault hurt.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Damage is only as honest as the baseline it's compared with. We wait until the last fault is five minutes in the past, compare every service's errors, p95 and traffic against that window, and keep watching after the fault because damage often outlasts it. The screenshot is the Live run page during a fault.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kill switch checks every second. On a real flood of 1,000 requests a second, it stopped krkn 2.6 seconds after the first slow probe and had everything cleaned up 0.7 seconds later. The shop was back to its baseline 1.9 seconds after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session in the video, 11 October at 03:30 UTC, sized to fit three minutes. Four faults picked, budget two. The catalog losing its database took the whole shop down, and shipping errors meant customers were charged with no order. A person corrected the fixer's first draft, which pointed at recommendation calls.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ran before the demo. Session 2 is the interesting one for combined failures: the latency plus database pair left the shop unhealthy two minutes later, which neither fault did alone. Across all four runs, mild and targeted faults found three distinct root causes. Scores compare a pool before and after a fix, not one session against another.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Killing the only catalog pod took the shop down for two minutes even though the pod came back in four seconds. The logs showed why: the frontend kept connecting to the dead pod's IP and waited out Linux's SYN retries. Two replicas plus a ten second preStop took it from high to low, three times out of three, and it still holds under a slow network.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produced a wrong result at least once before we caught it. The common thread: don't trust an exit code or a tool's pass, check what the shop actually did. On the right, the limits we know about.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genetic algorithm can evolve new chaos faults for us. Its weak spot is the fitness function: reward damage and it drifts toward destruction. Our leverage score is exactly the fitness it needs. Every candidate still goes through the guards and a person's approval, and the best ones join the bank.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The repo runs in replay mode on any laptop with no cluster and no keys, and SUBMIT.md has the full findings report with the raw session reports behind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rtlCol="0"/>
          <a:lstStyle>
            <a:lvl1pPr marL="0" indent="0" algn="l">
              <a:buNone/>
              <a:defRPr lang="en-US" sz="3400" dirty="0">
                <a:solidFill>
                  <a:schemeClr val="tx1"/>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rtlCol="0"/>
          <a:lstStyle>
            <a:lvl1pPr marL="0" indent="0">
              <a:buNone/>
              <a:defRPr lang="en-US" sz="1600" dirty="0">
                <a:solidFill>
                  <a:schemeClr val="tx2"/>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Back-propagandist · AI-driven chaos engineering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rtlCol="0"/>
          <a:lstStyle>
            <a:lvl1pPr marL="0" indent="0" algn="l">
              <a:buNone/>
              <a:defRPr lang="en-US" sz="3400" dirty="0">
                <a:solidFill>
                  <a:schemeClr val="bg1"/>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bg2"/>
                </a:solidFill>
              </a:rPr>
              <a:t>Back-propagandist · AI-driven chaos engineering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00200"/>
            <a:ext cx="10728655" cy="1143000"/>
          </a:xfrm>
          <a:prstGeom prst="rect">
            <a:avLst/>
          </a:prstGeom>
          <a:noFill/>
          <a:ln/>
        </p:spPr>
        <p:txBody>
          <a:bodyPr wrap="square" rtlCol="0"/>
          <a:lstStyle>
            <a:lvl1pPr marL="0" indent="0" algn="l">
              <a:buNone/>
              <a:defRPr lang="en-US" sz="6000"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731520" y="2926080"/>
            <a:ext cx="7863840" cy="100584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hyperlink" Target="https://github.com/StrikerEureka34/Back-propagandist"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StrikerEureka34/Back-propagandist"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5.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StrikerEureka34/Back-propagandist"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hyperlink" Target="https://drive.google.com/file/d/1MjAH1Sg-a78YMJh4wG7b_F7SIiaQdP5e/view?usp=drivesdk" TargetMode="External"/><Relationship Id="rId4" Type="http://schemas.openxmlformats.org/officeDocument/2006/relationships/hyperlink" Target="https://github.com/StrikerEureka34/Back-propagandist/blob/main/SUBMIT.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00200"/>
            <a:ext cx="10728655" cy="1143000"/>
          </a:xfrm>
          <a:prstGeom prst="rect">
            <a:avLst/>
          </a:prstGeom>
          <a:noFill/>
          <a:ln/>
        </p:spPr>
        <p:txBody>
          <a:bodyPr wrap="square" lIns="0" tIns="0" rIns="0" bIns="0" rtlCol="0" anchor="b"/>
          <a:lstStyle/>
          <a:p>
            <a:pPr marL="0" indent="0" algn="l">
              <a:buNone/>
            </a:pPr>
            <a:r>
              <a:rPr lang="en-US" sz="6000" dirty="0">
                <a:solidFill>
                  <a:schemeClr val="bg1"/>
                </a:solidFill>
              </a:rPr>
              <a:t>Back-propagandist</a:t>
            </a:r>
            <a:endParaRPr lang="en-US" sz="6000" dirty="0"/>
          </a:p>
        </p:txBody>
      </p:sp>
      <p:sp>
        <p:nvSpPr>
          <p:cNvPr id="3" name="Text 0"/>
          <p:cNvSpPr>
            <a:spLocks noGrp="1"/>
          </p:cNvSpPr>
          <p:nvPr>
            <p:ph type="body" idx="101" hasCustomPrompt="1"/>
          </p:nvPr>
        </p:nvSpPr>
        <p:spPr>
          <a:xfrm>
            <a:off x="731520" y="2926080"/>
            <a:ext cx="7863840" cy="1005840"/>
          </a:xfrm>
          <a:prstGeom prst="rect">
            <a:avLst/>
          </a:prstGeom>
          <a:noFill/>
          <a:ln/>
        </p:spPr>
        <p:txBody>
          <a:bodyPr wrap="square" lIns="0" tIns="0" rIns="0" bIns="0" rtlCol="0" anchor="t"/>
          <a:lstStyle/>
          <a:p>
            <a:pPr marL="0" indent="0">
              <a:buNone/>
            </a:pPr>
            <a:r>
              <a:rPr lang="en-US" sz="2000" dirty="0">
                <a:solidFill>
                  <a:schemeClr val="bg2"/>
                </a:solidFill>
              </a:rPr>
              <a:t>An AI that chooses which faults to inject into a real online shop, explains what broke and how to fix it. A person approves every run.</a:t>
            </a:r>
            <a:endParaRPr lang="en-US" sz="2000" dirty="0"/>
          </a:p>
        </p:txBody>
      </p:sp>
      <p:sp>
        <p:nvSpPr>
          <p:cNvPr id="5" name="Text 2"/>
          <p:cNvSpPr txBox="1"/>
          <p:nvPr/>
        </p:nvSpPr>
        <p:spPr>
          <a:xfrm>
            <a:off x="731520" y="1103179"/>
            <a:ext cx="10728655" cy="365760"/>
          </a:xfrm>
          <a:prstGeom prst="rect">
            <a:avLst/>
          </a:prstGeom>
          <a:noFill/>
          <a:ln/>
        </p:spPr>
        <p:txBody>
          <a:bodyPr wrap="square" lIns="0" tIns="0" rIns="0" bIns="0" rtlCol="0" anchor="t"/>
          <a:lstStyle/>
          <a:p>
            <a:pPr marL="0" indent="0">
              <a:buNone/>
            </a:pPr>
            <a:r>
              <a:rPr lang="en-US" sz="1400" b="1" dirty="0">
                <a:solidFill>
                  <a:schemeClr val="bg2"/>
                </a:solidFill>
              </a:rPr>
              <a:t>Team 8 · AI-Driven Chaos Engineering for Cloud-Native Resilience · Bosch AI Innovation Challenge</a:t>
            </a:r>
            <a:endParaRPr lang="en-US" sz="1400" dirty="0"/>
          </a:p>
        </p:txBody>
      </p:sp>
      <p:sp>
        <p:nvSpPr>
          <p:cNvPr id="6" name="icon circle"/>
          <p:cNvSpPr/>
          <p:nvPr/>
        </p:nvSpPr>
        <p:spPr>
          <a:xfrm>
            <a:off x="731520" y="4572000"/>
            <a:ext cx="566928" cy="566928"/>
          </a:xfrm>
          <a:prstGeom prst="ellipse">
            <a:avLst/>
          </a:prstGeom>
          <a:solidFill>
            <a:schemeClr val="accent3"/>
          </a:solidFill>
          <a:ln/>
        </p:spPr>
        <p:txBody>
          <a:bodyPr/>
          <a:lstStyle/>
          <a:p>
            <a:endParaRPr lang="en-IN"/>
          </a:p>
        </p:txBody>
      </p:sp>
      <p:pic>
        <p:nvPicPr>
          <p:cNvPr id="7" name="Image 0" descr="Braces icon"/>
          <p:cNvPicPr>
            <a:picLocks noChangeAspect="1"/>
          </p:cNvPicPr>
          <p:nvPr/>
        </p:nvPicPr>
        <p:blipFill>
          <a:blip r:embed="rId3"/>
          <a:stretch>
            <a:fillRect/>
          </a:stretch>
        </p:blipFill>
        <p:spPr>
          <a:xfrm>
            <a:off x="856244" y="4696724"/>
            <a:ext cx="317480" cy="317480"/>
          </a:xfrm>
          <a:prstGeom prst="rect">
            <a:avLst/>
          </a:prstGeom>
        </p:spPr>
      </p:pic>
      <p:sp>
        <p:nvSpPr>
          <p:cNvPr id="8" name="Text 4"/>
          <p:cNvSpPr txBox="1"/>
          <p:nvPr/>
        </p:nvSpPr>
        <p:spPr>
          <a:xfrm>
            <a:off x="1444752" y="4572000"/>
            <a:ext cx="2194560" cy="566928"/>
          </a:xfrm>
          <a:prstGeom prst="rect">
            <a:avLst/>
          </a:prstGeom>
          <a:noFill/>
          <a:ln/>
        </p:spPr>
        <p:txBody>
          <a:bodyPr wrap="square" lIns="0" tIns="0" rIns="0" bIns="0" rtlCol="0" anchor="ctr"/>
          <a:lstStyle/>
          <a:p>
            <a:pPr marL="0" indent="0">
              <a:buNone/>
            </a:pPr>
            <a:r>
              <a:rPr lang="en-US" sz="1800" b="1" dirty="0">
                <a:solidFill>
                  <a:schemeClr val="bg1"/>
                </a:solidFill>
              </a:rPr>
              <a:t>Code measures</a:t>
            </a:r>
            <a:endParaRPr lang="en-US" sz="1800" dirty="0"/>
          </a:p>
        </p:txBody>
      </p:sp>
      <p:sp>
        <p:nvSpPr>
          <p:cNvPr id="9" name="icon circle"/>
          <p:cNvSpPr/>
          <p:nvPr/>
        </p:nvSpPr>
        <p:spPr>
          <a:xfrm>
            <a:off x="3749040" y="4572000"/>
            <a:ext cx="566928" cy="566928"/>
          </a:xfrm>
          <a:prstGeom prst="ellipse">
            <a:avLst/>
          </a:prstGeom>
          <a:solidFill>
            <a:schemeClr val="accent4"/>
          </a:solidFill>
          <a:ln/>
        </p:spPr>
        <p:txBody>
          <a:bodyPr/>
          <a:lstStyle/>
          <a:p>
            <a:endParaRPr lang="en-IN"/>
          </a:p>
        </p:txBody>
      </p:sp>
      <p:pic>
        <p:nvPicPr>
          <p:cNvPr id="10" name="Image 1" descr="Brain icon"/>
          <p:cNvPicPr>
            <a:picLocks noChangeAspect="1"/>
          </p:cNvPicPr>
          <p:nvPr/>
        </p:nvPicPr>
        <p:blipFill>
          <a:blip r:embed="rId4"/>
          <a:stretch>
            <a:fillRect/>
          </a:stretch>
        </p:blipFill>
        <p:spPr>
          <a:xfrm>
            <a:off x="3873764" y="4696724"/>
            <a:ext cx="317480" cy="317480"/>
          </a:xfrm>
          <a:prstGeom prst="rect">
            <a:avLst/>
          </a:prstGeom>
        </p:spPr>
      </p:pic>
      <p:sp>
        <p:nvSpPr>
          <p:cNvPr id="11" name="Text 6"/>
          <p:cNvSpPr txBox="1"/>
          <p:nvPr/>
        </p:nvSpPr>
        <p:spPr>
          <a:xfrm>
            <a:off x="4462272" y="4572000"/>
            <a:ext cx="2194560" cy="566928"/>
          </a:xfrm>
          <a:prstGeom prst="rect">
            <a:avLst/>
          </a:prstGeom>
          <a:noFill/>
          <a:ln/>
        </p:spPr>
        <p:txBody>
          <a:bodyPr wrap="square" lIns="0" tIns="0" rIns="0" bIns="0" rtlCol="0" anchor="ctr"/>
          <a:lstStyle/>
          <a:p>
            <a:pPr marL="0" indent="0">
              <a:buNone/>
            </a:pPr>
            <a:r>
              <a:rPr lang="en-US" sz="1800" b="1" dirty="0">
                <a:solidFill>
                  <a:schemeClr val="bg1"/>
                </a:solidFill>
              </a:rPr>
              <a:t>Models explain</a:t>
            </a:r>
            <a:endParaRPr lang="en-US" sz="1800" dirty="0"/>
          </a:p>
        </p:txBody>
      </p:sp>
      <p:sp>
        <p:nvSpPr>
          <p:cNvPr id="12" name="icon circle"/>
          <p:cNvSpPr/>
          <p:nvPr/>
        </p:nvSpPr>
        <p:spPr>
          <a:xfrm>
            <a:off x="6766560" y="4572000"/>
            <a:ext cx="566928" cy="566928"/>
          </a:xfrm>
          <a:prstGeom prst="ellipse">
            <a:avLst/>
          </a:prstGeom>
          <a:solidFill>
            <a:schemeClr val="accent2"/>
          </a:solidFill>
          <a:ln/>
        </p:spPr>
        <p:txBody>
          <a:bodyPr/>
          <a:lstStyle/>
          <a:p>
            <a:endParaRPr lang="en-IN"/>
          </a:p>
        </p:txBody>
      </p:sp>
      <p:pic>
        <p:nvPicPr>
          <p:cNvPr id="13" name="Image 2" descr="UserCheck icon"/>
          <p:cNvPicPr>
            <a:picLocks noChangeAspect="1"/>
          </p:cNvPicPr>
          <p:nvPr/>
        </p:nvPicPr>
        <p:blipFill>
          <a:blip r:embed="rId5"/>
          <a:stretch>
            <a:fillRect/>
          </a:stretch>
        </p:blipFill>
        <p:spPr>
          <a:xfrm>
            <a:off x="6891284" y="4696724"/>
            <a:ext cx="317480" cy="317480"/>
          </a:xfrm>
          <a:prstGeom prst="rect">
            <a:avLst/>
          </a:prstGeom>
        </p:spPr>
      </p:pic>
      <p:sp>
        <p:nvSpPr>
          <p:cNvPr id="14" name="Text 8"/>
          <p:cNvSpPr txBox="1"/>
          <p:nvPr/>
        </p:nvSpPr>
        <p:spPr>
          <a:xfrm>
            <a:off x="7479792" y="4572000"/>
            <a:ext cx="2194560" cy="566928"/>
          </a:xfrm>
          <a:prstGeom prst="rect">
            <a:avLst/>
          </a:prstGeom>
          <a:noFill/>
          <a:ln/>
        </p:spPr>
        <p:txBody>
          <a:bodyPr wrap="square" lIns="0" tIns="0" rIns="0" bIns="0" rtlCol="0" anchor="ctr"/>
          <a:lstStyle/>
          <a:p>
            <a:pPr marL="0" indent="0">
              <a:buNone/>
            </a:pPr>
            <a:r>
              <a:rPr lang="en-US" sz="1800" b="1" dirty="0">
                <a:solidFill>
                  <a:schemeClr val="bg1"/>
                </a:solidFill>
              </a:rPr>
              <a:t>A person decides</a:t>
            </a:r>
            <a:endParaRPr lang="en-US" sz="1800" dirty="0"/>
          </a:p>
        </p:txBody>
      </p:sp>
      <p:sp>
        <p:nvSpPr>
          <p:cNvPr id="15" name="Text 9">
            <a:hlinkClick r:id="rId6"/>
          </p:cNvPr>
          <p:cNvSpPr txBox="1"/>
          <p:nvPr/>
        </p:nvSpPr>
        <p:spPr>
          <a:xfrm>
            <a:off x="731520" y="5897880"/>
            <a:ext cx="7315200" cy="320040"/>
          </a:xfrm>
          <a:prstGeom prst="rect">
            <a:avLst/>
          </a:prstGeom>
          <a:noFill/>
          <a:ln/>
        </p:spPr>
        <p:txBody>
          <a:bodyPr wrap="square" lIns="0" tIns="0" rIns="0" bIns="0" rtlCol="0" anchor="t"/>
          <a:lstStyle/>
          <a:p>
            <a:pPr marL="0" indent="0">
              <a:buNone/>
            </a:pPr>
            <a:r>
              <a:rPr lang="en-US" sz="1400" u="sng" dirty="0">
                <a:solidFill>
                  <a:schemeClr val="bg2"/>
                </a:solidFill>
                <a:hlinkClick r:id="rId6">
                  <a:extLst>
                    <a:ext uri="{A12FA001-AC4F-418D-AE19-62706E023703}">
                      <ahyp:hlinkClr xmlns:ahyp="http://schemas.microsoft.com/office/drawing/2018/hyperlinkcolor" val="tx"/>
                    </a:ext>
                  </a:extLst>
                </a:hlinkClick>
              </a:rPr>
              <a:t>github.com/StrikerEureka34/Back-propagandist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The team</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Team 8 · Back-propagandist</a:t>
            </a:r>
            <a:endParaRPr lang="en-US" sz="1600" dirty="0"/>
          </a:p>
        </p:txBody>
      </p:sp>
      <p:sp>
        <p:nvSpPr>
          <p:cNvPr id="5" name="card"/>
          <p:cNvSpPr/>
          <p:nvPr/>
        </p:nvSpPr>
        <p:spPr>
          <a:xfrm>
            <a:off x="554539" y="1794878"/>
            <a:ext cx="2036003" cy="233172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6" name="icon circle"/>
          <p:cNvSpPr/>
          <p:nvPr/>
        </p:nvSpPr>
        <p:spPr>
          <a:xfrm>
            <a:off x="777240" y="2057400"/>
            <a:ext cx="640080" cy="640080"/>
          </a:xfrm>
          <a:prstGeom prst="ellipse">
            <a:avLst/>
          </a:prstGeom>
          <a:solidFill>
            <a:schemeClr val="accent2"/>
          </a:solidFill>
          <a:ln/>
        </p:spPr>
        <p:txBody>
          <a:bodyPr/>
          <a:lstStyle/>
          <a:p>
            <a:endParaRPr lang="en-IN"/>
          </a:p>
        </p:txBody>
      </p:sp>
      <p:pic>
        <p:nvPicPr>
          <p:cNvPr id="7" name="Image 0" descr="User icon"/>
          <p:cNvPicPr>
            <a:picLocks noChangeAspect="1"/>
          </p:cNvPicPr>
          <p:nvPr/>
        </p:nvPicPr>
        <p:blipFill>
          <a:blip r:embed="rId3"/>
          <a:stretch>
            <a:fillRect/>
          </a:stretch>
        </p:blipFill>
        <p:spPr>
          <a:xfrm>
            <a:off x="918058" y="2198218"/>
            <a:ext cx="358445" cy="358445"/>
          </a:xfrm>
          <a:prstGeom prst="rect">
            <a:avLst/>
          </a:prstGeom>
        </p:spPr>
      </p:pic>
      <p:sp>
        <p:nvSpPr>
          <p:cNvPr id="8" name="Text 4"/>
          <p:cNvSpPr txBox="1"/>
          <p:nvPr/>
        </p:nvSpPr>
        <p:spPr>
          <a:xfrm>
            <a:off x="777240" y="2880360"/>
            <a:ext cx="1670243" cy="411480"/>
          </a:xfrm>
          <a:prstGeom prst="rect">
            <a:avLst/>
          </a:prstGeom>
          <a:noFill/>
          <a:ln/>
        </p:spPr>
        <p:txBody>
          <a:bodyPr wrap="square" lIns="0" tIns="0" rIns="0" bIns="0" rtlCol="0" anchor="t"/>
          <a:lstStyle/>
          <a:p>
            <a:pPr marL="0" indent="0">
              <a:buNone/>
            </a:pPr>
            <a:r>
              <a:rPr lang="en-US" sz="2000" dirty="0">
                <a:solidFill>
                  <a:schemeClr val="tx1"/>
                </a:solidFill>
                <a:latin typeface="+mj-lt" pitchFamily="34" charset="0"/>
                <a:ea typeface="+mj-lt" pitchFamily="34" charset="-122"/>
                <a:cs typeface="+mj-lt" pitchFamily="34" charset="-120"/>
              </a:rPr>
              <a:t>Nethra Arun</a:t>
            </a:r>
            <a:endParaRPr lang="en-US" sz="2000" dirty="0"/>
          </a:p>
        </p:txBody>
      </p:sp>
      <p:sp>
        <p:nvSpPr>
          <p:cNvPr id="10" name="card"/>
          <p:cNvSpPr/>
          <p:nvPr/>
        </p:nvSpPr>
        <p:spPr>
          <a:xfrm>
            <a:off x="2813243" y="1783080"/>
            <a:ext cx="2036003" cy="233172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11" name="icon circle"/>
          <p:cNvSpPr/>
          <p:nvPr/>
        </p:nvSpPr>
        <p:spPr>
          <a:xfrm>
            <a:off x="3041843" y="2057400"/>
            <a:ext cx="640080" cy="640080"/>
          </a:xfrm>
          <a:prstGeom prst="ellipse">
            <a:avLst/>
          </a:prstGeom>
          <a:solidFill>
            <a:schemeClr val="accent2"/>
          </a:solidFill>
          <a:ln/>
        </p:spPr>
        <p:txBody>
          <a:bodyPr/>
          <a:lstStyle/>
          <a:p>
            <a:endParaRPr lang="en-IN"/>
          </a:p>
        </p:txBody>
      </p:sp>
      <p:pic>
        <p:nvPicPr>
          <p:cNvPr id="12" name="Image 1" descr="User icon"/>
          <p:cNvPicPr>
            <a:picLocks noChangeAspect="1"/>
          </p:cNvPicPr>
          <p:nvPr/>
        </p:nvPicPr>
        <p:blipFill>
          <a:blip r:embed="rId3"/>
          <a:stretch>
            <a:fillRect/>
          </a:stretch>
        </p:blipFill>
        <p:spPr>
          <a:xfrm>
            <a:off x="3182661" y="2198218"/>
            <a:ext cx="358445" cy="358445"/>
          </a:xfrm>
          <a:prstGeom prst="rect">
            <a:avLst/>
          </a:prstGeom>
        </p:spPr>
      </p:pic>
      <p:sp>
        <p:nvSpPr>
          <p:cNvPr id="13" name="Text 8"/>
          <p:cNvSpPr txBox="1"/>
          <p:nvPr/>
        </p:nvSpPr>
        <p:spPr>
          <a:xfrm>
            <a:off x="3041843" y="2880360"/>
            <a:ext cx="1670243" cy="411480"/>
          </a:xfrm>
          <a:prstGeom prst="rect">
            <a:avLst/>
          </a:prstGeom>
          <a:noFill/>
          <a:ln/>
        </p:spPr>
        <p:txBody>
          <a:bodyPr wrap="square" lIns="0" tIns="0" rIns="0" bIns="0" rtlCol="0" anchor="t"/>
          <a:lstStyle/>
          <a:p>
            <a:pPr marL="0" indent="0">
              <a:buNone/>
            </a:pPr>
            <a:r>
              <a:rPr lang="en-US" sz="2000" dirty="0">
                <a:solidFill>
                  <a:schemeClr val="tx1"/>
                </a:solidFill>
                <a:latin typeface="+mj-lt" pitchFamily="34" charset="0"/>
                <a:ea typeface="+mj-lt" pitchFamily="34" charset="-122"/>
                <a:cs typeface="+mj-lt" pitchFamily="34" charset="-120"/>
              </a:rPr>
              <a:t>Dev Tated</a:t>
            </a:r>
            <a:endParaRPr lang="en-US" sz="2000" dirty="0"/>
          </a:p>
        </p:txBody>
      </p:sp>
      <p:sp>
        <p:nvSpPr>
          <p:cNvPr id="15" name="card"/>
          <p:cNvSpPr/>
          <p:nvPr/>
        </p:nvSpPr>
        <p:spPr>
          <a:xfrm>
            <a:off x="5077846" y="1783080"/>
            <a:ext cx="2036003" cy="233172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16" name="icon circle"/>
          <p:cNvSpPr/>
          <p:nvPr/>
        </p:nvSpPr>
        <p:spPr>
          <a:xfrm>
            <a:off x="5306446" y="2057400"/>
            <a:ext cx="640080" cy="640080"/>
          </a:xfrm>
          <a:prstGeom prst="ellipse">
            <a:avLst/>
          </a:prstGeom>
          <a:solidFill>
            <a:schemeClr val="accent2"/>
          </a:solidFill>
          <a:ln/>
        </p:spPr>
        <p:txBody>
          <a:bodyPr/>
          <a:lstStyle/>
          <a:p>
            <a:endParaRPr lang="en-IN"/>
          </a:p>
        </p:txBody>
      </p:sp>
      <p:pic>
        <p:nvPicPr>
          <p:cNvPr id="17" name="Image 2" descr="User icon"/>
          <p:cNvPicPr>
            <a:picLocks noChangeAspect="1"/>
          </p:cNvPicPr>
          <p:nvPr/>
        </p:nvPicPr>
        <p:blipFill>
          <a:blip r:embed="rId3"/>
          <a:stretch>
            <a:fillRect/>
          </a:stretch>
        </p:blipFill>
        <p:spPr>
          <a:xfrm>
            <a:off x="5447264" y="2198218"/>
            <a:ext cx="358445" cy="358445"/>
          </a:xfrm>
          <a:prstGeom prst="rect">
            <a:avLst/>
          </a:prstGeom>
        </p:spPr>
      </p:pic>
      <p:sp>
        <p:nvSpPr>
          <p:cNvPr id="18" name="Text 12"/>
          <p:cNvSpPr txBox="1"/>
          <p:nvPr/>
        </p:nvSpPr>
        <p:spPr>
          <a:xfrm>
            <a:off x="5306446" y="2880360"/>
            <a:ext cx="1670243" cy="411480"/>
          </a:xfrm>
          <a:prstGeom prst="rect">
            <a:avLst/>
          </a:prstGeom>
          <a:noFill/>
          <a:ln/>
        </p:spPr>
        <p:txBody>
          <a:bodyPr wrap="square" lIns="0" tIns="0" rIns="0" bIns="0" rtlCol="0" anchor="t"/>
          <a:lstStyle/>
          <a:p>
            <a:pPr marL="0" indent="0">
              <a:buNone/>
            </a:pPr>
            <a:r>
              <a:rPr lang="en-US" sz="2000" dirty="0">
                <a:solidFill>
                  <a:schemeClr val="tx1"/>
                </a:solidFill>
                <a:latin typeface="+mj-lt" pitchFamily="34" charset="0"/>
                <a:ea typeface="+mj-lt" pitchFamily="34" charset="-122"/>
                <a:cs typeface="+mj-lt" pitchFamily="34" charset="-120"/>
              </a:rPr>
              <a:t>Tanmay Bains</a:t>
            </a:r>
            <a:endParaRPr lang="en-US" sz="2000" dirty="0"/>
          </a:p>
        </p:txBody>
      </p:sp>
      <p:sp>
        <p:nvSpPr>
          <p:cNvPr id="20" name="card"/>
          <p:cNvSpPr/>
          <p:nvPr/>
        </p:nvSpPr>
        <p:spPr>
          <a:xfrm>
            <a:off x="7342449" y="1783080"/>
            <a:ext cx="2036003" cy="233172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21" name="icon circle"/>
          <p:cNvSpPr/>
          <p:nvPr/>
        </p:nvSpPr>
        <p:spPr>
          <a:xfrm>
            <a:off x="7571049" y="2057400"/>
            <a:ext cx="640080" cy="640080"/>
          </a:xfrm>
          <a:prstGeom prst="ellipse">
            <a:avLst/>
          </a:prstGeom>
          <a:solidFill>
            <a:schemeClr val="accent2"/>
          </a:solidFill>
          <a:ln/>
        </p:spPr>
        <p:txBody>
          <a:bodyPr/>
          <a:lstStyle/>
          <a:p>
            <a:endParaRPr lang="en-IN"/>
          </a:p>
        </p:txBody>
      </p:sp>
      <p:pic>
        <p:nvPicPr>
          <p:cNvPr id="22" name="Image 3" descr="User icon"/>
          <p:cNvPicPr>
            <a:picLocks noChangeAspect="1"/>
          </p:cNvPicPr>
          <p:nvPr/>
        </p:nvPicPr>
        <p:blipFill>
          <a:blip r:embed="rId3"/>
          <a:stretch>
            <a:fillRect/>
          </a:stretch>
        </p:blipFill>
        <p:spPr>
          <a:xfrm>
            <a:off x="7711867" y="2198218"/>
            <a:ext cx="358445" cy="358445"/>
          </a:xfrm>
          <a:prstGeom prst="rect">
            <a:avLst/>
          </a:prstGeom>
        </p:spPr>
      </p:pic>
      <p:sp>
        <p:nvSpPr>
          <p:cNvPr id="23" name="Text 16"/>
          <p:cNvSpPr txBox="1"/>
          <p:nvPr/>
        </p:nvSpPr>
        <p:spPr>
          <a:xfrm>
            <a:off x="7571049" y="2880360"/>
            <a:ext cx="1670243" cy="411480"/>
          </a:xfrm>
          <a:prstGeom prst="rect">
            <a:avLst/>
          </a:prstGeom>
          <a:noFill/>
          <a:ln/>
        </p:spPr>
        <p:txBody>
          <a:bodyPr wrap="square" lIns="0" tIns="0" rIns="0" bIns="0" rtlCol="0" anchor="t"/>
          <a:lstStyle/>
          <a:p>
            <a:pPr marL="0" indent="0">
              <a:buNone/>
            </a:pPr>
            <a:r>
              <a:rPr lang="en-US" sz="2000" dirty="0">
                <a:solidFill>
                  <a:schemeClr val="tx1"/>
                </a:solidFill>
                <a:latin typeface="+mj-lt" pitchFamily="34" charset="0"/>
                <a:ea typeface="+mj-lt" pitchFamily="34" charset="-122"/>
                <a:cs typeface="+mj-lt" pitchFamily="34" charset="-120"/>
              </a:rPr>
              <a:t>Ayush Kumar</a:t>
            </a:r>
            <a:endParaRPr lang="en-US" sz="2000" dirty="0"/>
          </a:p>
        </p:txBody>
      </p:sp>
      <p:sp>
        <p:nvSpPr>
          <p:cNvPr id="25" name="card"/>
          <p:cNvSpPr/>
          <p:nvPr/>
        </p:nvSpPr>
        <p:spPr>
          <a:xfrm>
            <a:off x="9607052" y="1783080"/>
            <a:ext cx="2036003" cy="233172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26" name="icon circle"/>
          <p:cNvSpPr/>
          <p:nvPr/>
        </p:nvSpPr>
        <p:spPr>
          <a:xfrm>
            <a:off x="9835652" y="2057400"/>
            <a:ext cx="640080" cy="640080"/>
          </a:xfrm>
          <a:prstGeom prst="ellipse">
            <a:avLst/>
          </a:prstGeom>
          <a:solidFill>
            <a:schemeClr val="accent2"/>
          </a:solidFill>
          <a:ln/>
        </p:spPr>
        <p:txBody>
          <a:bodyPr/>
          <a:lstStyle/>
          <a:p>
            <a:endParaRPr lang="en-IN"/>
          </a:p>
        </p:txBody>
      </p:sp>
      <p:pic>
        <p:nvPicPr>
          <p:cNvPr id="27" name="Image 4" descr="User icon"/>
          <p:cNvPicPr>
            <a:picLocks noChangeAspect="1"/>
          </p:cNvPicPr>
          <p:nvPr/>
        </p:nvPicPr>
        <p:blipFill>
          <a:blip r:embed="rId3"/>
          <a:stretch>
            <a:fillRect/>
          </a:stretch>
        </p:blipFill>
        <p:spPr>
          <a:xfrm>
            <a:off x="9976470" y="2198218"/>
            <a:ext cx="358445" cy="358445"/>
          </a:xfrm>
          <a:prstGeom prst="rect">
            <a:avLst/>
          </a:prstGeom>
        </p:spPr>
      </p:pic>
      <p:sp>
        <p:nvSpPr>
          <p:cNvPr id="28" name="Text 20"/>
          <p:cNvSpPr txBox="1"/>
          <p:nvPr/>
        </p:nvSpPr>
        <p:spPr>
          <a:xfrm>
            <a:off x="9835652" y="2880360"/>
            <a:ext cx="1670243" cy="411480"/>
          </a:xfrm>
          <a:prstGeom prst="rect">
            <a:avLst/>
          </a:prstGeom>
          <a:noFill/>
          <a:ln/>
        </p:spPr>
        <p:txBody>
          <a:bodyPr wrap="square" lIns="0" tIns="0" rIns="0" bIns="0" rtlCol="0" anchor="t"/>
          <a:lstStyle/>
          <a:p>
            <a:pPr marL="0" indent="0">
              <a:buNone/>
            </a:pPr>
            <a:r>
              <a:rPr lang="en-US" sz="2000" dirty="0">
                <a:solidFill>
                  <a:schemeClr val="tx1"/>
                </a:solidFill>
                <a:latin typeface="+mj-lt" pitchFamily="34" charset="0"/>
                <a:ea typeface="+mj-lt" pitchFamily="34" charset="-122"/>
                <a:cs typeface="+mj-lt" pitchFamily="34" charset="-120"/>
              </a:rPr>
              <a:t>Vaibhav</a:t>
            </a:r>
            <a:endParaRPr lang="en-US" sz="2000" dirty="0"/>
          </a:p>
        </p:txBody>
      </p:sp>
      <p:sp>
        <p:nvSpPr>
          <p:cNvPr id="30" name="card"/>
          <p:cNvSpPr/>
          <p:nvPr/>
        </p:nvSpPr>
        <p:spPr>
          <a:xfrm>
            <a:off x="548640" y="4389120"/>
            <a:ext cx="11094415" cy="1691640"/>
          </a:xfrm>
          <a:prstGeom prst="roundRect">
            <a:avLst>
              <a:gd name="adj" fmla="val 3243"/>
            </a:avLst>
          </a:prstGeom>
          <a:solidFill>
            <a:schemeClr val="bg1"/>
          </a:solidFill>
          <a:ln w="9525">
            <a:solidFill>
              <a:schemeClr val="tx2">
                <a:alpha val="28000"/>
              </a:schemeClr>
            </a:solidFill>
            <a:prstDash val="solid"/>
          </a:ln>
        </p:spPr>
        <p:txBody>
          <a:bodyPr/>
          <a:lstStyle/>
          <a:p>
            <a:endParaRPr lang="en-IN"/>
          </a:p>
        </p:txBody>
      </p:sp>
      <p:sp>
        <p:nvSpPr>
          <p:cNvPr id="31" name="Text 23"/>
          <p:cNvSpPr txBox="1"/>
          <p:nvPr/>
        </p:nvSpPr>
        <p:spPr>
          <a:xfrm>
            <a:off x="822960" y="4617720"/>
            <a:ext cx="5029200" cy="822960"/>
          </a:xfrm>
          <a:prstGeom prst="rect">
            <a:avLst/>
          </a:prstGeom>
          <a:noFill/>
          <a:ln/>
        </p:spPr>
        <p:txBody>
          <a:bodyPr wrap="square" lIns="0" tIns="0" rIns="0" bIns="0" rtlCol="0" anchor="t"/>
          <a:lstStyle/>
          <a:p>
            <a:pPr marL="0" indent="0">
              <a:buNone/>
            </a:pPr>
            <a:r>
              <a:rPr lang="en-US" sz="1300" b="1" dirty="0">
                <a:solidFill>
                  <a:schemeClr val="tx2"/>
                </a:solidFill>
              </a:rPr>
              <a:t>Institute</a:t>
            </a:r>
            <a:endParaRPr lang="en-US" sz="1400" dirty="0"/>
          </a:p>
          <a:p>
            <a:pPr marL="0" indent="0">
              <a:buNone/>
            </a:pPr>
            <a:r>
              <a:rPr lang="en-US" sz="2000" dirty="0">
                <a:latin typeface="+mj-lt" pitchFamily="34" charset="0"/>
                <a:ea typeface="+mj-lt" pitchFamily="34" charset="-122"/>
                <a:cs typeface="+mj-lt" pitchFamily="34" charset="-120"/>
              </a:rPr>
              <a:t>Manipal Institute Of Technology, Manipal</a:t>
            </a:r>
          </a:p>
          <a:p>
            <a:pPr marL="0" indent="0">
              <a:buNone/>
            </a:pPr>
            <a:r>
              <a:rPr lang="en-US" sz="2000" dirty="0">
                <a:latin typeface="+mj-lt" pitchFamily="34" charset="0"/>
                <a:ea typeface="+mj-lt" pitchFamily="34" charset="-122"/>
                <a:cs typeface="+mj-lt" pitchFamily="34" charset="-120"/>
              </a:rPr>
              <a:t>	</a:t>
            </a:r>
            <a:endParaRPr lang="en-US" sz="1400" dirty="0"/>
          </a:p>
        </p:txBody>
      </p:sp>
      <p:sp>
        <p:nvSpPr>
          <p:cNvPr id="32" name="Text 24"/>
          <p:cNvSpPr txBox="1"/>
          <p:nvPr/>
        </p:nvSpPr>
        <p:spPr>
          <a:xfrm>
            <a:off x="6309360" y="4617720"/>
            <a:ext cx="5029200" cy="822960"/>
          </a:xfrm>
          <a:prstGeom prst="rect">
            <a:avLst/>
          </a:prstGeom>
          <a:noFill/>
          <a:ln/>
        </p:spPr>
        <p:txBody>
          <a:bodyPr wrap="square" lIns="0" tIns="0" rIns="0" bIns="0" rtlCol="0" anchor="t"/>
          <a:lstStyle/>
          <a:p>
            <a:pPr marL="0" indent="0">
              <a:buNone/>
            </a:pPr>
            <a:r>
              <a:rPr lang="en-US" sz="1300" b="1" dirty="0">
                <a:solidFill>
                  <a:schemeClr val="tx2"/>
                </a:solidFill>
              </a:rPr>
              <a:t>Graduating batch</a:t>
            </a:r>
            <a:endParaRPr lang="en-US" sz="1400" dirty="0"/>
          </a:p>
          <a:p>
            <a:pPr marL="0" indent="0">
              <a:buNone/>
            </a:pPr>
            <a:r>
              <a:rPr lang="en-US" sz="2000" dirty="0">
                <a:latin typeface="+mj-lt" pitchFamily="34" charset="0"/>
                <a:ea typeface="+mj-lt" pitchFamily="34" charset="-122"/>
                <a:cs typeface="+mj-lt" pitchFamily="34" charset="-120"/>
              </a:rPr>
              <a:t>2027</a:t>
            </a:r>
            <a:endParaRPr lang="en-US" sz="1400" dirty="0"/>
          </a:p>
        </p:txBody>
      </p:sp>
      <p:sp>
        <p:nvSpPr>
          <p:cNvPr id="33" name="Text 25"/>
          <p:cNvSpPr txBox="1"/>
          <p:nvPr/>
        </p:nvSpPr>
        <p:spPr>
          <a:xfrm>
            <a:off x="777240" y="5486400"/>
            <a:ext cx="10545775" cy="320040"/>
          </a:xfrm>
          <a:prstGeom prst="rect">
            <a:avLst/>
          </a:prstGeom>
          <a:noFill/>
          <a:ln/>
        </p:spPr>
        <p:txBody>
          <a:bodyPr wrap="square" lIns="0" tIns="0" rIns="0" bIns="0" rtlCol="0" anchor="t"/>
          <a:lstStyle/>
          <a:p>
            <a:pPr marL="0" indent="0">
              <a:buNone/>
            </a:pPr>
            <a:r>
              <a:rPr lang="en-US" sz="1400" dirty="0">
                <a:solidFill>
                  <a:schemeClr val="tx2"/>
                </a:solidFill>
              </a:rPr>
              <a:t>Repository: </a:t>
            </a:r>
            <a:r>
              <a:rPr lang="en-US" sz="1400" dirty="0">
                <a:solidFill>
                  <a:schemeClr val="tx2"/>
                </a:solidFill>
                <a:hlinkClick r:id="rId4"/>
              </a:rPr>
              <a:t>github.com/StrikerEureka34/Back-propagandist</a:t>
            </a:r>
            <a:endParaRPr lang="en-US" sz="140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Break the shop on purpose, and learn from it</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Bosch asked for an AI that decides what to break, when and how safely, then explains what the failure revealed and how to fix it.</a:t>
            </a:r>
            <a:endParaRPr lang="en-US" sz="1600" dirty="0"/>
          </a:p>
        </p:txBody>
      </p:sp>
      <p:sp>
        <p:nvSpPr>
          <p:cNvPr id="5" name="Text 2"/>
          <p:cNvSpPr txBox="1"/>
          <p:nvPr/>
        </p:nvSpPr>
        <p:spPr>
          <a:xfrm>
            <a:off x="548640" y="1737360"/>
            <a:ext cx="6309360" cy="320040"/>
          </a:xfrm>
          <a:prstGeom prst="rect">
            <a:avLst/>
          </a:prstGeom>
          <a:noFill/>
          <a:ln/>
        </p:spPr>
        <p:txBody>
          <a:bodyPr wrap="square" lIns="0" tIns="0" rIns="0" bIns="0" rtlCol="0" anchor="t"/>
          <a:lstStyle/>
          <a:p>
            <a:pPr marL="0" indent="0">
              <a:buNone/>
            </a:pPr>
            <a:r>
              <a:rPr lang="en-US" sz="1400" b="1" dirty="0">
                <a:solidFill>
                  <a:schemeClr val="tx2"/>
                </a:solidFill>
              </a:rPr>
              <a:t>What the solution must do</a:t>
            </a:r>
            <a:endParaRPr lang="en-US" sz="1400" dirty="0"/>
          </a:p>
        </p:txBody>
      </p:sp>
      <p:sp>
        <p:nvSpPr>
          <p:cNvPr id="6" name="icon circle"/>
          <p:cNvSpPr/>
          <p:nvPr/>
        </p:nvSpPr>
        <p:spPr>
          <a:xfrm>
            <a:off x="548640" y="2148840"/>
            <a:ext cx="548640" cy="548640"/>
          </a:xfrm>
          <a:prstGeom prst="ellipse">
            <a:avLst/>
          </a:prstGeom>
          <a:solidFill>
            <a:schemeClr val="accent1"/>
          </a:solidFill>
          <a:ln/>
        </p:spPr>
        <p:txBody>
          <a:bodyPr/>
          <a:lstStyle/>
          <a:p>
            <a:endParaRPr lang="en-IN"/>
          </a:p>
        </p:txBody>
      </p:sp>
      <p:pic>
        <p:nvPicPr>
          <p:cNvPr id="7" name="Image 0" descr="Network icon"/>
          <p:cNvPicPr>
            <a:picLocks noChangeAspect="1"/>
          </p:cNvPicPr>
          <p:nvPr/>
        </p:nvPicPr>
        <p:blipFill>
          <a:blip r:embed="rId3"/>
          <a:stretch>
            <a:fillRect/>
          </a:stretch>
        </p:blipFill>
        <p:spPr>
          <a:xfrm>
            <a:off x="669341" y="2269541"/>
            <a:ext cx="307238" cy="307238"/>
          </a:xfrm>
          <a:prstGeom prst="rect">
            <a:avLst/>
          </a:prstGeom>
        </p:spPr>
      </p:pic>
      <p:sp>
        <p:nvSpPr>
          <p:cNvPr id="8" name="Text 4"/>
          <p:cNvSpPr txBox="1"/>
          <p:nvPr/>
        </p:nvSpPr>
        <p:spPr>
          <a:xfrm>
            <a:off x="1280160" y="2112264"/>
            <a:ext cx="5486400" cy="658368"/>
          </a:xfrm>
          <a:prstGeom prst="rect">
            <a:avLst/>
          </a:prstGeom>
          <a:noFill/>
          <a:ln/>
        </p:spPr>
        <p:txBody>
          <a:bodyPr wrap="square" lIns="0" tIns="0" rIns="0" bIns="0" rtlCol="0" anchor="t"/>
          <a:lstStyle/>
          <a:p>
            <a:pPr marL="0" indent="0">
              <a:buNone/>
            </a:pPr>
            <a:r>
              <a:rPr lang="en-US" sz="1700" b="1" dirty="0">
                <a:solidFill>
                  <a:schemeClr val="tx1"/>
                </a:solidFill>
              </a:rPr>
              <a:t>Map the app</a:t>
            </a:r>
            <a:endParaRPr lang="en-US" sz="1400" dirty="0"/>
          </a:p>
          <a:p>
            <a:pPr marL="0" indent="0">
              <a:buNone/>
            </a:pPr>
            <a:r>
              <a:rPr lang="en-US" sz="1400" dirty="0">
                <a:solidFill>
                  <a:schemeClr val="tx2"/>
                </a:solidFill>
              </a:rPr>
              <a:t>its services, dependencies and data flows</a:t>
            </a:r>
            <a:endParaRPr lang="en-US" sz="1400" dirty="0"/>
          </a:p>
        </p:txBody>
      </p:sp>
      <p:sp>
        <p:nvSpPr>
          <p:cNvPr id="9" name="icon circle"/>
          <p:cNvSpPr/>
          <p:nvPr/>
        </p:nvSpPr>
        <p:spPr>
          <a:xfrm>
            <a:off x="548640" y="2935224"/>
            <a:ext cx="548640" cy="548640"/>
          </a:xfrm>
          <a:prstGeom prst="ellipse">
            <a:avLst/>
          </a:prstGeom>
          <a:solidFill>
            <a:schemeClr val="accent1"/>
          </a:solidFill>
          <a:ln/>
        </p:spPr>
        <p:txBody>
          <a:bodyPr/>
          <a:lstStyle/>
          <a:p>
            <a:endParaRPr lang="en-IN"/>
          </a:p>
        </p:txBody>
      </p:sp>
      <p:pic>
        <p:nvPicPr>
          <p:cNvPr id="10" name="Image 1" descr="ListOrdered icon"/>
          <p:cNvPicPr>
            <a:picLocks noChangeAspect="1"/>
          </p:cNvPicPr>
          <p:nvPr/>
        </p:nvPicPr>
        <p:blipFill>
          <a:blip r:embed="rId4"/>
          <a:stretch>
            <a:fillRect/>
          </a:stretch>
        </p:blipFill>
        <p:spPr>
          <a:xfrm>
            <a:off x="669341" y="3055925"/>
            <a:ext cx="307238" cy="307238"/>
          </a:xfrm>
          <a:prstGeom prst="rect">
            <a:avLst/>
          </a:prstGeom>
        </p:spPr>
      </p:pic>
      <p:sp>
        <p:nvSpPr>
          <p:cNvPr id="11" name="Text 6"/>
          <p:cNvSpPr txBox="1"/>
          <p:nvPr/>
        </p:nvSpPr>
        <p:spPr>
          <a:xfrm>
            <a:off x="1280160" y="2898648"/>
            <a:ext cx="5486400" cy="658368"/>
          </a:xfrm>
          <a:prstGeom prst="rect">
            <a:avLst/>
          </a:prstGeom>
          <a:noFill/>
          <a:ln/>
        </p:spPr>
        <p:txBody>
          <a:bodyPr wrap="square" lIns="0" tIns="0" rIns="0" bIns="0" rtlCol="0" anchor="t"/>
          <a:lstStyle/>
          <a:p>
            <a:pPr marL="0" indent="0">
              <a:buNone/>
            </a:pPr>
            <a:r>
              <a:rPr lang="en-US" sz="1700" b="1" dirty="0">
                <a:solidFill>
                  <a:schemeClr val="tx1"/>
                </a:solidFill>
              </a:rPr>
              <a:t>Plan the experiments</a:t>
            </a:r>
            <a:endParaRPr lang="en-US" sz="1400" dirty="0"/>
          </a:p>
          <a:p>
            <a:pPr marL="0" indent="0">
              <a:buNone/>
            </a:pPr>
            <a:r>
              <a:rPr lang="en-US" sz="1400" dirty="0">
                <a:solidFill>
                  <a:schemeClr val="tx2"/>
                </a:solidFill>
              </a:rPr>
              <a:t>the most useful and riskiest ones, from the map</a:t>
            </a:r>
            <a:endParaRPr lang="en-US" sz="1400" dirty="0"/>
          </a:p>
        </p:txBody>
      </p:sp>
      <p:sp>
        <p:nvSpPr>
          <p:cNvPr id="12" name="icon circle"/>
          <p:cNvSpPr/>
          <p:nvPr/>
        </p:nvSpPr>
        <p:spPr>
          <a:xfrm>
            <a:off x="548640" y="3721608"/>
            <a:ext cx="548640" cy="548640"/>
          </a:xfrm>
          <a:prstGeom prst="ellipse">
            <a:avLst/>
          </a:prstGeom>
          <a:solidFill>
            <a:schemeClr val="accent1"/>
          </a:solidFill>
          <a:ln/>
        </p:spPr>
        <p:txBody>
          <a:bodyPr/>
          <a:lstStyle/>
          <a:p>
            <a:endParaRPr lang="en-IN"/>
          </a:p>
        </p:txBody>
      </p:sp>
      <p:pic>
        <p:nvPicPr>
          <p:cNvPr id="13" name="Image 2" descr="Zap icon"/>
          <p:cNvPicPr>
            <a:picLocks noChangeAspect="1"/>
          </p:cNvPicPr>
          <p:nvPr/>
        </p:nvPicPr>
        <p:blipFill>
          <a:blip r:embed="rId5"/>
          <a:stretch>
            <a:fillRect/>
          </a:stretch>
        </p:blipFill>
        <p:spPr>
          <a:xfrm>
            <a:off x="669341" y="3842309"/>
            <a:ext cx="307238" cy="307238"/>
          </a:xfrm>
          <a:prstGeom prst="rect">
            <a:avLst/>
          </a:prstGeom>
        </p:spPr>
      </p:pic>
      <p:sp>
        <p:nvSpPr>
          <p:cNvPr id="14" name="Text 8"/>
          <p:cNvSpPr txBox="1"/>
          <p:nvPr/>
        </p:nvSpPr>
        <p:spPr>
          <a:xfrm>
            <a:off x="1280160" y="3685032"/>
            <a:ext cx="5486400" cy="658368"/>
          </a:xfrm>
          <a:prstGeom prst="rect">
            <a:avLst/>
          </a:prstGeom>
          <a:noFill/>
          <a:ln/>
        </p:spPr>
        <p:txBody>
          <a:bodyPr wrap="square" lIns="0" tIns="0" rIns="0" bIns="0" rtlCol="0" anchor="t"/>
          <a:lstStyle/>
          <a:p>
            <a:pPr marL="0" indent="0">
              <a:buNone/>
            </a:pPr>
            <a:r>
              <a:rPr lang="en-US" sz="1700" b="1" dirty="0">
                <a:solidFill>
                  <a:schemeClr val="tx1"/>
                </a:solidFill>
              </a:rPr>
              <a:t>Inject failures safely</a:t>
            </a:r>
            <a:endParaRPr lang="en-US" sz="1400" dirty="0"/>
          </a:p>
          <a:p>
            <a:pPr marL="0" indent="0">
              <a:buNone/>
            </a:pPr>
            <a:r>
              <a:rPr lang="en-US" sz="1400" dirty="0">
                <a:solidFill>
                  <a:schemeClr val="tx2"/>
                </a:solidFill>
              </a:rPr>
              <a:t>stop on error rate, latency or blast radius</a:t>
            </a:r>
            <a:endParaRPr lang="en-US" sz="1400" dirty="0"/>
          </a:p>
        </p:txBody>
      </p:sp>
      <p:sp>
        <p:nvSpPr>
          <p:cNvPr id="15" name="icon circle"/>
          <p:cNvSpPr/>
          <p:nvPr/>
        </p:nvSpPr>
        <p:spPr>
          <a:xfrm>
            <a:off x="548640" y="4507992"/>
            <a:ext cx="548640" cy="548640"/>
          </a:xfrm>
          <a:prstGeom prst="ellipse">
            <a:avLst/>
          </a:prstGeom>
          <a:solidFill>
            <a:schemeClr val="accent1"/>
          </a:solidFill>
          <a:ln/>
        </p:spPr>
        <p:txBody>
          <a:bodyPr/>
          <a:lstStyle/>
          <a:p>
            <a:endParaRPr lang="en-IN"/>
          </a:p>
        </p:txBody>
      </p:sp>
      <p:pic>
        <p:nvPicPr>
          <p:cNvPr id="16" name="Image 3" descr="Activity icon"/>
          <p:cNvPicPr>
            <a:picLocks noChangeAspect="1"/>
          </p:cNvPicPr>
          <p:nvPr/>
        </p:nvPicPr>
        <p:blipFill>
          <a:blip r:embed="rId6"/>
          <a:stretch>
            <a:fillRect/>
          </a:stretch>
        </p:blipFill>
        <p:spPr>
          <a:xfrm>
            <a:off x="669341" y="4628693"/>
            <a:ext cx="307238" cy="307238"/>
          </a:xfrm>
          <a:prstGeom prst="rect">
            <a:avLst/>
          </a:prstGeom>
        </p:spPr>
      </p:pic>
      <p:sp>
        <p:nvSpPr>
          <p:cNvPr id="17" name="Text 10"/>
          <p:cNvSpPr txBox="1"/>
          <p:nvPr/>
        </p:nvSpPr>
        <p:spPr>
          <a:xfrm>
            <a:off x="1280160" y="4471416"/>
            <a:ext cx="5486400" cy="658368"/>
          </a:xfrm>
          <a:prstGeom prst="rect">
            <a:avLst/>
          </a:prstGeom>
          <a:noFill/>
          <a:ln/>
        </p:spPr>
        <p:txBody>
          <a:bodyPr wrap="square" lIns="0" tIns="0" rIns="0" bIns="0" rtlCol="0" anchor="t"/>
          <a:lstStyle/>
          <a:p>
            <a:pPr marL="0" indent="0">
              <a:buNone/>
            </a:pPr>
            <a:r>
              <a:rPr lang="en-US" sz="1700" b="1" dirty="0">
                <a:solidFill>
                  <a:schemeClr val="tx1"/>
                </a:solidFill>
              </a:rPr>
              <a:t>Observe</a:t>
            </a:r>
            <a:endParaRPr lang="en-US" sz="1400" dirty="0"/>
          </a:p>
          <a:p>
            <a:pPr marL="0" indent="0">
              <a:buNone/>
            </a:pPr>
            <a:r>
              <a:rPr lang="en-US" sz="1400" dirty="0">
                <a:solidFill>
                  <a:schemeClr val="tx2"/>
                </a:solidFill>
              </a:rPr>
              <a:t>errors, slowdowns and recovery time</a:t>
            </a:r>
            <a:endParaRPr lang="en-US" sz="1400" dirty="0"/>
          </a:p>
        </p:txBody>
      </p:sp>
      <p:sp>
        <p:nvSpPr>
          <p:cNvPr id="18" name="icon circle"/>
          <p:cNvSpPr/>
          <p:nvPr/>
        </p:nvSpPr>
        <p:spPr>
          <a:xfrm>
            <a:off x="548640" y="5294376"/>
            <a:ext cx="548640" cy="548640"/>
          </a:xfrm>
          <a:prstGeom prst="ellipse">
            <a:avLst/>
          </a:prstGeom>
          <a:solidFill>
            <a:schemeClr val="accent1"/>
          </a:solidFill>
          <a:ln/>
        </p:spPr>
        <p:txBody>
          <a:bodyPr/>
          <a:lstStyle/>
          <a:p>
            <a:endParaRPr lang="en-IN"/>
          </a:p>
        </p:txBody>
      </p:sp>
      <p:pic>
        <p:nvPicPr>
          <p:cNvPr id="19" name="Image 4" descr="FileText icon"/>
          <p:cNvPicPr>
            <a:picLocks noChangeAspect="1"/>
          </p:cNvPicPr>
          <p:nvPr/>
        </p:nvPicPr>
        <p:blipFill>
          <a:blip r:embed="rId7"/>
          <a:stretch>
            <a:fillRect/>
          </a:stretch>
        </p:blipFill>
        <p:spPr>
          <a:xfrm>
            <a:off x="669341" y="5415077"/>
            <a:ext cx="307238" cy="307238"/>
          </a:xfrm>
          <a:prstGeom prst="rect">
            <a:avLst/>
          </a:prstGeom>
        </p:spPr>
      </p:pic>
      <p:sp>
        <p:nvSpPr>
          <p:cNvPr id="20" name="Text 12"/>
          <p:cNvSpPr txBox="1"/>
          <p:nvPr/>
        </p:nvSpPr>
        <p:spPr>
          <a:xfrm>
            <a:off x="1280160" y="5257800"/>
            <a:ext cx="5486400" cy="658368"/>
          </a:xfrm>
          <a:prstGeom prst="rect">
            <a:avLst/>
          </a:prstGeom>
          <a:noFill/>
          <a:ln/>
        </p:spPr>
        <p:txBody>
          <a:bodyPr wrap="square" lIns="0" tIns="0" rIns="0" bIns="0" rtlCol="0" anchor="t"/>
          <a:lstStyle/>
          <a:p>
            <a:pPr marL="0" indent="0">
              <a:buNone/>
            </a:pPr>
            <a:r>
              <a:rPr lang="en-US" sz="1700" b="1" dirty="0">
                <a:solidFill>
                  <a:schemeClr val="tx1"/>
                </a:solidFill>
              </a:rPr>
              <a:t>Report</a:t>
            </a:r>
            <a:endParaRPr lang="en-US" sz="1400" dirty="0"/>
          </a:p>
          <a:p>
            <a:pPr marL="0" indent="0">
              <a:buNone/>
            </a:pPr>
            <a:r>
              <a:rPr lang="en-US" sz="1400" dirty="0">
                <a:solidFill>
                  <a:schemeClr val="tx2"/>
                </a:solidFill>
              </a:rPr>
              <a:t>ranked weaknesses, fixes and a resilience score</a:t>
            </a:r>
            <a:endParaRPr lang="en-US" sz="1400" dirty="0"/>
          </a:p>
        </p:txBody>
      </p:sp>
      <p:sp>
        <p:nvSpPr>
          <p:cNvPr id="21" name="card"/>
          <p:cNvSpPr/>
          <p:nvPr/>
        </p:nvSpPr>
        <p:spPr>
          <a:xfrm>
            <a:off x="7086600" y="1737360"/>
            <a:ext cx="4556455" cy="4434840"/>
          </a:xfrm>
          <a:prstGeom prst="roundRect">
            <a:avLst>
              <a:gd name="adj" fmla="val 1237"/>
            </a:avLst>
          </a:prstGeom>
          <a:solidFill>
            <a:schemeClr val="bg1"/>
          </a:solidFill>
          <a:ln w="9525">
            <a:solidFill>
              <a:schemeClr val="tx2">
                <a:alpha val="28000"/>
              </a:schemeClr>
            </a:solidFill>
            <a:prstDash val="solid"/>
          </a:ln>
        </p:spPr>
        <p:txBody>
          <a:bodyPr/>
          <a:lstStyle/>
          <a:p>
            <a:endParaRPr lang="en-IN"/>
          </a:p>
        </p:txBody>
      </p:sp>
      <p:sp>
        <p:nvSpPr>
          <p:cNvPr id="22" name="icon circle"/>
          <p:cNvSpPr/>
          <p:nvPr/>
        </p:nvSpPr>
        <p:spPr>
          <a:xfrm>
            <a:off x="7360920" y="1965960"/>
            <a:ext cx="502920" cy="502920"/>
          </a:xfrm>
          <a:prstGeom prst="ellipse">
            <a:avLst/>
          </a:prstGeom>
          <a:solidFill>
            <a:schemeClr val="accent6"/>
          </a:solidFill>
          <a:ln/>
        </p:spPr>
        <p:txBody>
          <a:bodyPr/>
          <a:lstStyle/>
          <a:p>
            <a:endParaRPr lang="en-IN"/>
          </a:p>
        </p:txBody>
      </p:sp>
      <p:pic>
        <p:nvPicPr>
          <p:cNvPr id="23" name="Image 5" descr="TriangleAlert icon"/>
          <p:cNvPicPr>
            <a:picLocks noChangeAspect="1"/>
          </p:cNvPicPr>
          <p:nvPr/>
        </p:nvPicPr>
        <p:blipFill>
          <a:blip r:embed="rId8"/>
          <a:stretch>
            <a:fillRect/>
          </a:stretch>
        </p:blipFill>
        <p:spPr>
          <a:xfrm>
            <a:off x="7471562" y="2076602"/>
            <a:ext cx="281635" cy="281635"/>
          </a:xfrm>
          <a:prstGeom prst="rect">
            <a:avLst/>
          </a:prstGeom>
        </p:spPr>
      </p:pic>
      <p:sp>
        <p:nvSpPr>
          <p:cNvPr id="24" name="Text 15"/>
          <p:cNvSpPr txBox="1"/>
          <p:nvPr/>
        </p:nvSpPr>
        <p:spPr>
          <a:xfrm>
            <a:off x="8001000" y="1965960"/>
            <a:ext cx="3367735" cy="502920"/>
          </a:xfrm>
          <a:prstGeom prst="rect">
            <a:avLst/>
          </a:prstGeom>
          <a:noFill/>
          <a:ln/>
        </p:spPr>
        <p:txBody>
          <a:bodyPr wrap="square" lIns="0" tIns="0" rIns="0" bIns="0" rtlCol="0" anchor="ctr"/>
          <a:lstStyle/>
          <a:p>
            <a:pPr marL="0" indent="0">
              <a:buNone/>
            </a:pPr>
            <a:r>
              <a:rPr lang="en-US" sz="2000" dirty="0">
                <a:solidFill>
                  <a:schemeClr val="tx1"/>
                </a:solidFill>
                <a:latin typeface="+mj-lt" pitchFamily="34" charset="0"/>
                <a:ea typeface="+mj-lt" pitchFamily="34" charset="-122"/>
                <a:cs typeface="+mj-lt" pitchFamily="34" charset="-120"/>
              </a:rPr>
              <a:t>The trap we designed around</a:t>
            </a:r>
            <a:endParaRPr lang="en-US" sz="2000" dirty="0"/>
          </a:p>
        </p:txBody>
      </p:sp>
      <p:sp>
        <p:nvSpPr>
          <p:cNvPr id="25" name="Text 16"/>
          <p:cNvSpPr txBox="1"/>
          <p:nvPr/>
        </p:nvSpPr>
        <p:spPr>
          <a:xfrm>
            <a:off x="7360920" y="2697480"/>
            <a:ext cx="4007815" cy="329184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Score an AI by damage and it learns to break everything. Any search rewarded for damage drifts toward the most destructive scenarios, not the most useful ones.</a:t>
            </a:r>
            <a:endParaRPr lang="en-US" sz="1600" dirty="0"/>
          </a:p>
          <a:p>
            <a:pPr marL="0" indent="0">
              <a:spcAft>
                <a:spcPts val="1000"/>
              </a:spcAft>
              <a:buNone/>
            </a:pPr>
            <a:r>
              <a:rPr lang="en-US" sz="1600" dirty="0">
                <a:solidFill>
                  <a:schemeClr val="tx1"/>
                </a:solidFill>
              </a:rPr>
              <a:t>Flooding the front door breaks any shop and teaches nothing. 10 % packet loss breaking checkout is a real finding.</a:t>
            </a:r>
            <a:endParaRPr lang="en-US" sz="1600" dirty="0"/>
          </a:p>
          <a:p>
            <a:pPr marL="0" indent="0">
              <a:buNone/>
            </a:pPr>
            <a:r>
              <a:rPr lang="en-US" sz="1600" b="1" dirty="0">
                <a:solidFill>
                  <a:schemeClr val="accent1"/>
                </a:solidFill>
              </a:rPr>
              <a:t>So we rank findings by leverage: damage per unit of push.</a:t>
            </a:r>
            <a:endParaRPr lang="en-US" sz="160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A hybrid agent: code, models and a person</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Models are good at reading context and explaining. They're bad at arithmetic and they invent names. So we split the work.</a:t>
            </a:r>
            <a:endParaRPr lang="en-US" sz="1600" dirty="0"/>
          </a:p>
        </p:txBody>
      </p:sp>
      <p:sp>
        <p:nvSpPr>
          <p:cNvPr id="5" name="card"/>
          <p:cNvSpPr/>
          <p:nvPr/>
        </p:nvSpPr>
        <p:spPr>
          <a:xfrm>
            <a:off x="548640" y="1737360"/>
            <a:ext cx="3515258" cy="3840480"/>
          </a:xfrm>
          <a:prstGeom prst="roundRect">
            <a:avLst>
              <a:gd name="adj" fmla="val 1561"/>
            </a:avLst>
          </a:prstGeom>
          <a:solidFill>
            <a:schemeClr val="bg1"/>
          </a:solidFill>
          <a:ln w="9525">
            <a:solidFill>
              <a:schemeClr val="tx2">
                <a:alpha val="28000"/>
              </a:schemeClr>
            </a:solidFill>
            <a:prstDash val="solid"/>
          </a:ln>
        </p:spPr>
        <p:txBody>
          <a:bodyPr/>
          <a:lstStyle/>
          <a:p>
            <a:endParaRPr lang="en-IN"/>
          </a:p>
        </p:txBody>
      </p:sp>
      <p:sp>
        <p:nvSpPr>
          <p:cNvPr id="6" name="icon circle"/>
          <p:cNvSpPr/>
          <p:nvPr/>
        </p:nvSpPr>
        <p:spPr>
          <a:xfrm>
            <a:off x="822960" y="1993392"/>
            <a:ext cx="566928" cy="566928"/>
          </a:xfrm>
          <a:prstGeom prst="ellipse">
            <a:avLst/>
          </a:prstGeom>
          <a:solidFill>
            <a:schemeClr val="accent3"/>
          </a:solidFill>
          <a:ln/>
        </p:spPr>
        <p:txBody>
          <a:bodyPr/>
          <a:lstStyle/>
          <a:p>
            <a:endParaRPr lang="en-IN"/>
          </a:p>
        </p:txBody>
      </p:sp>
      <p:pic>
        <p:nvPicPr>
          <p:cNvPr id="7" name="Image 0" descr="Braces icon"/>
          <p:cNvPicPr>
            <a:picLocks noChangeAspect="1"/>
          </p:cNvPicPr>
          <p:nvPr/>
        </p:nvPicPr>
        <p:blipFill>
          <a:blip r:embed="rId3"/>
          <a:stretch>
            <a:fillRect/>
          </a:stretch>
        </p:blipFill>
        <p:spPr>
          <a:xfrm>
            <a:off x="947684" y="2118116"/>
            <a:ext cx="317480" cy="317480"/>
          </a:xfrm>
          <a:prstGeom prst="rect">
            <a:avLst/>
          </a:prstGeom>
        </p:spPr>
      </p:pic>
      <p:sp>
        <p:nvSpPr>
          <p:cNvPr id="8" name="Text 4"/>
          <p:cNvSpPr txBox="1"/>
          <p:nvPr/>
        </p:nvSpPr>
        <p:spPr>
          <a:xfrm>
            <a:off x="1536192" y="1938528"/>
            <a:ext cx="2326538" cy="73152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Code</a:t>
            </a:r>
            <a:endParaRPr lang="en-US" sz="1400" dirty="0"/>
          </a:p>
          <a:p>
            <a:pPr marL="0" indent="0">
              <a:buNone/>
            </a:pPr>
            <a:r>
              <a:rPr lang="en-US" sz="1400" dirty="0">
                <a:solidFill>
                  <a:schemeClr val="tx2"/>
                </a:solidFill>
              </a:rPr>
              <a:t>measures and computes</a:t>
            </a:r>
            <a:endParaRPr lang="en-US" sz="1400" dirty="0"/>
          </a:p>
        </p:txBody>
      </p:sp>
      <p:sp>
        <p:nvSpPr>
          <p:cNvPr id="9" name="Text 5"/>
          <p:cNvSpPr txBox="1"/>
          <p:nvPr/>
        </p:nvSpPr>
        <p:spPr>
          <a:xfrm>
            <a:off x="822960" y="2834640"/>
            <a:ext cx="3012338" cy="26517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Maps the shop from its own Jaeger traces</a:t>
            </a:r>
            <a:endParaRPr lang="en-US" sz="1400" dirty="0"/>
          </a:p>
          <a:p>
            <a:pPr marL="177800" indent="-177800">
              <a:spcAft>
                <a:spcPts val="700"/>
              </a:spcAft>
              <a:buSzPct val="100000"/>
              <a:buChar char="•"/>
            </a:pPr>
            <a:r>
              <a:rPr lang="en-US" sz="1400" dirty="0">
                <a:solidFill>
                  <a:schemeClr val="tx1"/>
                </a:solidFill>
              </a:rPr>
              <a:t>Runs krkn under a kill switch checked every second</a:t>
            </a:r>
            <a:endParaRPr lang="en-US" sz="1400" dirty="0"/>
          </a:p>
          <a:p>
            <a:pPr marL="177800" indent="-177800">
              <a:spcAft>
                <a:spcPts val="700"/>
              </a:spcAft>
              <a:buSzPct val="100000"/>
              <a:buChar char="•"/>
            </a:pPr>
            <a:r>
              <a:rPr lang="en-US" sz="1400" dirty="0">
                <a:solidFill>
                  <a:schemeClr val="tx1"/>
                </a:solidFill>
              </a:rPr>
              <a:t>Rates damage from Prometheus, against a clean baseline</a:t>
            </a:r>
            <a:endParaRPr lang="en-US" sz="1400" dirty="0"/>
          </a:p>
          <a:p>
            <a:pPr marL="177800" indent="-177800">
              <a:spcAft>
                <a:spcPts val="700"/>
              </a:spcAft>
              <a:buSzPct val="100000"/>
              <a:buChar char="•"/>
            </a:pPr>
            <a:r>
              <a:rPr lang="en-US" sz="1400" dirty="0">
                <a:solidFill>
                  <a:schemeClr val="tx1"/>
                </a:solidFill>
              </a:rPr>
              <a:t>Computes leverage, the resilience score and the evidence check</a:t>
            </a:r>
            <a:endParaRPr lang="en-US" sz="1400" dirty="0"/>
          </a:p>
          <a:p>
            <a:pPr marL="177800" indent="-177800">
              <a:spcAft>
                <a:spcPts val="700"/>
              </a:spcAft>
              <a:buSzPct val="100000"/>
              <a:buChar char="•"/>
            </a:pPr>
            <a:r>
              <a:rPr lang="en-US" sz="1400" dirty="0">
                <a:solidFill>
                  <a:schemeClr val="tx1"/>
                </a:solidFill>
              </a:rPr>
              <a:t>Drops invented fault ids and builds the only pairs allowed</a:t>
            </a:r>
            <a:endParaRPr lang="en-US" sz="1400" dirty="0"/>
          </a:p>
        </p:txBody>
      </p:sp>
      <p:sp>
        <p:nvSpPr>
          <p:cNvPr id="10" name="card"/>
          <p:cNvSpPr/>
          <p:nvPr/>
        </p:nvSpPr>
        <p:spPr>
          <a:xfrm>
            <a:off x="4338218" y="1737360"/>
            <a:ext cx="3515258" cy="3840480"/>
          </a:xfrm>
          <a:prstGeom prst="roundRect">
            <a:avLst>
              <a:gd name="adj" fmla="val 1561"/>
            </a:avLst>
          </a:prstGeom>
          <a:solidFill>
            <a:schemeClr val="bg1"/>
          </a:solidFill>
          <a:ln w="9525">
            <a:solidFill>
              <a:schemeClr val="tx2">
                <a:alpha val="28000"/>
              </a:schemeClr>
            </a:solidFill>
            <a:prstDash val="solid"/>
          </a:ln>
        </p:spPr>
        <p:txBody>
          <a:bodyPr/>
          <a:lstStyle/>
          <a:p>
            <a:endParaRPr lang="en-IN"/>
          </a:p>
        </p:txBody>
      </p:sp>
      <p:sp>
        <p:nvSpPr>
          <p:cNvPr id="11" name="icon circle"/>
          <p:cNvSpPr/>
          <p:nvPr/>
        </p:nvSpPr>
        <p:spPr>
          <a:xfrm>
            <a:off x="4612538" y="1993392"/>
            <a:ext cx="566928" cy="566928"/>
          </a:xfrm>
          <a:prstGeom prst="ellipse">
            <a:avLst/>
          </a:prstGeom>
          <a:solidFill>
            <a:schemeClr val="accent4"/>
          </a:solidFill>
          <a:ln/>
        </p:spPr>
        <p:txBody>
          <a:bodyPr/>
          <a:lstStyle/>
          <a:p>
            <a:endParaRPr lang="en-IN"/>
          </a:p>
        </p:txBody>
      </p:sp>
      <p:pic>
        <p:nvPicPr>
          <p:cNvPr id="12" name="Image 1" descr="Brain icon"/>
          <p:cNvPicPr>
            <a:picLocks noChangeAspect="1"/>
          </p:cNvPicPr>
          <p:nvPr/>
        </p:nvPicPr>
        <p:blipFill>
          <a:blip r:embed="rId4"/>
          <a:stretch>
            <a:fillRect/>
          </a:stretch>
        </p:blipFill>
        <p:spPr>
          <a:xfrm>
            <a:off x="4737263" y="2118116"/>
            <a:ext cx="317480" cy="317480"/>
          </a:xfrm>
          <a:prstGeom prst="rect">
            <a:avLst/>
          </a:prstGeom>
        </p:spPr>
      </p:pic>
      <p:sp>
        <p:nvSpPr>
          <p:cNvPr id="13" name="Text 8"/>
          <p:cNvSpPr txBox="1"/>
          <p:nvPr/>
        </p:nvSpPr>
        <p:spPr>
          <a:xfrm>
            <a:off x="5325770" y="1938528"/>
            <a:ext cx="2326538" cy="73152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Models</a:t>
            </a:r>
            <a:endParaRPr lang="en-US" sz="1400" dirty="0"/>
          </a:p>
          <a:p>
            <a:pPr marL="0" indent="0">
              <a:buNone/>
            </a:pPr>
            <a:r>
              <a:rPr lang="en-US" sz="1400" dirty="0">
                <a:solidFill>
                  <a:schemeClr val="tx2"/>
                </a:solidFill>
              </a:rPr>
              <a:t>plan and explain</a:t>
            </a:r>
            <a:endParaRPr lang="en-US" sz="1400" dirty="0"/>
          </a:p>
        </p:txBody>
      </p:sp>
      <p:sp>
        <p:nvSpPr>
          <p:cNvPr id="14" name="Text 9"/>
          <p:cNvSpPr txBox="1"/>
          <p:nvPr/>
        </p:nvSpPr>
        <p:spPr>
          <a:xfrm>
            <a:off x="4612538" y="2834640"/>
            <a:ext cx="3012338" cy="26517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Planner ranks the pool by expected leverage, with a hypothesis, predicted tier and reason</a:t>
            </a:r>
            <a:endParaRPr lang="en-US" sz="1400" dirty="0"/>
          </a:p>
          <a:p>
            <a:pPr marL="177800" indent="-177800">
              <a:spcAft>
                <a:spcPts val="700"/>
              </a:spcAft>
              <a:buSzPct val="100000"/>
              <a:buChar char="•"/>
            </a:pPr>
            <a:r>
              <a:rPr lang="en-US" sz="1400" dirty="0">
                <a:solidFill>
                  <a:schemeClr val="tx1"/>
                </a:solidFill>
              </a:rPr>
              <a:t>Analyst explains each run: what broke, why, and a follow-up</a:t>
            </a:r>
            <a:endParaRPr lang="en-US" sz="1400" dirty="0"/>
          </a:p>
          <a:p>
            <a:pPr marL="177800" indent="-177800">
              <a:spcAft>
                <a:spcPts val="700"/>
              </a:spcAft>
              <a:buSzPct val="100000"/>
              <a:buChar char="•"/>
            </a:pPr>
            <a:r>
              <a:rPr lang="en-US" sz="1400" dirty="0">
                <a:solidFill>
                  <a:schemeClr val="tx1"/>
                </a:solidFill>
              </a:rPr>
              <a:t>Fixer proposes one fix per root cause, from a fix catalog</a:t>
            </a:r>
            <a:endParaRPr lang="en-US" sz="1400" dirty="0"/>
          </a:p>
          <a:p>
            <a:pPr marL="177800" indent="-177800">
              <a:spcAft>
                <a:spcPts val="700"/>
              </a:spcAft>
              <a:buSzPct val="100000"/>
              <a:buChar char="•"/>
            </a:pPr>
            <a:r>
              <a:rPr lang="en-US" sz="1400" dirty="0">
                <a:solidFill>
                  <a:schemeClr val="tx1"/>
                </a:solidFill>
              </a:rPr>
              <a:t>Summary writes the report's opening lines</a:t>
            </a:r>
            <a:endParaRPr lang="en-US" sz="1400" dirty="0"/>
          </a:p>
        </p:txBody>
      </p:sp>
      <p:sp>
        <p:nvSpPr>
          <p:cNvPr id="15" name="card"/>
          <p:cNvSpPr/>
          <p:nvPr/>
        </p:nvSpPr>
        <p:spPr>
          <a:xfrm>
            <a:off x="8127797" y="1737360"/>
            <a:ext cx="3515258" cy="3840480"/>
          </a:xfrm>
          <a:prstGeom prst="roundRect">
            <a:avLst>
              <a:gd name="adj" fmla="val 1561"/>
            </a:avLst>
          </a:prstGeom>
          <a:solidFill>
            <a:schemeClr val="bg1"/>
          </a:solidFill>
          <a:ln w="9525">
            <a:solidFill>
              <a:schemeClr val="tx2">
                <a:alpha val="28000"/>
              </a:schemeClr>
            </a:solidFill>
            <a:prstDash val="solid"/>
          </a:ln>
        </p:spPr>
        <p:txBody>
          <a:bodyPr/>
          <a:lstStyle/>
          <a:p>
            <a:endParaRPr lang="en-IN"/>
          </a:p>
        </p:txBody>
      </p:sp>
      <p:sp>
        <p:nvSpPr>
          <p:cNvPr id="16" name="icon circle"/>
          <p:cNvSpPr/>
          <p:nvPr/>
        </p:nvSpPr>
        <p:spPr>
          <a:xfrm>
            <a:off x="8402117" y="1993392"/>
            <a:ext cx="566928" cy="566928"/>
          </a:xfrm>
          <a:prstGeom prst="ellipse">
            <a:avLst/>
          </a:prstGeom>
          <a:solidFill>
            <a:schemeClr val="accent2"/>
          </a:solidFill>
          <a:ln/>
        </p:spPr>
        <p:txBody>
          <a:bodyPr/>
          <a:lstStyle/>
          <a:p>
            <a:endParaRPr lang="en-IN"/>
          </a:p>
        </p:txBody>
      </p:sp>
      <p:pic>
        <p:nvPicPr>
          <p:cNvPr id="17" name="Image 2" descr="UserCheck icon"/>
          <p:cNvPicPr>
            <a:picLocks noChangeAspect="1"/>
          </p:cNvPicPr>
          <p:nvPr/>
        </p:nvPicPr>
        <p:blipFill>
          <a:blip r:embed="rId5"/>
          <a:stretch>
            <a:fillRect/>
          </a:stretch>
        </p:blipFill>
        <p:spPr>
          <a:xfrm>
            <a:off x="8526841" y="2118116"/>
            <a:ext cx="317480" cy="317480"/>
          </a:xfrm>
          <a:prstGeom prst="rect">
            <a:avLst/>
          </a:prstGeom>
        </p:spPr>
      </p:pic>
      <p:sp>
        <p:nvSpPr>
          <p:cNvPr id="18" name="Text 12"/>
          <p:cNvSpPr txBox="1"/>
          <p:nvPr/>
        </p:nvSpPr>
        <p:spPr>
          <a:xfrm>
            <a:off x="9115349" y="1938528"/>
            <a:ext cx="2326538" cy="73152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A person</a:t>
            </a:r>
            <a:endParaRPr lang="en-US" sz="1400" dirty="0"/>
          </a:p>
          <a:p>
            <a:pPr marL="0" indent="0">
              <a:buNone/>
            </a:pPr>
            <a:r>
              <a:rPr lang="en-US" sz="1400" dirty="0">
                <a:solidFill>
                  <a:schemeClr val="tx2"/>
                </a:solidFill>
              </a:rPr>
              <a:t>decides</a:t>
            </a:r>
            <a:endParaRPr lang="en-US" sz="1400" dirty="0"/>
          </a:p>
        </p:txBody>
      </p:sp>
      <p:sp>
        <p:nvSpPr>
          <p:cNvPr id="19" name="Text 13"/>
          <p:cNvSpPr txBox="1"/>
          <p:nvPr/>
        </p:nvSpPr>
        <p:spPr>
          <a:xfrm>
            <a:off x="8402117" y="2834640"/>
            <a:ext cx="3012338" cy="26517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Picks the pool of faults and the run budget</a:t>
            </a:r>
            <a:endParaRPr lang="en-US" sz="1400" dirty="0"/>
          </a:p>
          <a:p>
            <a:pPr marL="177800" indent="-177800">
              <a:spcAft>
                <a:spcPts val="700"/>
              </a:spcAft>
              <a:buSzPct val="100000"/>
              <a:buChar char="•"/>
            </a:pPr>
            <a:r>
              <a:rPr lang="en-US" sz="1400" dirty="0">
                <a:solidFill>
                  <a:schemeClr val="tx1"/>
                </a:solidFill>
              </a:rPr>
              <a:t>Approves, skips or stops each run</a:t>
            </a:r>
            <a:endParaRPr lang="en-US" sz="1400" dirty="0"/>
          </a:p>
          <a:p>
            <a:pPr marL="177800" indent="-177800">
              <a:spcAft>
                <a:spcPts val="700"/>
              </a:spcAft>
              <a:buSzPct val="100000"/>
              <a:buChar char="•"/>
            </a:pPr>
            <a:r>
              <a:rPr lang="en-US" sz="1400" dirty="0">
                <a:solidFill>
                  <a:schemeClr val="tx1"/>
                </a:solidFill>
              </a:rPr>
              <a:t>Reorders the queue, or hits Emergency stop</a:t>
            </a:r>
            <a:endParaRPr lang="en-US" sz="1400" dirty="0"/>
          </a:p>
          <a:p>
            <a:pPr marL="177800" indent="-177800">
              <a:spcAft>
                <a:spcPts val="700"/>
              </a:spcAft>
              <a:buSzPct val="100000"/>
              <a:buChar char="•"/>
            </a:pPr>
            <a:r>
              <a:rPr lang="en-US" sz="1400" dirty="0">
                <a:solidFill>
                  <a:schemeClr val="tx1"/>
                </a:solidFill>
              </a:rPr>
              <a:t>Applies a fix, then re-runs its fault</a:t>
            </a:r>
            <a:endParaRPr lang="en-US" sz="1400" dirty="0"/>
          </a:p>
        </p:txBody>
      </p:sp>
      <p:sp>
        <p:nvSpPr>
          <p:cNvPr id="20" name="Text 14"/>
          <p:cNvSpPr txBox="1"/>
          <p:nvPr/>
        </p:nvSpPr>
        <p:spPr>
          <a:xfrm>
            <a:off x="548640" y="5760720"/>
            <a:ext cx="11094415" cy="411480"/>
          </a:xfrm>
          <a:prstGeom prst="rect">
            <a:avLst/>
          </a:prstGeom>
          <a:noFill/>
          <a:ln/>
        </p:spPr>
        <p:txBody>
          <a:bodyPr wrap="square" lIns="0" tIns="0" rIns="0" bIns="0" rtlCol="0" anchor="t"/>
          <a:lstStyle/>
          <a:p>
            <a:pPr marL="0" indent="0" algn="ctr">
              <a:buNone/>
            </a:pPr>
            <a:r>
              <a:rPr lang="en-US" sz="1900" i="1" dirty="0">
                <a:solidFill>
                  <a:schemeClr val="tx1"/>
                </a:solidFill>
                <a:latin typeface="+mj-lt" pitchFamily="34" charset="0"/>
                <a:ea typeface="+mj-lt" pitchFamily="34" charset="-122"/>
                <a:cs typeface="+mj-lt" pitchFamily="34" charset="-120"/>
              </a:rPr>
              <a:t>Every number comes from rules. Models only rank and explain. Every run needs a person.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A person decides at every critical step</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Bosch's AI code of ethics: people are the final judge of AI-based decisions. Nothing reaches the cluster without a yes.</a:t>
            </a:r>
            <a:endParaRPr lang="en-US" sz="1600" dirty="0"/>
          </a:p>
        </p:txBody>
      </p:sp>
      <p:sp>
        <p:nvSpPr>
          <p:cNvPr id="5" name="card"/>
          <p:cNvSpPr/>
          <p:nvPr/>
        </p:nvSpPr>
        <p:spPr>
          <a:xfrm>
            <a:off x="548640" y="1783080"/>
            <a:ext cx="2036003" cy="237744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6" name="step number"/>
          <p:cNvSpPr/>
          <p:nvPr/>
        </p:nvSpPr>
        <p:spPr>
          <a:xfrm>
            <a:off x="749808" y="1984248"/>
            <a:ext cx="457200" cy="457200"/>
          </a:xfrm>
          <a:prstGeom prst="ellipse">
            <a:avLst/>
          </a:prstGeom>
          <a:solidFill>
            <a:schemeClr val="accent2"/>
          </a:solidFill>
          <a:ln/>
        </p:spPr>
        <p:txBody>
          <a:bodyPr/>
          <a:lstStyle/>
          <a:p>
            <a:endParaRPr lang="en-IN"/>
          </a:p>
        </p:txBody>
      </p:sp>
      <p:sp>
        <p:nvSpPr>
          <p:cNvPr id="7" name="Text 4"/>
          <p:cNvSpPr txBox="1"/>
          <p:nvPr/>
        </p:nvSpPr>
        <p:spPr>
          <a:xfrm>
            <a:off x="749808" y="1984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749808" y="2560320"/>
            <a:ext cx="1670243" cy="320040"/>
          </a:xfrm>
          <a:prstGeom prst="rect">
            <a:avLst/>
          </a:prstGeom>
          <a:noFill/>
          <a:ln/>
        </p:spPr>
        <p:txBody>
          <a:bodyPr wrap="square" lIns="0" tIns="0" rIns="0" bIns="0" rtlCol="0" anchor="t"/>
          <a:lstStyle/>
          <a:p>
            <a:pPr marL="0" indent="0">
              <a:buNone/>
            </a:pPr>
            <a:r>
              <a:rPr lang="en-US" sz="1600" b="1" dirty="0">
                <a:solidFill>
                  <a:schemeClr val="tx1"/>
                </a:solidFill>
              </a:rPr>
              <a:t>Pick the pool</a:t>
            </a:r>
            <a:endParaRPr lang="en-US" sz="1600" dirty="0"/>
          </a:p>
        </p:txBody>
      </p:sp>
      <p:sp>
        <p:nvSpPr>
          <p:cNvPr id="9" name="Text 6"/>
          <p:cNvSpPr txBox="1"/>
          <p:nvPr/>
        </p:nvSpPr>
        <p:spPr>
          <a:xfrm>
            <a:off x="749808" y="2916936"/>
            <a:ext cx="1670243" cy="1188720"/>
          </a:xfrm>
          <a:prstGeom prst="rect">
            <a:avLst/>
          </a:prstGeom>
          <a:noFill/>
          <a:ln/>
        </p:spPr>
        <p:txBody>
          <a:bodyPr wrap="square" lIns="0" tIns="0" rIns="0" bIns="0" rtlCol="0" anchor="t"/>
          <a:lstStyle/>
          <a:p>
            <a:pPr marL="0" indent="0">
              <a:buNone/>
            </a:pPr>
            <a:r>
              <a:rPr lang="en-US" sz="1350" dirty="0">
                <a:solidFill>
                  <a:schemeClr val="tx2"/>
                </a:solidFill>
              </a:rPr>
              <a:t>Which faults, how many runs, pairs on or off.</a:t>
            </a:r>
            <a:endParaRPr lang="en-US" sz="1350" dirty="0"/>
          </a:p>
        </p:txBody>
      </p:sp>
      <p:sp>
        <p:nvSpPr>
          <p:cNvPr id="10" name="card"/>
          <p:cNvSpPr/>
          <p:nvPr/>
        </p:nvSpPr>
        <p:spPr>
          <a:xfrm>
            <a:off x="2813243" y="1783080"/>
            <a:ext cx="2036003" cy="237744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11" name="step number"/>
          <p:cNvSpPr/>
          <p:nvPr/>
        </p:nvSpPr>
        <p:spPr>
          <a:xfrm>
            <a:off x="3014411" y="1984248"/>
            <a:ext cx="457200" cy="457200"/>
          </a:xfrm>
          <a:prstGeom prst="ellipse">
            <a:avLst/>
          </a:prstGeom>
          <a:solidFill>
            <a:schemeClr val="accent2"/>
          </a:solidFill>
          <a:ln/>
        </p:spPr>
        <p:txBody>
          <a:bodyPr/>
          <a:lstStyle/>
          <a:p>
            <a:endParaRPr lang="en-IN"/>
          </a:p>
        </p:txBody>
      </p:sp>
      <p:sp>
        <p:nvSpPr>
          <p:cNvPr id="12" name="Text 9"/>
          <p:cNvSpPr txBox="1"/>
          <p:nvPr/>
        </p:nvSpPr>
        <p:spPr>
          <a:xfrm>
            <a:off x="3014411" y="1984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0"/>
          <p:cNvSpPr txBox="1"/>
          <p:nvPr/>
        </p:nvSpPr>
        <p:spPr>
          <a:xfrm>
            <a:off x="3014411" y="2560320"/>
            <a:ext cx="1670243" cy="320040"/>
          </a:xfrm>
          <a:prstGeom prst="rect">
            <a:avLst/>
          </a:prstGeom>
          <a:noFill/>
          <a:ln/>
        </p:spPr>
        <p:txBody>
          <a:bodyPr wrap="square" lIns="0" tIns="0" rIns="0" bIns="0" rtlCol="0" anchor="t"/>
          <a:lstStyle/>
          <a:p>
            <a:pPr marL="0" indent="0">
              <a:buNone/>
            </a:pPr>
            <a:r>
              <a:rPr lang="en-US" sz="1600" b="1" dirty="0">
                <a:solidFill>
                  <a:schemeClr val="tx1"/>
                </a:solidFill>
              </a:rPr>
              <a:t>Approve each run</a:t>
            </a:r>
            <a:endParaRPr lang="en-US" sz="1600" dirty="0"/>
          </a:p>
        </p:txBody>
      </p:sp>
      <p:sp>
        <p:nvSpPr>
          <p:cNvPr id="14" name="Text 11"/>
          <p:cNvSpPr txBox="1"/>
          <p:nvPr/>
        </p:nvSpPr>
        <p:spPr>
          <a:xfrm>
            <a:off x="3014411" y="2916936"/>
            <a:ext cx="1670243" cy="1188720"/>
          </a:xfrm>
          <a:prstGeom prst="rect">
            <a:avLst/>
          </a:prstGeom>
          <a:noFill/>
          <a:ln/>
        </p:spPr>
        <p:txBody>
          <a:bodyPr wrap="square" lIns="0" tIns="0" rIns="0" bIns="0" rtlCol="0" anchor="t"/>
          <a:lstStyle/>
          <a:p>
            <a:pPr marL="0" indent="0">
              <a:buNone/>
            </a:pPr>
            <a:r>
              <a:rPr lang="en-US" sz="1350" dirty="0">
                <a:solidFill>
                  <a:schemeClr val="tx2"/>
                </a:solidFill>
              </a:rPr>
              <a:t>Sees the hypothesis, predicted tier and confidence, then approves, skips or stops. Follow-ups too.</a:t>
            </a:r>
            <a:endParaRPr lang="en-US" sz="1350" dirty="0"/>
          </a:p>
        </p:txBody>
      </p:sp>
      <p:sp>
        <p:nvSpPr>
          <p:cNvPr id="15" name="card"/>
          <p:cNvSpPr/>
          <p:nvPr/>
        </p:nvSpPr>
        <p:spPr>
          <a:xfrm>
            <a:off x="5077846" y="1783080"/>
            <a:ext cx="2036003" cy="237744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16" name="step number"/>
          <p:cNvSpPr/>
          <p:nvPr/>
        </p:nvSpPr>
        <p:spPr>
          <a:xfrm>
            <a:off x="5279014" y="1984248"/>
            <a:ext cx="457200" cy="457200"/>
          </a:xfrm>
          <a:prstGeom prst="ellipse">
            <a:avLst/>
          </a:prstGeom>
          <a:solidFill>
            <a:schemeClr val="accent2"/>
          </a:solidFill>
          <a:ln/>
        </p:spPr>
        <p:txBody>
          <a:bodyPr/>
          <a:lstStyle/>
          <a:p>
            <a:endParaRPr lang="en-IN"/>
          </a:p>
        </p:txBody>
      </p:sp>
      <p:sp>
        <p:nvSpPr>
          <p:cNvPr id="17" name="Text 14"/>
          <p:cNvSpPr txBox="1"/>
          <p:nvPr/>
        </p:nvSpPr>
        <p:spPr>
          <a:xfrm>
            <a:off x="5279014" y="1984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5"/>
          <p:cNvSpPr txBox="1"/>
          <p:nvPr/>
        </p:nvSpPr>
        <p:spPr>
          <a:xfrm>
            <a:off x="5279014" y="2560320"/>
            <a:ext cx="1670243" cy="320040"/>
          </a:xfrm>
          <a:prstGeom prst="rect">
            <a:avLst/>
          </a:prstGeom>
          <a:noFill/>
          <a:ln/>
        </p:spPr>
        <p:txBody>
          <a:bodyPr wrap="square" lIns="0" tIns="0" rIns="0" bIns="0" rtlCol="0" anchor="t"/>
          <a:lstStyle/>
          <a:p>
            <a:pPr marL="0" indent="0">
              <a:buNone/>
            </a:pPr>
            <a:r>
              <a:rPr lang="en-US" sz="1600" b="1" dirty="0">
                <a:solidFill>
                  <a:schemeClr val="tx1"/>
                </a:solidFill>
              </a:rPr>
              <a:t>Reorder</a:t>
            </a:r>
            <a:endParaRPr lang="en-US" sz="1600" dirty="0"/>
          </a:p>
        </p:txBody>
      </p:sp>
      <p:sp>
        <p:nvSpPr>
          <p:cNvPr id="19" name="Text 16"/>
          <p:cNvSpPr txBox="1"/>
          <p:nvPr/>
        </p:nvSpPr>
        <p:spPr>
          <a:xfrm>
            <a:off x="5279014" y="2916936"/>
            <a:ext cx="1670243" cy="1188720"/>
          </a:xfrm>
          <a:prstGeom prst="rect">
            <a:avLst/>
          </a:prstGeom>
          <a:noFill/>
          <a:ln/>
        </p:spPr>
        <p:txBody>
          <a:bodyPr wrap="square" lIns="0" tIns="0" rIns="0" bIns="0" rtlCol="0" anchor="t"/>
          <a:lstStyle/>
          <a:p>
            <a:pPr marL="0" indent="0">
              <a:buNone/>
            </a:pPr>
            <a:r>
              <a:rPr lang="en-US" sz="1350" dirty="0">
                <a:solidFill>
                  <a:schemeClr val="tx2"/>
                </a:solidFill>
              </a:rPr>
              <a:t>Drags the queue on the Agent page to change what runs next.</a:t>
            </a:r>
            <a:endParaRPr lang="en-US" sz="1350" dirty="0"/>
          </a:p>
        </p:txBody>
      </p:sp>
      <p:sp>
        <p:nvSpPr>
          <p:cNvPr id="20" name="card"/>
          <p:cNvSpPr/>
          <p:nvPr/>
        </p:nvSpPr>
        <p:spPr>
          <a:xfrm>
            <a:off x="7342449" y="1783080"/>
            <a:ext cx="2036003" cy="237744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21" name="step number"/>
          <p:cNvSpPr/>
          <p:nvPr/>
        </p:nvSpPr>
        <p:spPr>
          <a:xfrm>
            <a:off x="7543617" y="1984248"/>
            <a:ext cx="457200" cy="457200"/>
          </a:xfrm>
          <a:prstGeom prst="ellipse">
            <a:avLst/>
          </a:prstGeom>
          <a:solidFill>
            <a:schemeClr val="accent2"/>
          </a:solidFill>
          <a:ln/>
        </p:spPr>
        <p:txBody>
          <a:bodyPr/>
          <a:lstStyle/>
          <a:p>
            <a:endParaRPr lang="en-IN"/>
          </a:p>
        </p:txBody>
      </p:sp>
      <p:sp>
        <p:nvSpPr>
          <p:cNvPr id="22" name="Text 19"/>
          <p:cNvSpPr txBox="1"/>
          <p:nvPr/>
        </p:nvSpPr>
        <p:spPr>
          <a:xfrm>
            <a:off x="7543617" y="1984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3" name="Text 20"/>
          <p:cNvSpPr txBox="1"/>
          <p:nvPr/>
        </p:nvSpPr>
        <p:spPr>
          <a:xfrm>
            <a:off x="7543617" y="2560320"/>
            <a:ext cx="1670243" cy="320040"/>
          </a:xfrm>
          <a:prstGeom prst="rect">
            <a:avLst/>
          </a:prstGeom>
          <a:noFill/>
          <a:ln/>
        </p:spPr>
        <p:txBody>
          <a:bodyPr wrap="square" lIns="0" tIns="0" rIns="0" bIns="0" rtlCol="0" anchor="t"/>
          <a:lstStyle/>
          <a:p>
            <a:pPr marL="0" indent="0">
              <a:buNone/>
            </a:pPr>
            <a:r>
              <a:rPr lang="en-US" sz="1600" b="1" dirty="0">
                <a:solidFill>
                  <a:schemeClr val="tx1"/>
                </a:solidFill>
              </a:rPr>
              <a:t>Stop anything</a:t>
            </a:r>
            <a:endParaRPr lang="en-US" sz="1600" dirty="0"/>
          </a:p>
        </p:txBody>
      </p:sp>
      <p:sp>
        <p:nvSpPr>
          <p:cNvPr id="24" name="Text 21"/>
          <p:cNvSpPr txBox="1"/>
          <p:nvPr/>
        </p:nvSpPr>
        <p:spPr>
          <a:xfrm>
            <a:off x="7543617" y="2916936"/>
            <a:ext cx="1670243" cy="1188720"/>
          </a:xfrm>
          <a:prstGeom prst="rect">
            <a:avLst/>
          </a:prstGeom>
          <a:noFill/>
          <a:ln/>
        </p:spPr>
        <p:txBody>
          <a:bodyPr wrap="square" lIns="0" tIns="0" rIns="0" bIns="0" rtlCol="0" anchor="t"/>
          <a:lstStyle/>
          <a:p>
            <a:pPr marL="0" indent="0">
              <a:buNone/>
            </a:pPr>
            <a:r>
              <a:rPr lang="en-US" sz="1350" dirty="0">
                <a:solidFill>
                  <a:schemeClr val="tx2"/>
                </a:solidFill>
              </a:rPr>
              <a:t>Emergency stop, runs/STOP or Ctrl+C. Reaches every wait, then cleans up.</a:t>
            </a:r>
            <a:endParaRPr lang="en-US" sz="1350" dirty="0"/>
          </a:p>
        </p:txBody>
      </p:sp>
      <p:sp>
        <p:nvSpPr>
          <p:cNvPr id="25" name="card"/>
          <p:cNvSpPr/>
          <p:nvPr/>
        </p:nvSpPr>
        <p:spPr>
          <a:xfrm>
            <a:off x="9607052" y="1783080"/>
            <a:ext cx="2036003" cy="2377440"/>
          </a:xfrm>
          <a:prstGeom prst="roundRect">
            <a:avLst>
              <a:gd name="adj" fmla="val 2695"/>
            </a:avLst>
          </a:prstGeom>
          <a:solidFill>
            <a:schemeClr val="bg1"/>
          </a:solidFill>
          <a:ln w="9525">
            <a:solidFill>
              <a:schemeClr val="tx2">
                <a:alpha val="28000"/>
              </a:schemeClr>
            </a:solidFill>
            <a:prstDash val="solid"/>
          </a:ln>
        </p:spPr>
        <p:txBody>
          <a:bodyPr/>
          <a:lstStyle/>
          <a:p>
            <a:endParaRPr lang="en-IN"/>
          </a:p>
        </p:txBody>
      </p:sp>
      <p:sp>
        <p:nvSpPr>
          <p:cNvPr id="26" name="step number"/>
          <p:cNvSpPr/>
          <p:nvPr/>
        </p:nvSpPr>
        <p:spPr>
          <a:xfrm>
            <a:off x="9808220" y="1984248"/>
            <a:ext cx="457200" cy="457200"/>
          </a:xfrm>
          <a:prstGeom prst="ellipse">
            <a:avLst/>
          </a:prstGeom>
          <a:solidFill>
            <a:schemeClr val="accent2"/>
          </a:solidFill>
          <a:ln/>
        </p:spPr>
        <p:txBody>
          <a:bodyPr/>
          <a:lstStyle/>
          <a:p>
            <a:endParaRPr lang="en-IN"/>
          </a:p>
        </p:txBody>
      </p:sp>
      <p:sp>
        <p:nvSpPr>
          <p:cNvPr id="27" name="Text 24"/>
          <p:cNvSpPr txBox="1"/>
          <p:nvPr/>
        </p:nvSpPr>
        <p:spPr>
          <a:xfrm>
            <a:off x="9808220" y="1984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8" name="Text 25"/>
          <p:cNvSpPr txBox="1"/>
          <p:nvPr/>
        </p:nvSpPr>
        <p:spPr>
          <a:xfrm>
            <a:off x="9808220" y="2560320"/>
            <a:ext cx="1670243" cy="320040"/>
          </a:xfrm>
          <a:prstGeom prst="rect">
            <a:avLst/>
          </a:prstGeom>
          <a:noFill/>
          <a:ln/>
        </p:spPr>
        <p:txBody>
          <a:bodyPr wrap="square" lIns="0" tIns="0" rIns="0" bIns="0" rtlCol="0" anchor="t"/>
          <a:lstStyle/>
          <a:p>
            <a:pPr marL="0" indent="0">
              <a:buNone/>
            </a:pPr>
            <a:r>
              <a:rPr lang="en-US" sz="1600" b="1" dirty="0">
                <a:solidFill>
                  <a:schemeClr val="tx1"/>
                </a:solidFill>
              </a:rPr>
              <a:t>Own the fix</a:t>
            </a:r>
            <a:endParaRPr lang="en-US" sz="1600" dirty="0"/>
          </a:p>
        </p:txBody>
      </p:sp>
      <p:sp>
        <p:nvSpPr>
          <p:cNvPr id="29" name="Text 26"/>
          <p:cNvSpPr txBox="1"/>
          <p:nvPr/>
        </p:nvSpPr>
        <p:spPr>
          <a:xfrm>
            <a:off x="9808220" y="2916936"/>
            <a:ext cx="1670243" cy="1188720"/>
          </a:xfrm>
          <a:prstGeom prst="rect">
            <a:avLst/>
          </a:prstGeom>
          <a:noFill/>
          <a:ln/>
        </p:spPr>
        <p:txBody>
          <a:bodyPr wrap="square" lIns="0" tIns="0" rIns="0" bIns="0" rtlCol="0" anchor="t"/>
          <a:lstStyle/>
          <a:p>
            <a:pPr marL="0" indent="0">
              <a:buNone/>
            </a:pPr>
            <a:r>
              <a:rPr lang="en-US" sz="1350" dirty="0">
                <a:solidFill>
                  <a:schemeClr val="tx2"/>
                </a:solidFill>
              </a:rPr>
              <a:t>The fixer only proposes. A person applies the fix and re-runs the fault.</a:t>
            </a:r>
            <a:endParaRPr lang="en-US" sz="1350" dirty="0"/>
          </a:p>
        </p:txBody>
      </p:sp>
      <p:sp>
        <p:nvSpPr>
          <p:cNvPr id="30" name="card"/>
          <p:cNvSpPr/>
          <p:nvPr/>
        </p:nvSpPr>
        <p:spPr>
          <a:xfrm>
            <a:off x="548640" y="4389120"/>
            <a:ext cx="11094415" cy="1783080"/>
          </a:xfrm>
          <a:prstGeom prst="roundRect">
            <a:avLst>
              <a:gd name="adj" fmla="val 3077"/>
            </a:avLst>
          </a:prstGeom>
          <a:solidFill>
            <a:schemeClr val="accent2">
              <a:alpha val="14000"/>
            </a:schemeClr>
          </a:solidFill>
          <a:ln/>
        </p:spPr>
        <p:txBody>
          <a:bodyPr/>
          <a:lstStyle/>
          <a:p>
            <a:endParaRPr lang="en-IN"/>
          </a:p>
        </p:txBody>
      </p:sp>
      <p:sp>
        <p:nvSpPr>
          <p:cNvPr id="31" name="Text 28"/>
          <p:cNvSpPr txBox="1"/>
          <p:nvPr/>
        </p:nvSpPr>
        <p:spPr>
          <a:xfrm>
            <a:off x="822960" y="4572000"/>
            <a:ext cx="5486400" cy="320040"/>
          </a:xfrm>
          <a:prstGeom prst="rect">
            <a:avLst/>
          </a:prstGeom>
          <a:noFill/>
          <a:ln/>
        </p:spPr>
        <p:txBody>
          <a:bodyPr wrap="square" lIns="0" tIns="0" rIns="0" bIns="0" rtlCol="0" anchor="t"/>
          <a:lstStyle/>
          <a:p>
            <a:pPr marL="0" indent="0">
              <a:buNone/>
            </a:pPr>
            <a:r>
              <a:rPr lang="en-US" sz="1600" b="1" dirty="0">
                <a:solidFill>
                  <a:schemeClr val="tx1"/>
                </a:solidFill>
              </a:rPr>
              <a:t>It happened in our runs</a:t>
            </a:r>
            <a:endParaRPr lang="en-US" sz="1600" dirty="0"/>
          </a:p>
        </p:txBody>
      </p:sp>
      <p:pic>
        <p:nvPicPr>
          <p:cNvPr id="32" name="Image 0" descr="check"/>
          <p:cNvPicPr>
            <a:picLocks noChangeAspect="1"/>
          </p:cNvPicPr>
          <p:nvPr/>
        </p:nvPicPr>
        <p:blipFill>
          <a:blip r:embed="rId3"/>
          <a:stretch>
            <a:fillRect/>
          </a:stretch>
        </p:blipFill>
        <p:spPr>
          <a:xfrm>
            <a:off x="822960" y="5029200"/>
            <a:ext cx="237744" cy="237744"/>
          </a:xfrm>
          <a:prstGeom prst="rect">
            <a:avLst/>
          </a:prstGeom>
        </p:spPr>
      </p:pic>
      <p:sp>
        <p:nvSpPr>
          <p:cNvPr id="33" name="Text 29"/>
          <p:cNvSpPr txBox="1"/>
          <p:nvPr/>
        </p:nvSpPr>
        <p:spPr>
          <a:xfrm>
            <a:off x="1170432" y="5010912"/>
            <a:ext cx="4983480" cy="502920"/>
          </a:xfrm>
          <a:prstGeom prst="rect">
            <a:avLst/>
          </a:prstGeom>
          <a:noFill/>
          <a:ln/>
        </p:spPr>
        <p:txBody>
          <a:bodyPr wrap="square" lIns="0" tIns="0" rIns="0" bIns="0" rtlCol="0" anchor="t"/>
          <a:lstStyle/>
          <a:p>
            <a:pPr marL="0" indent="0">
              <a:buNone/>
            </a:pPr>
            <a:r>
              <a:rPr lang="en-US" sz="1400" dirty="0">
                <a:solidFill>
                  <a:schemeClr val="tx1"/>
                </a:solidFill>
              </a:rPr>
              <a:t>Demo run: catalog-kill was queued but not approved, so it never ran</a:t>
            </a:r>
            <a:endParaRPr lang="en-US" sz="1400" dirty="0"/>
          </a:p>
        </p:txBody>
      </p:sp>
      <p:pic>
        <p:nvPicPr>
          <p:cNvPr id="34" name="Image 1" descr="check"/>
          <p:cNvPicPr>
            <a:picLocks noChangeAspect="1"/>
          </p:cNvPicPr>
          <p:nvPr/>
        </p:nvPicPr>
        <p:blipFill>
          <a:blip r:embed="rId3"/>
          <a:stretch>
            <a:fillRect/>
          </a:stretch>
        </p:blipFill>
        <p:spPr>
          <a:xfrm>
            <a:off x="6263640" y="5029200"/>
            <a:ext cx="237744" cy="237744"/>
          </a:xfrm>
          <a:prstGeom prst="rect">
            <a:avLst/>
          </a:prstGeom>
        </p:spPr>
      </p:pic>
      <p:sp>
        <p:nvSpPr>
          <p:cNvPr id="35" name="Text 30"/>
          <p:cNvSpPr txBox="1"/>
          <p:nvPr/>
        </p:nvSpPr>
        <p:spPr>
          <a:xfrm>
            <a:off x="6611112" y="5010912"/>
            <a:ext cx="4983480" cy="502920"/>
          </a:xfrm>
          <a:prstGeom prst="rect">
            <a:avLst/>
          </a:prstGeom>
          <a:noFill/>
          <a:ln/>
        </p:spPr>
        <p:txBody>
          <a:bodyPr wrap="square" lIns="0" tIns="0" rIns="0" bIns="0" rtlCol="0" anchor="t"/>
          <a:lstStyle/>
          <a:p>
            <a:pPr marL="0" indent="0">
              <a:buNone/>
            </a:pPr>
            <a:r>
              <a:rPr lang="en-US" sz="1400" dirty="0">
                <a:solidFill>
                  <a:schemeClr val="tx1"/>
                </a:solidFill>
              </a:rPr>
              <a:t>Demo run: a person corrected fix 1; the fixer's draft pointed at recommendation calls</a:t>
            </a:r>
            <a:endParaRPr lang="en-US" sz="1400" dirty="0"/>
          </a:p>
        </p:txBody>
      </p:sp>
      <p:pic>
        <p:nvPicPr>
          <p:cNvPr id="36" name="Image 2" descr="check"/>
          <p:cNvPicPr>
            <a:picLocks noChangeAspect="1"/>
          </p:cNvPicPr>
          <p:nvPr/>
        </p:nvPicPr>
        <p:blipFill>
          <a:blip r:embed="rId3"/>
          <a:stretch>
            <a:fillRect/>
          </a:stretch>
        </p:blipFill>
        <p:spPr>
          <a:xfrm>
            <a:off x="822960" y="5559552"/>
            <a:ext cx="237744" cy="237744"/>
          </a:xfrm>
          <a:prstGeom prst="rect">
            <a:avLst/>
          </a:prstGeom>
        </p:spPr>
      </p:pic>
      <p:sp>
        <p:nvSpPr>
          <p:cNvPr id="37" name="Text 31"/>
          <p:cNvSpPr txBox="1"/>
          <p:nvPr/>
        </p:nvSpPr>
        <p:spPr>
          <a:xfrm>
            <a:off x="1170432" y="5541264"/>
            <a:ext cx="4983480" cy="502920"/>
          </a:xfrm>
          <a:prstGeom prst="rect">
            <a:avLst/>
          </a:prstGeom>
          <a:noFill/>
          <a:ln/>
        </p:spPr>
        <p:txBody>
          <a:bodyPr wrap="square" lIns="0" tIns="0" rIns="0" bIns="0" rtlCol="0" anchor="t"/>
          <a:lstStyle/>
          <a:p>
            <a:pPr marL="0" indent="0">
              <a:buNone/>
            </a:pPr>
            <a:r>
              <a:rPr lang="en-US" sz="1400" dirty="0">
                <a:solidFill>
                  <a:schemeClr val="tx1"/>
                </a:solidFill>
              </a:rPr>
              <a:t>Session 2: a person stopped the session after 3 runs</a:t>
            </a:r>
            <a:endParaRPr lang="en-US" sz="1400" dirty="0"/>
          </a:p>
        </p:txBody>
      </p:sp>
      <p:pic>
        <p:nvPicPr>
          <p:cNvPr id="38" name="Image 3" descr="check"/>
          <p:cNvPicPr>
            <a:picLocks noChangeAspect="1"/>
          </p:cNvPicPr>
          <p:nvPr/>
        </p:nvPicPr>
        <p:blipFill>
          <a:blip r:embed="rId3"/>
          <a:stretch>
            <a:fillRect/>
          </a:stretch>
        </p:blipFill>
        <p:spPr>
          <a:xfrm>
            <a:off x="6263640" y="5559552"/>
            <a:ext cx="237744" cy="237744"/>
          </a:xfrm>
          <a:prstGeom prst="rect">
            <a:avLst/>
          </a:prstGeom>
        </p:spPr>
      </p:pic>
      <p:sp>
        <p:nvSpPr>
          <p:cNvPr id="39" name="Text 32"/>
          <p:cNvSpPr txBox="1"/>
          <p:nvPr/>
        </p:nvSpPr>
        <p:spPr>
          <a:xfrm>
            <a:off x="6611112" y="5541264"/>
            <a:ext cx="4983480" cy="502920"/>
          </a:xfrm>
          <a:prstGeom prst="rect">
            <a:avLst/>
          </a:prstGeom>
          <a:noFill/>
          <a:ln/>
        </p:spPr>
        <p:txBody>
          <a:bodyPr wrap="square" lIns="0" tIns="0" rIns="0" bIns="0" rtlCol="0" anchor="t"/>
          <a:lstStyle/>
          <a:p>
            <a:pPr marL="0" indent="0">
              <a:buNone/>
            </a:pPr>
            <a:r>
              <a:rPr lang="en-US" sz="1400" dirty="0">
                <a:solidFill>
                  <a:schemeClr val="tx1"/>
                </a:solidFill>
              </a:rPr>
              <a:t>--auto-approve is refused for live faults; it only works on replays</a:t>
            </a:r>
            <a:endParaRPr lang="en-US" sz="140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The sample app: OpenTelemetry Astronomy Shop</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A real microservice shop, Apache-2.0, installed with Helm on a 3-node kind cluster on one laptop.</a:t>
            </a:r>
            <a:endParaRPr lang="en-US" sz="1600" dirty="0"/>
          </a:p>
        </p:txBody>
      </p:sp>
      <p:sp>
        <p:nvSpPr>
          <p:cNvPr id="5" name="Text 2"/>
          <p:cNvSpPr txBox="1"/>
          <p:nvPr/>
        </p:nvSpPr>
        <p:spPr>
          <a:xfrm>
            <a:off x="548640" y="1737360"/>
            <a:ext cx="5074920" cy="4480560"/>
          </a:xfrm>
          <a:prstGeom prst="rect">
            <a:avLst/>
          </a:prstGeom>
          <a:noFill/>
          <a:ln/>
        </p:spPr>
        <p:txBody>
          <a:bodyPr wrap="square" lIns="0" tIns="0" rIns="0" bIns="0" rtlCol="0" anchor="t"/>
          <a:lstStyle/>
          <a:p>
            <a:pPr marL="0" indent="0">
              <a:buNone/>
            </a:pPr>
            <a:r>
              <a:rPr lang="en-US" sz="1500" b="1" dirty="0">
                <a:solidFill>
                  <a:schemeClr val="tx1"/>
                </a:solidFill>
              </a:rPr>
              <a:t>What it is</a:t>
            </a:r>
            <a:endParaRPr lang="en-US" sz="1400" dirty="0"/>
          </a:p>
          <a:p>
            <a:pPr marL="0" indent="0">
              <a:spcAft>
                <a:spcPts val="1600"/>
              </a:spcAft>
              <a:buNone/>
            </a:pPr>
            <a:r>
              <a:rPr lang="en-US" sz="1350" dirty="0">
                <a:solidFill>
                  <a:schemeClr val="tx2"/>
                </a:solidFill>
              </a:rPr>
              <a:t>About 20 services: frontend, checkout, cart, product catalog, payment, shipping, quote, currency, recommendation, ad, email, plus Kafka, Postgres and Valkey. github.com/open-telemetry/opentelemetry-demo</a:t>
            </a:r>
            <a:endParaRPr lang="en-US" sz="1400" dirty="0"/>
          </a:p>
          <a:p>
            <a:pPr marL="0" indent="0">
              <a:buNone/>
            </a:pPr>
            <a:r>
              <a:rPr lang="en-US" sz="1500" b="1" dirty="0">
                <a:solidFill>
                  <a:schemeClr val="tx1"/>
                </a:solidFill>
              </a:rPr>
              <a:t>Where it runs</a:t>
            </a:r>
            <a:endParaRPr lang="en-US" sz="1400" dirty="0"/>
          </a:p>
          <a:p>
            <a:pPr marL="0" indent="0">
              <a:spcAft>
                <a:spcPts val="1600"/>
              </a:spcAft>
              <a:buNone/>
            </a:pPr>
            <a:r>
              <a:rPr lang="en-US" sz="1350" dirty="0">
                <a:solidFill>
                  <a:schemeClr val="tx2"/>
                </a:solidFill>
              </a:rPr>
              <a:t>kind: a control plane, a “blast” node with the backends (node faults land here) and a “steady” node with the frontend, flagd, load generator, Jaeger and Prometheus.</a:t>
            </a:r>
            <a:endParaRPr lang="en-US" sz="1400" dirty="0"/>
          </a:p>
          <a:p>
            <a:pPr marL="0" indent="0">
              <a:buNone/>
            </a:pPr>
            <a:r>
              <a:rPr lang="en-US" sz="1500" b="1" dirty="0">
                <a:solidFill>
                  <a:schemeClr val="tx1"/>
                </a:solidFill>
              </a:rPr>
              <a:t>The flow that matters</a:t>
            </a:r>
            <a:endParaRPr lang="en-US" sz="1400" dirty="0"/>
          </a:p>
          <a:p>
            <a:pPr marL="0" indent="0">
              <a:spcAft>
                <a:spcPts val="1600"/>
              </a:spcAft>
              <a:buNone/>
            </a:pPr>
            <a:r>
              <a:rPr lang="en-US" sz="1350" dirty="0">
                <a:solidFill>
                  <a:schemeClr val="tx2"/>
                </a:solidFill>
              </a:rPr>
              <a:t>Checkout: prepare (cart, catalog, currency, quote) → charge the card → ship → empty the cart → email → Kafka.</a:t>
            </a:r>
            <a:endParaRPr lang="en-US" sz="1400" dirty="0"/>
          </a:p>
          <a:p>
            <a:pPr marL="0" indent="0">
              <a:buNone/>
            </a:pPr>
            <a:r>
              <a:rPr lang="en-US" sz="1500" b="1" dirty="0">
                <a:solidFill>
                  <a:schemeClr val="tx1"/>
                </a:solidFill>
              </a:rPr>
              <a:t>Mapped from its own traces</a:t>
            </a:r>
            <a:endParaRPr lang="en-US" sz="1400" dirty="0"/>
          </a:p>
          <a:p>
            <a:pPr marL="0" indent="0">
              <a:spcAft>
                <a:spcPts val="1600"/>
              </a:spcAft>
              <a:buNone/>
            </a:pPr>
            <a:r>
              <a:rPr lang="en-US" sz="1350" dirty="0">
                <a:solidFill>
                  <a:schemeClr val="tx2"/>
                </a:solidFill>
              </a:rPr>
              <a:t>35 of 36 official links found, plus 10 the official diagram misses. flagd has 13 dependents; carts, orders and the catalog DB have no volume.</a:t>
            </a:r>
            <a:endParaRPr lang="en-US" sz="1400" dirty="0"/>
          </a:p>
        </p:txBody>
      </p:sp>
      <p:pic>
        <p:nvPicPr>
          <p:cNvPr id="6" name="Image 0" descr="Dependency map of the Astronomy Shop built from Jaeger traces and kubectl config"/>
          <p:cNvPicPr>
            <a:picLocks noChangeAspect="1"/>
          </p:cNvPicPr>
          <p:nvPr/>
        </p:nvPicPr>
        <p:blipFill>
          <a:blip r:embed="rId3"/>
          <a:stretch>
            <a:fillRect/>
          </a:stretch>
        </p:blipFill>
        <p:spPr>
          <a:xfrm>
            <a:off x="5882335" y="1737360"/>
            <a:ext cx="5760720" cy="4120687"/>
          </a:xfrm>
          <a:prstGeom prst="rect">
            <a:avLst/>
          </a:prstGeom>
        </p:spPr>
      </p:pic>
      <p:sp>
        <p:nvSpPr>
          <p:cNvPr id="7" name="image frame"/>
          <p:cNvSpPr/>
          <p:nvPr/>
        </p:nvSpPr>
        <p:spPr>
          <a:xfrm>
            <a:off x="5882335" y="1737360"/>
            <a:ext cx="5760720" cy="4120687"/>
          </a:xfrm>
          <a:prstGeom prst="rect">
            <a:avLst/>
          </a:prstGeom>
          <a:ln w="9525">
            <a:solidFill>
              <a:schemeClr val="tx2">
                <a:alpha val="30000"/>
              </a:schemeClr>
            </a:solidFill>
            <a:prstDash val="solid"/>
          </a:ln>
        </p:spPr>
        <p:txBody>
          <a:bodyPr/>
          <a:lstStyle/>
          <a:p>
            <a:endParaRPr lang="en-IN"/>
          </a:p>
        </p:txBody>
      </p:sp>
      <p:sp>
        <p:nvSpPr>
          <p:cNvPr id="8" name="Text 4"/>
          <p:cNvSpPr txBox="1"/>
          <p:nvPr/>
        </p:nvSpPr>
        <p:spPr>
          <a:xfrm>
            <a:off x="5882335" y="5903767"/>
            <a:ext cx="5760720" cy="274320"/>
          </a:xfrm>
          <a:prstGeom prst="rect">
            <a:avLst/>
          </a:prstGeom>
          <a:noFill/>
          <a:ln/>
        </p:spPr>
        <p:txBody>
          <a:bodyPr wrap="square" lIns="0" tIns="0" rIns="0" bIns="0" rtlCol="0" anchor="t"/>
          <a:lstStyle/>
          <a:p>
            <a:pPr marL="0" indent="0">
              <a:buNone/>
            </a:pPr>
            <a:r>
              <a:rPr lang="en-US" sz="1100" dirty="0">
                <a:solidFill>
                  <a:schemeClr val="tx2"/>
                </a:solidFill>
              </a:rPr>
              <a:t>depmap.py: who calls whom (Jaeger), links to data stores (kubectl), risk flags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bg1"/>
                </a:solidFill>
              </a:rPr>
              <a:t>Solution architecture</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bg2"/>
                </a:solidFill>
              </a:rPr>
              <a:t>Code builds the context, the agent runs one approved fault at a time on the cluster, then code ranks and models explain.</a:t>
            </a:r>
            <a:endParaRPr lang="en-US" sz="1600" dirty="0"/>
          </a:p>
        </p:txBody>
      </p:sp>
      <p:pic>
        <p:nvPicPr>
          <p:cNvPr id="5" name="Image 0" descr="Architecture: context built by code, the agent session, the shop on a kind cluster, and rank, fix, report"/>
          <p:cNvPicPr>
            <a:picLocks noChangeAspect="1"/>
          </p:cNvPicPr>
          <p:nvPr/>
        </p:nvPicPr>
        <p:blipFill>
          <a:blip r:embed="rId3"/>
          <a:stretch>
            <a:fillRect/>
          </a:stretch>
        </p:blipFill>
        <p:spPr>
          <a:xfrm>
            <a:off x="548640" y="1664208"/>
            <a:ext cx="8187218" cy="4617720"/>
          </a:xfrm>
          <a:prstGeom prst="rect">
            <a:avLst/>
          </a:prstGeom>
        </p:spPr>
      </p:pic>
      <p:sp>
        <p:nvSpPr>
          <p:cNvPr id="6" name="Text 2"/>
          <p:cNvSpPr txBox="1"/>
          <p:nvPr/>
        </p:nvSpPr>
        <p:spPr>
          <a:xfrm>
            <a:off x="9055898" y="1691640"/>
            <a:ext cx="2587158" cy="320040"/>
          </a:xfrm>
          <a:prstGeom prst="rect">
            <a:avLst/>
          </a:prstGeom>
          <a:noFill/>
          <a:ln/>
        </p:spPr>
        <p:txBody>
          <a:bodyPr wrap="square" lIns="0" tIns="0" rIns="0" bIns="0" rtlCol="0" anchor="t"/>
          <a:lstStyle/>
          <a:p>
            <a:pPr marL="0" indent="0">
              <a:buNone/>
            </a:pPr>
            <a:r>
              <a:rPr lang="en-US" sz="1400" b="1" dirty="0">
                <a:solidFill>
                  <a:schemeClr val="bg1"/>
                </a:solidFill>
              </a:rPr>
              <a:t>Colour code</a:t>
            </a:r>
            <a:endParaRPr lang="en-US" sz="1400" dirty="0"/>
          </a:p>
        </p:txBody>
      </p:sp>
      <p:sp>
        <p:nvSpPr>
          <p:cNvPr id="7" name="legend dot"/>
          <p:cNvSpPr/>
          <p:nvPr/>
        </p:nvSpPr>
        <p:spPr>
          <a:xfrm>
            <a:off x="9055898" y="2157984"/>
            <a:ext cx="201168" cy="201168"/>
          </a:xfrm>
          <a:prstGeom prst="ellipse">
            <a:avLst/>
          </a:prstGeom>
          <a:solidFill>
            <a:schemeClr val="accent2"/>
          </a:solidFill>
          <a:ln/>
        </p:spPr>
        <p:txBody>
          <a:bodyPr/>
          <a:lstStyle/>
          <a:p>
            <a:endParaRPr lang="en-IN"/>
          </a:p>
        </p:txBody>
      </p:sp>
      <p:sp>
        <p:nvSpPr>
          <p:cNvPr id="8" name="Text 4"/>
          <p:cNvSpPr txBox="1"/>
          <p:nvPr/>
        </p:nvSpPr>
        <p:spPr>
          <a:xfrm>
            <a:off x="9375938" y="2103120"/>
            <a:ext cx="2267118" cy="310896"/>
          </a:xfrm>
          <a:prstGeom prst="rect">
            <a:avLst/>
          </a:prstGeom>
          <a:noFill/>
          <a:ln/>
        </p:spPr>
        <p:txBody>
          <a:bodyPr wrap="square" lIns="0" tIns="0" rIns="0" bIns="0" rtlCol="0" anchor="ctr"/>
          <a:lstStyle/>
          <a:p>
            <a:pPr marL="0" indent="0">
              <a:buNone/>
            </a:pPr>
            <a:r>
              <a:rPr lang="en-US" sz="1400" dirty="0">
                <a:solidFill>
                  <a:schemeClr val="bg1"/>
                </a:solidFill>
              </a:rPr>
              <a:t>a person</a:t>
            </a:r>
            <a:endParaRPr lang="en-US" sz="1400" dirty="0"/>
          </a:p>
        </p:txBody>
      </p:sp>
      <p:sp>
        <p:nvSpPr>
          <p:cNvPr id="9" name="legend dot"/>
          <p:cNvSpPr/>
          <p:nvPr/>
        </p:nvSpPr>
        <p:spPr>
          <a:xfrm>
            <a:off x="9055898" y="2542032"/>
            <a:ext cx="201168" cy="201168"/>
          </a:xfrm>
          <a:prstGeom prst="ellipse">
            <a:avLst/>
          </a:prstGeom>
          <a:solidFill>
            <a:schemeClr val="accent3"/>
          </a:solidFill>
          <a:ln/>
        </p:spPr>
        <p:txBody>
          <a:bodyPr/>
          <a:lstStyle/>
          <a:p>
            <a:endParaRPr lang="en-IN"/>
          </a:p>
        </p:txBody>
      </p:sp>
      <p:sp>
        <p:nvSpPr>
          <p:cNvPr id="10" name="Text 6"/>
          <p:cNvSpPr txBox="1"/>
          <p:nvPr/>
        </p:nvSpPr>
        <p:spPr>
          <a:xfrm>
            <a:off x="9375938" y="2487168"/>
            <a:ext cx="2267118" cy="310896"/>
          </a:xfrm>
          <a:prstGeom prst="rect">
            <a:avLst/>
          </a:prstGeom>
          <a:noFill/>
          <a:ln/>
        </p:spPr>
        <p:txBody>
          <a:bodyPr wrap="square" lIns="0" tIns="0" rIns="0" bIns="0" rtlCol="0" anchor="ctr"/>
          <a:lstStyle/>
          <a:p>
            <a:pPr marL="0" indent="0">
              <a:buNone/>
            </a:pPr>
            <a:r>
              <a:rPr lang="en-US" sz="1400" dirty="0">
                <a:solidFill>
                  <a:schemeClr val="bg1"/>
                </a:solidFill>
              </a:rPr>
              <a:t>code</a:t>
            </a:r>
            <a:endParaRPr lang="en-US" sz="1400" dirty="0"/>
          </a:p>
        </p:txBody>
      </p:sp>
      <p:sp>
        <p:nvSpPr>
          <p:cNvPr id="11" name="legend dot"/>
          <p:cNvSpPr/>
          <p:nvPr/>
        </p:nvSpPr>
        <p:spPr>
          <a:xfrm>
            <a:off x="9055898" y="2926080"/>
            <a:ext cx="201168" cy="201168"/>
          </a:xfrm>
          <a:prstGeom prst="ellipse">
            <a:avLst/>
          </a:prstGeom>
          <a:solidFill>
            <a:schemeClr val="accent4"/>
          </a:solidFill>
          <a:ln/>
        </p:spPr>
        <p:txBody>
          <a:bodyPr/>
          <a:lstStyle/>
          <a:p>
            <a:endParaRPr lang="en-IN"/>
          </a:p>
        </p:txBody>
      </p:sp>
      <p:sp>
        <p:nvSpPr>
          <p:cNvPr id="12" name="Text 8"/>
          <p:cNvSpPr txBox="1"/>
          <p:nvPr/>
        </p:nvSpPr>
        <p:spPr>
          <a:xfrm>
            <a:off x="9375938" y="2871216"/>
            <a:ext cx="2267118" cy="310896"/>
          </a:xfrm>
          <a:prstGeom prst="rect">
            <a:avLst/>
          </a:prstGeom>
          <a:noFill/>
          <a:ln/>
        </p:spPr>
        <p:txBody>
          <a:bodyPr wrap="square" lIns="0" tIns="0" rIns="0" bIns="0" rtlCol="0" anchor="ctr"/>
          <a:lstStyle/>
          <a:p>
            <a:pPr marL="0" indent="0">
              <a:buNone/>
            </a:pPr>
            <a:r>
              <a:rPr lang="en-US" sz="1400" dirty="0">
                <a:solidFill>
                  <a:schemeClr val="bg1"/>
                </a:solidFill>
              </a:rPr>
              <a:t>a model</a:t>
            </a:r>
            <a:endParaRPr lang="en-US" sz="1400" dirty="0"/>
          </a:p>
        </p:txBody>
      </p:sp>
      <p:sp>
        <p:nvSpPr>
          <p:cNvPr id="13" name="legend dot"/>
          <p:cNvSpPr/>
          <p:nvPr/>
        </p:nvSpPr>
        <p:spPr>
          <a:xfrm>
            <a:off x="9055898" y="3310128"/>
            <a:ext cx="201168" cy="201168"/>
          </a:xfrm>
          <a:prstGeom prst="ellipse">
            <a:avLst/>
          </a:prstGeom>
          <a:solidFill>
            <a:schemeClr val="accent5"/>
          </a:solidFill>
          <a:ln/>
        </p:spPr>
        <p:txBody>
          <a:bodyPr/>
          <a:lstStyle/>
          <a:p>
            <a:endParaRPr lang="en-IN"/>
          </a:p>
        </p:txBody>
      </p:sp>
      <p:sp>
        <p:nvSpPr>
          <p:cNvPr id="14" name="Text 10"/>
          <p:cNvSpPr txBox="1"/>
          <p:nvPr/>
        </p:nvSpPr>
        <p:spPr>
          <a:xfrm>
            <a:off x="9375938" y="3255264"/>
            <a:ext cx="2267118" cy="310896"/>
          </a:xfrm>
          <a:prstGeom prst="rect">
            <a:avLst/>
          </a:prstGeom>
          <a:noFill/>
          <a:ln/>
        </p:spPr>
        <p:txBody>
          <a:bodyPr wrap="square" lIns="0" tIns="0" rIns="0" bIns="0" rtlCol="0" anchor="ctr"/>
          <a:lstStyle/>
          <a:p>
            <a:pPr marL="0" indent="0">
              <a:buNone/>
            </a:pPr>
            <a:r>
              <a:rPr lang="en-US" sz="1400" dirty="0">
                <a:solidFill>
                  <a:schemeClr val="bg1"/>
                </a:solidFill>
              </a:rPr>
              <a:t>the cluster</a:t>
            </a:r>
            <a:endParaRPr lang="en-US" sz="1400" dirty="0"/>
          </a:p>
        </p:txBody>
      </p:sp>
      <p:sp>
        <p:nvSpPr>
          <p:cNvPr id="15" name="legend dot"/>
          <p:cNvSpPr/>
          <p:nvPr/>
        </p:nvSpPr>
        <p:spPr>
          <a:xfrm>
            <a:off x="9055898" y="3694176"/>
            <a:ext cx="201168" cy="201168"/>
          </a:xfrm>
          <a:prstGeom prst="ellipse">
            <a:avLst/>
          </a:prstGeom>
          <a:solidFill>
            <a:schemeClr val="accent1"/>
          </a:solidFill>
          <a:ln/>
        </p:spPr>
        <p:txBody>
          <a:bodyPr/>
          <a:lstStyle/>
          <a:p>
            <a:endParaRPr lang="en-IN"/>
          </a:p>
        </p:txBody>
      </p:sp>
      <p:sp>
        <p:nvSpPr>
          <p:cNvPr id="16" name="Text 12"/>
          <p:cNvSpPr txBox="1"/>
          <p:nvPr/>
        </p:nvSpPr>
        <p:spPr>
          <a:xfrm>
            <a:off x="9375938" y="3639312"/>
            <a:ext cx="2267118" cy="310896"/>
          </a:xfrm>
          <a:prstGeom prst="rect">
            <a:avLst/>
          </a:prstGeom>
          <a:noFill/>
          <a:ln/>
        </p:spPr>
        <p:txBody>
          <a:bodyPr wrap="square" lIns="0" tIns="0" rIns="0" bIns="0" rtlCol="0" anchor="ctr"/>
          <a:lstStyle/>
          <a:p>
            <a:pPr marL="0" indent="0">
              <a:buNone/>
            </a:pPr>
            <a:r>
              <a:rPr lang="en-US" sz="1400" dirty="0">
                <a:solidFill>
                  <a:schemeClr val="bg1"/>
                </a:solidFill>
              </a:rPr>
              <a:t>the output</a:t>
            </a:r>
            <a:endParaRPr lang="en-US" sz="1400" dirty="0"/>
          </a:p>
        </p:txBody>
      </p:sp>
      <p:sp>
        <p:nvSpPr>
          <p:cNvPr id="17" name="Text 13"/>
          <p:cNvSpPr txBox="1"/>
          <p:nvPr/>
        </p:nvSpPr>
        <p:spPr>
          <a:xfrm>
            <a:off x="9055898" y="4206240"/>
            <a:ext cx="2587158" cy="20574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bg2"/>
                </a:solidFill>
              </a:rPr>
              <a:t>Two worker nodes give network faults a real network to slow</a:t>
            </a:r>
            <a:endParaRPr lang="en-US" sz="1350" dirty="0"/>
          </a:p>
          <a:p>
            <a:pPr marL="177800" indent="-177800">
              <a:spcAft>
                <a:spcPts val="800"/>
              </a:spcAft>
              <a:buSzPct val="100000"/>
              <a:buChar char="•"/>
            </a:pPr>
            <a:r>
              <a:rPr lang="en-US" sz="1350" dirty="0">
                <a:solidFill>
                  <a:schemeClr val="bg2"/>
                </a:solidFill>
              </a:rPr>
              <a:t>Monitoring sits on the steady node, so a fault can't blind the kill switch</a:t>
            </a:r>
            <a:endParaRPr lang="en-US" sz="1350" dirty="0"/>
          </a:p>
          <a:p>
            <a:pPr marL="177800" indent="-177800">
              <a:spcAft>
                <a:spcPts val="800"/>
              </a:spcAft>
              <a:buSzPct val="100000"/>
              <a:buChar char="•"/>
            </a:pPr>
            <a:r>
              <a:rPr lang="en-US" sz="1350" dirty="0">
                <a:solidFill>
                  <a:schemeClr val="bg2"/>
                </a:solidFill>
              </a:rPr>
              <a:t>Models never touch the cluster</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bg1"/>
                </a:solidFill>
              </a:rPr>
              <a:t>How the agents hand off</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bg2"/>
                </a:solidFill>
              </a:rPr>
              <a:t>The orchestrator is code: agent.py's LangGraph graph calls each model once per task and checks every answer.</a:t>
            </a:r>
            <a:endParaRPr lang="en-US" sz="1600" dirty="0"/>
          </a:p>
        </p:txBody>
      </p:sp>
      <p:pic>
        <p:nvPicPr>
          <p:cNvPr id="5" name="Image 0" descr="agent.py as a LangGraph StateGraph: plan, run_next looping, fix, report"/>
          <p:cNvPicPr>
            <a:picLocks noChangeAspect="1"/>
          </p:cNvPicPr>
          <p:nvPr/>
        </p:nvPicPr>
        <p:blipFill>
          <a:blip r:embed="rId3"/>
          <a:stretch>
            <a:fillRect/>
          </a:stretch>
        </p:blipFill>
        <p:spPr>
          <a:xfrm>
            <a:off x="548640" y="1783080"/>
            <a:ext cx="7315200" cy="4082143"/>
          </a:xfrm>
          <a:prstGeom prst="rect">
            <a:avLst/>
          </a:prstGeom>
        </p:spPr>
      </p:pic>
      <p:sp>
        <p:nvSpPr>
          <p:cNvPr id="6" name="Text 2"/>
          <p:cNvSpPr txBox="1"/>
          <p:nvPr/>
        </p:nvSpPr>
        <p:spPr>
          <a:xfrm>
            <a:off x="8229600" y="1783080"/>
            <a:ext cx="3413455" cy="4114800"/>
          </a:xfrm>
          <a:prstGeom prst="rect">
            <a:avLst/>
          </a:prstGeom>
          <a:noFill/>
          <a:ln/>
        </p:spPr>
        <p:txBody>
          <a:bodyPr wrap="square" lIns="0" tIns="0" rIns="0" bIns="0" rtlCol="0" anchor="t"/>
          <a:lstStyle/>
          <a:p>
            <a:pPr marL="0" indent="0">
              <a:buNone/>
            </a:pPr>
            <a:r>
              <a:rPr lang="en-US" sz="1500" b="1" dirty="0">
                <a:solidFill>
                  <a:schemeClr val="bg1"/>
                </a:solidFill>
              </a:rPr>
              <a:t>Models never call each other</a:t>
            </a:r>
            <a:endParaRPr lang="en-US" sz="1400" dirty="0"/>
          </a:p>
          <a:p>
            <a:pPr marL="0" indent="0">
              <a:spcAft>
                <a:spcPts val="2200"/>
              </a:spcAft>
              <a:buNone/>
            </a:pPr>
            <a:r>
              <a:rPr lang="en-US" sz="1350" dirty="0">
                <a:solidFill>
                  <a:schemeClr val="bg2"/>
                </a:solidFill>
              </a:rPr>
              <a:t>Each answer comes back through rules before anything acts on it.</a:t>
            </a:r>
            <a:endParaRPr lang="en-US" sz="1400" dirty="0"/>
          </a:p>
          <a:p>
            <a:pPr marL="0" indent="0">
              <a:buNone/>
            </a:pPr>
            <a:r>
              <a:rPr lang="en-US" sz="1500" b="1" dirty="0">
                <a:solidFill>
                  <a:schemeClr val="bg1"/>
                </a:solidFill>
              </a:rPr>
              <a:t>Loop 1, inside a session</a:t>
            </a:r>
            <a:endParaRPr lang="en-US" sz="1400" dirty="0"/>
          </a:p>
          <a:p>
            <a:pPr marL="0" indent="0">
              <a:spcAft>
                <a:spcPts val="2200"/>
              </a:spcAft>
              <a:buNone/>
            </a:pPr>
            <a:r>
              <a:rPr lang="en-US" sz="1350" dirty="0">
                <a:solidFill>
                  <a:schemeClr val="bg2"/>
                </a:solidFill>
              </a:rPr>
              <a:t>An allowed analyst follow-up joins the queue as the next run: at most 2, never a broad fault, still approved by a person.</a:t>
            </a:r>
            <a:endParaRPr lang="en-US" sz="1400" dirty="0"/>
          </a:p>
          <a:p>
            <a:pPr marL="0" indent="0">
              <a:buNone/>
            </a:pPr>
            <a:r>
              <a:rPr lang="en-US" sz="1500" b="1" dirty="0">
                <a:solidFill>
                  <a:schemeClr val="bg1"/>
                </a:solidFill>
              </a:rPr>
              <a:t>Loop 2, across sessions</a:t>
            </a:r>
            <a:endParaRPr lang="en-US" sz="1400" dirty="0"/>
          </a:p>
          <a:p>
            <a:pPr marL="0" indent="0">
              <a:spcAft>
                <a:spcPts val="2200"/>
              </a:spcAft>
              <a:buNone/>
            </a:pPr>
            <a:r>
              <a:rPr lang="en-US" sz="1350" dirty="0">
                <a:solidFill>
                  <a:schemeClr val="bg2"/>
                </a:solidFill>
              </a:rPr>
              <a:t>The fixer names the fault that proves its fix. A person applies the fix and re-runs that fault.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Right model, right context, nothing wasted</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A big model where judgment matters, a small fast one per run. Code builds every context pack; no model sees the cluster.</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635240" cy="3063240"/>
        </p:xfrm>
        <a:graphic>
          <a:graphicData uri="http://schemas.openxmlformats.org/drawingml/2006/table">
            <a:tbl>
              <a:tblPr/>
              <a:tblGrid>
                <a:gridCol w="1325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47472">
                <a:tc>
                  <a:txBody>
                    <a:bodyPr/>
                    <a:lstStyle/>
                    <a:p>
                      <a:pPr marL="0" indent="0">
                        <a:buNone/>
                      </a:pPr>
                      <a:r>
                        <a:rPr lang="en-US" sz="1200" b="1" dirty="0">
                          <a:solidFill>
                            <a:schemeClr val="tx2"/>
                          </a:solidFill>
                        </a:rPr>
                        <a:t>Role</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Model</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Reads (built by code)</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Code checks</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777240">
                <a:tc>
                  <a:txBody>
                    <a:bodyPr/>
                    <a:lstStyle/>
                    <a:p>
                      <a:pPr marL="0" indent="0">
                        <a:buNone/>
                      </a:pPr>
                      <a:r>
                        <a:rPr lang="en-US" sz="1300" b="1" dirty="0">
                          <a:solidFill>
                            <a:schemeClr val="tx1"/>
                          </a:solidFill>
                        </a:rPr>
                        <a:t>Planner</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accent4"/>
                          </a:solidFill>
                        </a:rPr>
                        <a:t>gpt-oss-120b</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pool faults with their strength and map facts (callers, risk flags), code-checked pairs, service facts</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invented ids dropped; faults it left out added by rules</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300" b="1" dirty="0">
                          <a:solidFill>
                            <a:schemeClr val="tx1"/>
                          </a:solidFill>
                        </a:rPr>
                        <a:t>Analyst, one per run</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accent4"/>
                          </a:solidFill>
                        </a:rPr>
                        <a:t>gpt-oss-20b</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the measured tier (final), broken SLOs, effects, the allowed follow-up list</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tier can't change; evidence check; ≤ 2 follow-ups</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buNone/>
                      </a:pPr>
                      <a:r>
                        <a:rPr lang="en-US" sz="1300" b="1" dirty="0">
                          <a:solidFill>
                            <a:schemeClr val="tx1"/>
                          </a:solidFill>
                        </a:rPr>
                        <a:t>Fixer, one per root cause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accent4"/>
                          </a:solidFill>
                        </a:rPr>
                        <a:t>120b if high, else 20b</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findings that share a root cause, the fix catalog</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the fault that proves the fix must exist</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chemeClr val="tx1"/>
                          </a:solidFill>
                        </a:rPr>
                        <a:t>Summary</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accent4"/>
                          </a:solidFill>
                        </a:rPr>
                        <a:t>gpt-oss-120b</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the ranking, fixes and score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every number comes from judge.py</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548640" y="5074920"/>
            <a:ext cx="7635240" cy="685800"/>
          </a:xfrm>
          <a:prstGeom prst="rect">
            <a:avLst/>
          </a:prstGeom>
          <a:noFill/>
          <a:ln/>
        </p:spPr>
        <p:txBody>
          <a:bodyPr wrap="square" lIns="0" tIns="0" rIns="0" bIns="0" rtlCol="0" anchor="t"/>
          <a:lstStyle/>
          <a:p>
            <a:pPr marL="0" indent="0">
              <a:buNone/>
            </a:pPr>
            <a:r>
              <a:rPr lang="en-US" sz="1400" dirty="0">
                <a:solidFill>
                  <a:schemeClr val="tx2"/>
                </a:solidFill>
              </a:rPr>
              <a:t>Every model also reads docs/service-facts.md, written from the shop's source code, so it can explain why: checkout charges the card before it ships.</a:t>
            </a:r>
            <a:endParaRPr lang="en-US" sz="1400" dirty="0"/>
          </a:p>
        </p:txBody>
      </p:sp>
      <p:sp>
        <p:nvSpPr>
          <p:cNvPr id="7" name="card"/>
          <p:cNvSpPr/>
          <p:nvPr/>
        </p:nvSpPr>
        <p:spPr>
          <a:xfrm>
            <a:off x="8503920" y="1737360"/>
            <a:ext cx="3139135" cy="1371600"/>
          </a:xfrm>
          <a:prstGeom prst="roundRect">
            <a:avLst>
              <a:gd name="adj" fmla="val 4000"/>
            </a:avLst>
          </a:prstGeom>
          <a:solidFill>
            <a:schemeClr val="bg1"/>
          </a:solidFill>
          <a:ln w="9525">
            <a:solidFill>
              <a:schemeClr val="tx2">
                <a:alpha val="28000"/>
              </a:schemeClr>
            </a:solidFill>
            <a:prstDash val="solid"/>
          </a:ln>
        </p:spPr>
        <p:txBody>
          <a:bodyPr/>
          <a:lstStyle/>
          <a:p>
            <a:endParaRPr lang="en-IN"/>
          </a:p>
        </p:txBody>
      </p:sp>
      <p:sp>
        <p:nvSpPr>
          <p:cNvPr id="8" name="icon circle"/>
          <p:cNvSpPr/>
          <p:nvPr/>
        </p:nvSpPr>
        <p:spPr>
          <a:xfrm>
            <a:off x="8686800" y="1920240"/>
            <a:ext cx="384048" cy="384048"/>
          </a:xfrm>
          <a:prstGeom prst="ellipse">
            <a:avLst/>
          </a:prstGeom>
          <a:solidFill>
            <a:schemeClr val="accent4"/>
          </a:solidFill>
          <a:ln/>
        </p:spPr>
        <p:txBody>
          <a:bodyPr/>
          <a:lstStyle/>
          <a:p>
            <a:endParaRPr lang="en-IN"/>
          </a:p>
        </p:txBody>
      </p:sp>
      <p:pic>
        <p:nvPicPr>
          <p:cNvPr id="9" name="Image 0" descr="RefreshCw icon"/>
          <p:cNvPicPr>
            <a:picLocks noChangeAspect="1"/>
          </p:cNvPicPr>
          <p:nvPr/>
        </p:nvPicPr>
        <p:blipFill>
          <a:blip r:embed="rId3"/>
          <a:stretch>
            <a:fillRect/>
          </a:stretch>
        </p:blipFill>
        <p:spPr>
          <a:xfrm>
            <a:off x="8771291" y="2004731"/>
            <a:ext cx="215067" cy="215067"/>
          </a:xfrm>
          <a:prstGeom prst="rect">
            <a:avLst/>
          </a:prstGeom>
        </p:spPr>
      </p:pic>
      <p:sp>
        <p:nvSpPr>
          <p:cNvPr id="4" name="Text 5"/>
          <p:cNvSpPr txBox="1"/>
          <p:nvPr/>
        </p:nvSpPr>
        <p:spPr>
          <a:xfrm>
            <a:off x="9189720" y="1920240"/>
            <a:ext cx="2316175" cy="384048"/>
          </a:xfrm>
          <a:prstGeom prst="rect">
            <a:avLst/>
          </a:prstGeom>
          <a:noFill/>
          <a:ln/>
        </p:spPr>
        <p:txBody>
          <a:bodyPr wrap="square" lIns="0" tIns="0" rIns="0" bIns="0" rtlCol="0" anchor="ctr"/>
          <a:lstStyle/>
          <a:p>
            <a:pPr marL="0" indent="0">
              <a:buNone/>
            </a:pPr>
            <a:r>
              <a:rPr lang="en-US" sz="1500" b="1" dirty="0">
                <a:solidFill>
                  <a:schemeClr val="tx1"/>
                </a:solidFill>
              </a:rPr>
              <a:t>Fallback chain</a:t>
            </a:r>
            <a:endParaRPr lang="en-US" sz="1500" dirty="0"/>
          </a:p>
        </p:txBody>
      </p:sp>
      <p:sp>
        <p:nvSpPr>
          <p:cNvPr id="11" name="Text 6"/>
          <p:cNvSpPr txBox="1"/>
          <p:nvPr/>
        </p:nvSpPr>
        <p:spPr>
          <a:xfrm>
            <a:off x="8686800" y="2377440"/>
            <a:ext cx="2773375" cy="685800"/>
          </a:xfrm>
          <a:prstGeom prst="rect">
            <a:avLst/>
          </a:prstGeom>
          <a:noFill/>
          <a:ln/>
        </p:spPr>
        <p:txBody>
          <a:bodyPr wrap="square" lIns="0" tIns="0" rIns="0" bIns="0" rtlCol="0" anchor="t"/>
          <a:lstStyle/>
          <a:p>
            <a:pPr marL="0" indent="0">
              <a:buNone/>
            </a:pPr>
            <a:r>
              <a:rPr lang="en-US" sz="1250" dirty="0">
                <a:solidFill>
                  <a:schemeClr val="tx2"/>
                </a:solidFill>
              </a:rPr>
              <a:t>Groq key 1, then keys 2 and 3, then OpenRouter's nemotron. No keys at all: rules do everything, marked (no AI).</a:t>
            </a:r>
            <a:endParaRPr lang="en-US" sz="1250" dirty="0"/>
          </a:p>
        </p:txBody>
      </p:sp>
      <p:sp>
        <p:nvSpPr>
          <p:cNvPr id="12" name="card"/>
          <p:cNvSpPr/>
          <p:nvPr/>
        </p:nvSpPr>
        <p:spPr>
          <a:xfrm>
            <a:off x="8503920" y="3246120"/>
            <a:ext cx="3139135" cy="1371600"/>
          </a:xfrm>
          <a:prstGeom prst="roundRect">
            <a:avLst>
              <a:gd name="adj" fmla="val 4000"/>
            </a:avLst>
          </a:prstGeom>
          <a:solidFill>
            <a:schemeClr val="bg1"/>
          </a:solidFill>
          <a:ln w="9525">
            <a:solidFill>
              <a:schemeClr val="tx2">
                <a:alpha val="28000"/>
              </a:schemeClr>
            </a:solidFill>
            <a:prstDash val="solid"/>
          </a:ln>
        </p:spPr>
        <p:txBody>
          <a:bodyPr/>
          <a:lstStyle/>
          <a:p>
            <a:endParaRPr lang="en-IN"/>
          </a:p>
        </p:txBody>
      </p:sp>
      <p:sp>
        <p:nvSpPr>
          <p:cNvPr id="13" name="icon circle"/>
          <p:cNvSpPr/>
          <p:nvPr/>
        </p:nvSpPr>
        <p:spPr>
          <a:xfrm>
            <a:off x="8686800" y="3429000"/>
            <a:ext cx="384048" cy="384048"/>
          </a:xfrm>
          <a:prstGeom prst="ellipse">
            <a:avLst/>
          </a:prstGeom>
          <a:solidFill>
            <a:schemeClr val="accent4"/>
          </a:solidFill>
          <a:ln/>
        </p:spPr>
        <p:txBody>
          <a:bodyPr/>
          <a:lstStyle/>
          <a:p>
            <a:endParaRPr lang="en-IN"/>
          </a:p>
        </p:txBody>
      </p:sp>
      <p:pic>
        <p:nvPicPr>
          <p:cNvPr id="14" name="Image 1" descr="Database icon"/>
          <p:cNvPicPr>
            <a:picLocks noChangeAspect="1"/>
          </p:cNvPicPr>
          <p:nvPr/>
        </p:nvPicPr>
        <p:blipFill>
          <a:blip r:embed="rId4"/>
          <a:stretch>
            <a:fillRect/>
          </a:stretch>
        </p:blipFill>
        <p:spPr>
          <a:xfrm>
            <a:off x="8771291" y="3513491"/>
            <a:ext cx="215067" cy="215067"/>
          </a:xfrm>
          <a:prstGeom prst="rect">
            <a:avLst/>
          </a:prstGeom>
        </p:spPr>
      </p:pic>
      <p:sp>
        <p:nvSpPr>
          <p:cNvPr id="15" name="Text 9"/>
          <p:cNvSpPr txBox="1"/>
          <p:nvPr/>
        </p:nvSpPr>
        <p:spPr>
          <a:xfrm>
            <a:off x="9189720" y="3429000"/>
            <a:ext cx="2316175" cy="384048"/>
          </a:xfrm>
          <a:prstGeom prst="rect">
            <a:avLst/>
          </a:prstGeom>
          <a:noFill/>
          <a:ln/>
        </p:spPr>
        <p:txBody>
          <a:bodyPr wrap="square" lIns="0" tIns="0" rIns="0" bIns="0" rtlCol="0" anchor="ctr"/>
          <a:lstStyle/>
          <a:p>
            <a:pPr marL="0" indent="0">
              <a:buNone/>
            </a:pPr>
            <a:r>
              <a:rPr lang="en-US" sz="1500" b="1" dirty="0">
                <a:solidFill>
                  <a:schemeClr val="tx1"/>
                </a:solidFill>
              </a:rPr>
              <a:t>Prompt cache</a:t>
            </a:r>
            <a:endParaRPr lang="en-US" sz="1500" dirty="0"/>
          </a:p>
        </p:txBody>
      </p:sp>
      <p:sp>
        <p:nvSpPr>
          <p:cNvPr id="16" name="Text 10"/>
          <p:cNvSpPr txBox="1"/>
          <p:nvPr/>
        </p:nvSpPr>
        <p:spPr>
          <a:xfrm>
            <a:off x="8686800" y="3886200"/>
            <a:ext cx="2773375" cy="685800"/>
          </a:xfrm>
          <a:prstGeom prst="rect">
            <a:avLst/>
          </a:prstGeom>
          <a:noFill/>
          <a:ln/>
        </p:spPr>
        <p:txBody>
          <a:bodyPr wrap="square" lIns="0" tIns="0" rIns="0" bIns="0" rtlCol="0" anchor="t"/>
          <a:lstStyle/>
          <a:p>
            <a:pPr marL="0" indent="0">
              <a:buNone/>
            </a:pPr>
            <a:r>
              <a:rPr lang="en-US" sz="1250" dirty="0">
                <a:solidFill>
                  <a:schemeClr val="tx2"/>
                </a:solidFill>
              </a:rPr>
              <a:t>Each answer is saved under a hash of role and prompt. A replayed session costs zero tokens and gives the same answers.</a:t>
            </a:r>
            <a:endParaRPr lang="en-US" sz="1250" dirty="0"/>
          </a:p>
        </p:txBody>
      </p:sp>
      <p:sp>
        <p:nvSpPr>
          <p:cNvPr id="17" name="card"/>
          <p:cNvSpPr/>
          <p:nvPr/>
        </p:nvSpPr>
        <p:spPr>
          <a:xfrm>
            <a:off x="8503920" y="4754880"/>
            <a:ext cx="3139135" cy="1371600"/>
          </a:xfrm>
          <a:prstGeom prst="roundRect">
            <a:avLst>
              <a:gd name="adj" fmla="val 4000"/>
            </a:avLst>
          </a:prstGeom>
          <a:solidFill>
            <a:schemeClr val="bg1"/>
          </a:solidFill>
          <a:ln w="9525">
            <a:solidFill>
              <a:schemeClr val="tx2">
                <a:alpha val="28000"/>
              </a:schemeClr>
            </a:solidFill>
            <a:prstDash val="solid"/>
          </a:ln>
        </p:spPr>
        <p:txBody>
          <a:bodyPr/>
          <a:lstStyle/>
          <a:p>
            <a:endParaRPr lang="en-IN"/>
          </a:p>
        </p:txBody>
      </p:sp>
      <p:sp>
        <p:nvSpPr>
          <p:cNvPr id="18" name="icon circle"/>
          <p:cNvSpPr/>
          <p:nvPr/>
        </p:nvSpPr>
        <p:spPr>
          <a:xfrm>
            <a:off x="8686800" y="4937760"/>
            <a:ext cx="384048" cy="384048"/>
          </a:xfrm>
          <a:prstGeom prst="ellipse">
            <a:avLst/>
          </a:prstGeom>
          <a:solidFill>
            <a:schemeClr val="accent4"/>
          </a:solidFill>
          <a:ln/>
        </p:spPr>
        <p:txBody>
          <a:bodyPr/>
          <a:lstStyle/>
          <a:p>
            <a:endParaRPr lang="en-IN"/>
          </a:p>
        </p:txBody>
      </p:sp>
      <p:pic>
        <p:nvPicPr>
          <p:cNvPr id="19" name="Image 2" descr="Timer icon"/>
          <p:cNvPicPr>
            <a:picLocks noChangeAspect="1"/>
          </p:cNvPicPr>
          <p:nvPr/>
        </p:nvPicPr>
        <p:blipFill>
          <a:blip r:embed="rId5"/>
          <a:stretch>
            <a:fillRect/>
          </a:stretch>
        </p:blipFill>
        <p:spPr>
          <a:xfrm>
            <a:off x="8771291" y="5022251"/>
            <a:ext cx="215067" cy="215067"/>
          </a:xfrm>
          <a:prstGeom prst="rect">
            <a:avLst/>
          </a:prstGeom>
        </p:spPr>
      </p:pic>
      <p:sp>
        <p:nvSpPr>
          <p:cNvPr id="20" name="Text 13"/>
          <p:cNvSpPr txBox="1"/>
          <p:nvPr/>
        </p:nvSpPr>
        <p:spPr>
          <a:xfrm>
            <a:off x="9189720" y="4937760"/>
            <a:ext cx="2316175" cy="384048"/>
          </a:xfrm>
          <a:prstGeom prst="rect">
            <a:avLst/>
          </a:prstGeom>
          <a:noFill/>
          <a:ln/>
        </p:spPr>
        <p:txBody>
          <a:bodyPr wrap="square" lIns="0" tIns="0" rIns="0" bIns="0" rtlCol="0" anchor="ctr"/>
          <a:lstStyle/>
          <a:p>
            <a:pPr marL="0" indent="0">
              <a:buNone/>
            </a:pPr>
            <a:r>
              <a:rPr lang="en-US" sz="1500" b="1" dirty="0">
                <a:solidFill>
                  <a:schemeClr val="tx1"/>
                </a:solidFill>
              </a:rPr>
              <a:t>Short, structured answers</a:t>
            </a:r>
            <a:endParaRPr lang="en-US" sz="1500" dirty="0"/>
          </a:p>
        </p:txBody>
      </p:sp>
      <p:sp>
        <p:nvSpPr>
          <p:cNvPr id="21" name="Text 14"/>
          <p:cNvSpPr txBox="1"/>
          <p:nvPr/>
        </p:nvSpPr>
        <p:spPr>
          <a:xfrm>
            <a:off x="8686800" y="5394960"/>
            <a:ext cx="2773375" cy="685800"/>
          </a:xfrm>
          <a:prstGeom prst="rect">
            <a:avLst/>
          </a:prstGeom>
          <a:noFill/>
          <a:ln/>
        </p:spPr>
        <p:txBody>
          <a:bodyPr wrap="square" lIns="0" tIns="0" rIns="0" bIns="0" rtlCol="0" anchor="t"/>
          <a:lstStyle/>
          <a:p>
            <a:pPr marL="0" indent="0">
              <a:buNone/>
            </a:pPr>
            <a:r>
              <a:rPr lang="en-US" sz="1250" dirty="0">
                <a:solidFill>
                  <a:schemeClr val="tx2"/>
                </a:solidFill>
              </a:rPr>
              <a:t>One JSON object, every text field under 25 words. Fits Groq's free tier of 8k tokens a minute.</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Two scores, never mixed</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Leverage ranks the findings. The resilience score rates the whole system over a pool fixed at session start. Both come from rules.</a:t>
            </a:r>
            <a:endParaRPr lang="en-US" sz="1600" dirty="0"/>
          </a:p>
        </p:txBody>
      </p:sp>
      <p:sp>
        <p:nvSpPr>
          <p:cNvPr id="5" name="card"/>
          <p:cNvSpPr/>
          <p:nvPr/>
        </p:nvSpPr>
        <p:spPr>
          <a:xfrm>
            <a:off x="548640" y="1737360"/>
            <a:ext cx="5440680" cy="4434840"/>
          </a:xfrm>
          <a:prstGeom prst="roundRect">
            <a:avLst>
              <a:gd name="adj" fmla="val 1237"/>
            </a:avLst>
          </a:prstGeom>
          <a:solidFill>
            <a:schemeClr val="bg1"/>
          </a:solidFill>
          <a:ln w="9525">
            <a:solidFill>
              <a:schemeClr val="tx2">
                <a:alpha val="28000"/>
              </a:schemeClr>
            </a:solidFill>
            <a:prstDash val="solid"/>
          </a:ln>
        </p:spPr>
        <p:txBody>
          <a:bodyPr/>
          <a:lstStyle/>
          <a:p>
            <a:endParaRPr lang="en-IN"/>
          </a:p>
        </p:txBody>
      </p:sp>
      <p:sp>
        <p:nvSpPr>
          <p:cNvPr id="6" name="Text 3"/>
          <p:cNvSpPr txBox="1"/>
          <p:nvPr/>
        </p:nvSpPr>
        <p:spPr>
          <a:xfrm>
            <a:off x="822960" y="1901952"/>
            <a:ext cx="4892040" cy="41148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Leverage = impact ÷ strength</a:t>
            </a:r>
            <a:endParaRPr lang="en-US" sz="2200" dirty="0"/>
          </a:p>
        </p:txBody>
      </p:sp>
      <p:sp>
        <p:nvSpPr>
          <p:cNvPr id="7" name="Text 4"/>
          <p:cNvSpPr txBox="1"/>
          <p:nvPr/>
        </p:nvSpPr>
        <p:spPr>
          <a:xfrm>
            <a:off x="822960" y="2359152"/>
            <a:ext cx="4892040" cy="502920"/>
          </a:xfrm>
          <a:prstGeom prst="rect">
            <a:avLst/>
          </a:prstGeom>
          <a:noFill/>
          <a:ln/>
        </p:spPr>
        <p:txBody>
          <a:bodyPr wrap="square" lIns="0" tIns="0" rIns="0" bIns="0" rtlCol="0" anchor="t"/>
          <a:lstStyle/>
          <a:p>
            <a:pPr marL="0" indent="0">
              <a:buNone/>
            </a:pPr>
            <a:r>
              <a:rPr lang="en-US" sz="1300" dirty="0">
                <a:solidFill>
                  <a:schemeClr val="tx2"/>
                </a:solidFill>
              </a:rPr>
              <a:t>impact: high 3 · medium 2 · low 1</a:t>
            </a:r>
            <a:endParaRPr lang="en-US" sz="1300" dirty="0"/>
          </a:p>
          <a:p>
            <a:pPr marL="0" indent="0">
              <a:buNone/>
            </a:pPr>
            <a:r>
              <a:rPr lang="en-US" sz="1300" dirty="0">
                <a:solidFill>
                  <a:schemeClr val="tx2"/>
                </a:solidFill>
              </a:rPr>
              <a:t>strength: mild 1 · targeted 2 · broad 3 · a pair adds both</a:t>
            </a:r>
            <a:endParaRPr lang="en-US" sz="1300" dirty="0"/>
          </a:p>
        </p:txBody>
      </p:sp>
      <p:graphicFrame>
        <p:nvGraphicFramePr>
          <p:cNvPr id="8" name="Chart 0"/>
          <p:cNvGraphicFramePr/>
          <p:nvPr/>
        </p:nvGraphicFramePr>
        <p:xfrm>
          <a:off x="685800" y="2880360"/>
          <a:ext cx="516636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txBox="1"/>
          <p:nvPr/>
        </p:nvSpPr>
        <p:spPr>
          <a:xfrm>
            <a:off x="822960" y="5623560"/>
            <a:ext cx="4892040" cy="457200"/>
          </a:xfrm>
          <a:prstGeom prst="rect">
            <a:avLst/>
          </a:prstGeom>
          <a:noFill/>
          <a:ln/>
        </p:spPr>
        <p:txBody>
          <a:bodyPr wrap="square" lIns="0" tIns="0" rIns="0" bIns="0" rtlCol="0" anchor="t"/>
          <a:lstStyle/>
          <a:p>
            <a:pPr marL="0" indent="0">
              <a:buNone/>
            </a:pPr>
            <a:r>
              <a:rPr lang="en-US" sz="1300" i="1" dirty="0">
                <a:solidFill>
                  <a:schemeClr val="tx2"/>
                </a:solidFill>
              </a:rPr>
              <a:t>Big damage from a small push ranks first. A flood that breaks everything sinks.</a:t>
            </a:r>
            <a:endParaRPr lang="en-US" sz="1300" dirty="0"/>
          </a:p>
        </p:txBody>
      </p:sp>
      <p:sp>
        <p:nvSpPr>
          <p:cNvPr id="10" name="card"/>
          <p:cNvSpPr/>
          <p:nvPr/>
        </p:nvSpPr>
        <p:spPr>
          <a:xfrm>
            <a:off x="6263640" y="1737360"/>
            <a:ext cx="5379415" cy="4434840"/>
          </a:xfrm>
          <a:prstGeom prst="roundRect">
            <a:avLst>
              <a:gd name="adj" fmla="val 1237"/>
            </a:avLst>
          </a:prstGeom>
          <a:solidFill>
            <a:schemeClr val="bg1"/>
          </a:solidFill>
          <a:ln w="9525">
            <a:solidFill>
              <a:schemeClr val="tx2">
                <a:alpha val="28000"/>
              </a:schemeClr>
            </a:solidFill>
            <a:prstDash val="solid"/>
          </a:ln>
        </p:spPr>
        <p:txBody>
          <a:bodyPr/>
          <a:lstStyle/>
          <a:p>
            <a:endParaRPr lang="en-IN"/>
          </a:p>
        </p:txBody>
      </p:sp>
      <p:sp>
        <p:nvSpPr>
          <p:cNvPr id="11" name="Text 7"/>
          <p:cNvSpPr txBox="1"/>
          <p:nvPr/>
        </p:nvSpPr>
        <p:spPr>
          <a:xfrm>
            <a:off x="6537960" y="1901952"/>
            <a:ext cx="4830775" cy="41148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Resilience score</a:t>
            </a:r>
            <a:endParaRPr lang="en-US" sz="2200" dirty="0"/>
          </a:p>
        </p:txBody>
      </p:sp>
      <p:sp>
        <p:nvSpPr>
          <p:cNvPr id="12" name="Text 8"/>
          <p:cNvSpPr txBox="1"/>
          <p:nvPr/>
        </p:nvSpPr>
        <p:spPr>
          <a:xfrm>
            <a:off x="6537960" y="2359152"/>
            <a:ext cx="4830775" cy="502920"/>
          </a:xfrm>
          <a:prstGeom prst="rect">
            <a:avLst/>
          </a:prstGeom>
          <a:noFill/>
          <a:ln/>
        </p:spPr>
        <p:txBody>
          <a:bodyPr wrap="square" lIns="0" tIns="0" rIns="0" bIns="0" rtlCol="0" anchor="t"/>
          <a:lstStyle/>
          <a:p>
            <a:pPr marL="0" indent="0">
              <a:buNone/>
            </a:pPr>
            <a:r>
              <a:rPr lang="en-US" sz="1300" dirty="0">
                <a:solidFill>
                  <a:schemeClr val="tx2"/>
                </a:solidFill>
              </a:rPr>
              <a:t>krkn's formula: points kept ÷ points possible × 100, over 7 SLOs a customer feels. Critical = 3 points, warning = 1.</a:t>
            </a:r>
            <a:endParaRPr lang="en-US" sz="1300" dirty="0"/>
          </a:p>
        </p:txBody>
      </p:sp>
      <p:sp>
        <p:nvSpPr>
          <p:cNvPr id="13" name="pill"/>
          <p:cNvSpPr/>
          <p:nvPr/>
        </p:nvSpPr>
        <p:spPr>
          <a:xfrm>
            <a:off x="6537960" y="3017520"/>
            <a:ext cx="384048" cy="256032"/>
          </a:xfrm>
          <a:prstGeom prst="roundRect">
            <a:avLst>
              <a:gd name="adj" fmla="val 50000"/>
            </a:avLst>
          </a:prstGeom>
          <a:solidFill>
            <a:schemeClr val="accent1">
              <a:alpha val="18000"/>
            </a:schemeClr>
          </a:solidFill>
          <a:ln/>
        </p:spPr>
        <p:txBody>
          <a:bodyPr/>
          <a:lstStyle/>
          <a:p>
            <a:endParaRPr lang="en-IN"/>
          </a:p>
        </p:txBody>
      </p:sp>
      <p:sp>
        <p:nvSpPr>
          <p:cNvPr id="14" name="Text 10"/>
          <p:cNvSpPr txBox="1"/>
          <p:nvPr/>
        </p:nvSpPr>
        <p:spPr>
          <a:xfrm>
            <a:off x="6537960" y="3017520"/>
            <a:ext cx="384048" cy="256032"/>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15" name="Text 11"/>
          <p:cNvSpPr txBox="1"/>
          <p:nvPr/>
        </p:nvSpPr>
        <p:spPr>
          <a:xfrm>
            <a:off x="7068312" y="2999232"/>
            <a:ext cx="4373575" cy="292608"/>
          </a:xfrm>
          <a:prstGeom prst="rect">
            <a:avLst/>
          </a:prstGeom>
          <a:noFill/>
          <a:ln/>
        </p:spPr>
        <p:txBody>
          <a:bodyPr wrap="square" lIns="0" tIns="0" rIns="0" bIns="0" rtlCol="0" anchor="ctr"/>
          <a:lstStyle/>
          <a:p>
            <a:pPr marL="0" indent="0">
              <a:buNone/>
            </a:pPr>
            <a:r>
              <a:rPr lang="en-US" sz="1400" dirty="0">
                <a:solidFill>
                  <a:schemeClr val="tx1"/>
                </a:solidFill>
              </a:rPr>
              <a:t>customers get answers</a:t>
            </a:r>
            <a:endParaRPr lang="en-US" sz="1400" dirty="0"/>
          </a:p>
        </p:txBody>
      </p:sp>
      <p:sp>
        <p:nvSpPr>
          <p:cNvPr id="16" name="pill"/>
          <p:cNvSpPr/>
          <p:nvPr/>
        </p:nvSpPr>
        <p:spPr>
          <a:xfrm>
            <a:off x="6537960" y="3355848"/>
            <a:ext cx="384048" cy="256032"/>
          </a:xfrm>
          <a:prstGeom prst="roundRect">
            <a:avLst>
              <a:gd name="adj" fmla="val 50000"/>
            </a:avLst>
          </a:prstGeom>
          <a:solidFill>
            <a:schemeClr val="accent1">
              <a:alpha val="18000"/>
            </a:schemeClr>
          </a:solidFill>
          <a:ln/>
        </p:spPr>
        <p:txBody>
          <a:bodyPr/>
          <a:lstStyle/>
          <a:p>
            <a:endParaRPr lang="en-IN"/>
          </a:p>
        </p:txBody>
      </p:sp>
      <p:sp>
        <p:nvSpPr>
          <p:cNvPr id="17" name="Text 13"/>
          <p:cNvSpPr txBox="1"/>
          <p:nvPr/>
        </p:nvSpPr>
        <p:spPr>
          <a:xfrm>
            <a:off x="6537960" y="3355848"/>
            <a:ext cx="384048" cy="256032"/>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18" name="Text 14"/>
          <p:cNvSpPr txBox="1"/>
          <p:nvPr/>
        </p:nvSpPr>
        <p:spPr>
          <a:xfrm>
            <a:off x="7068312" y="3337560"/>
            <a:ext cx="4373575" cy="292608"/>
          </a:xfrm>
          <a:prstGeom prst="rect">
            <a:avLst/>
          </a:prstGeom>
          <a:noFill/>
          <a:ln/>
        </p:spPr>
        <p:txBody>
          <a:bodyPr wrap="square" lIns="0" tIns="0" rIns="0" bIns="0" rtlCol="0" anchor="ctr"/>
          <a:lstStyle/>
          <a:p>
            <a:pPr marL="0" indent="0">
              <a:buNone/>
            </a:pPr>
            <a:r>
              <a:rPr lang="en-US" sz="1400" dirty="0">
                <a:solidFill>
                  <a:schemeClr val="tx1"/>
                </a:solidFill>
              </a:rPr>
              <a:t>no data lost</a:t>
            </a:r>
            <a:endParaRPr lang="en-US" sz="1400" dirty="0"/>
          </a:p>
        </p:txBody>
      </p:sp>
      <p:sp>
        <p:nvSpPr>
          <p:cNvPr id="19" name="pill"/>
          <p:cNvSpPr/>
          <p:nvPr/>
        </p:nvSpPr>
        <p:spPr>
          <a:xfrm>
            <a:off x="6537960" y="3694176"/>
            <a:ext cx="384048" cy="256032"/>
          </a:xfrm>
          <a:prstGeom prst="roundRect">
            <a:avLst>
              <a:gd name="adj" fmla="val 50000"/>
            </a:avLst>
          </a:prstGeom>
          <a:solidFill>
            <a:schemeClr val="accent1">
              <a:alpha val="18000"/>
            </a:schemeClr>
          </a:solidFill>
          <a:ln/>
        </p:spPr>
        <p:txBody>
          <a:bodyPr/>
          <a:lstStyle/>
          <a:p>
            <a:endParaRPr lang="en-IN"/>
          </a:p>
        </p:txBody>
      </p:sp>
      <p:sp>
        <p:nvSpPr>
          <p:cNvPr id="20" name="Text 16"/>
          <p:cNvSpPr txBox="1"/>
          <p:nvPr/>
        </p:nvSpPr>
        <p:spPr>
          <a:xfrm>
            <a:off x="6537960" y="3694176"/>
            <a:ext cx="384048" cy="256032"/>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21" name="Text 17"/>
          <p:cNvSpPr txBox="1"/>
          <p:nvPr/>
        </p:nvSpPr>
        <p:spPr>
          <a:xfrm>
            <a:off x="7068312" y="3675888"/>
            <a:ext cx="4373575" cy="292608"/>
          </a:xfrm>
          <a:prstGeom prst="rect">
            <a:avLst/>
          </a:prstGeom>
          <a:noFill/>
          <a:ln/>
        </p:spPr>
        <p:txBody>
          <a:bodyPr wrap="square" lIns="0" tIns="0" rIns="0" bIns="0" rtlCol="0" anchor="ctr"/>
          <a:lstStyle/>
          <a:p>
            <a:pPr marL="0" indent="0">
              <a:buNone/>
            </a:pPr>
            <a:r>
              <a:rPr lang="en-US" sz="1400" dirty="0">
                <a:solidFill>
                  <a:schemeClr val="tx1"/>
                </a:solidFill>
              </a:rPr>
              <a:t>the shop recovers</a:t>
            </a:r>
            <a:endParaRPr lang="en-US" sz="1400" dirty="0"/>
          </a:p>
        </p:txBody>
      </p:sp>
      <p:sp>
        <p:nvSpPr>
          <p:cNvPr id="22" name="pill"/>
          <p:cNvSpPr/>
          <p:nvPr/>
        </p:nvSpPr>
        <p:spPr>
          <a:xfrm>
            <a:off x="6537960" y="4032504"/>
            <a:ext cx="384048" cy="256032"/>
          </a:xfrm>
          <a:prstGeom prst="roundRect">
            <a:avLst>
              <a:gd name="adj" fmla="val 50000"/>
            </a:avLst>
          </a:prstGeom>
          <a:solidFill>
            <a:schemeClr val="accent1">
              <a:alpha val="18000"/>
            </a:schemeClr>
          </a:solidFill>
          <a:ln/>
        </p:spPr>
        <p:txBody>
          <a:bodyPr/>
          <a:lstStyle/>
          <a:p>
            <a:endParaRPr lang="en-IN"/>
          </a:p>
        </p:txBody>
      </p:sp>
      <p:sp>
        <p:nvSpPr>
          <p:cNvPr id="23" name="Text 19"/>
          <p:cNvSpPr txBox="1"/>
          <p:nvPr/>
        </p:nvSpPr>
        <p:spPr>
          <a:xfrm>
            <a:off x="6537960" y="4032504"/>
            <a:ext cx="384048" cy="256032"/>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24" name="Text 20"/>
          <p:cNvSpPr txBox="1"/>
          <p:nvPr/>
        </p:nvSpPr>
        <p:spPr>
          <a:xfrm>
            <a:off x="7068312" y="4014216"/>
            <a:ext cx="4373575" cy="292608"/>
          </a:xfrm>
          <a:prstGeom prst="rect">
            <a:avLst/>
          </a:prstGeom>
          <a:noFill/>
          <a:ln/>
        </p:spPr>
        <p:txBody>
          <a:bodyPr wrap="square" lIns="0" tIns="0" rIns="0" bIns="0" rtlCol="0" anchor="ctr"/>
          <a:lstStyle/>
          <a:p>
            <a:pPr marL="0" indent="0">
              <a:buNone/>
            </a:pPr>
            <a:r>
              <a:rPr lang="en-US" sz="1400" dirty="0">
                <a:solidFill>
                  <a:schemeClr val="tx1"/>
                </a:solidFill>
              </a:rPr>
              <a:t>the shop stays up</a:t>
            </a:r>
            <a:endParaRPr lang="en-US" sz="1400" dirty="0"/>
          </a:p>
        </p:txBody>
      </p:sp>
      <p:sp>
        <p:nvSpPr>
          <p:cNvPr id="25" name="pill"/>
          <p:cNvSpPr/>
          <p:nvPr/>
        </p:nvSpPr>
        <p:spPr>
          <a:xfrm>
            <a:off x="6537960" y="4370832"/>
            <a:ext cx="384048" cy="256032"/>
          </a:xfrm>
          <a:prstGeom prst="roundRect">
            <a:avLst>
              <a:gd name="adj" fmla="val 50000"/>
            </a:avLst>
          </a:prstGeom>
          <a:solidFill>
            <a:schemeClr val="tx2">
              <a:alpha val="18000"/>
            </a:schemeClr>
          </a:solidFill>
          <a:ln/>
        </p:spPr>
        <p:txBody>
          <a:bodyPr/>
          <a:lstStyle/>
          <a:p>
            <a:endParaRPr lang="en-IN"/>
          </a:p>
        </p:txBody>
      </p:sp>
      <p:sp>
        <p:nvSpPr>
          <p:cNvPr id="26" name="Text 22"/>
          <p:cNvSpPr txBox="1"/>
          <p:nvPr/>
        </p:nvSpPr>
        <p:spPr>
          <a:xfrm>
            <a:off x="6537960" y="4370832"/>
            <a:ext cx="384048" cy="256032"/>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27" name="Text 23"/>
          <p:cNvSpPr txBox="1"/>
          <p:nvPr/>
        </p:nvSpPr>
        <p:spPr>
          <a:xfrm>
            <a:off x="7068312" y="4352544"/>
            <a:ext cx="4373575" cy="292608"/>
          </a:xfrm>
          <a:prstGeom prst="rect">
            <a:avLst/>
          </a:prstGeom>
          <a:noFill/>
          <a:ln/>
        </p:spPr>
        <p:txBody>
          <a:bodyPr wrap="square" lIns="0" tIns="0" rIns="0" bIns="0" rtlCol="0" anchor="ctr"/>
          <a:lstStyle/>
          <a:p>
            <a:pPr marL="0" indent="0">
              <a:buNone/>
            </a:pPr>
            <a:r>
              <a:rPr lang="en-US" sz="1400" dirty="0">
                <a:solidFill>
                  <a:schemeClr val="tx1"/>
                </a:solidFill>
              </a:rPr>
              <a:t>other services answer</a:t>
            </a:r>
            <a:endParaRPr lang="en-US" sz="1400" dirty="0"/>
          </a:p>
        </p:txBody>
      </p:sp>
      <p:sp>
        <p:nvSpPr>
          <p:cNvPr id="28" name="pill"/>
          <p:cNvSpPr/>
          <p:nvPr/>
        </p:nvSpPr>
        <p:spPr>
          <a:xfrm>
            <a:off x="6537960" y="4709160"/>
            <a:ext cx="384048" cy="256032"/>
          </a:xfrm>
          <a:prstGeom prst="roundRect">
            <a:avLst>
              <a:gd name="adj" fmla="val 50000"/>
            </a:avLst>
          </a:prstGeom>
          <a:solidFill>
            <a:schemeClr val="tx2">
              <a:alpha val="18000"/>
            </a:schemeClr>
          </a:solidFill>
          <a:ln/>
        </p:spPr>
        <p:txBody>
          <a:bodyPr/>
          <a:lstStyle/>
          <a:p>
            <a:endParaRPr lang="en-IN"/>
          </a:p>
        </p:txBody>
      </p:sp>
      <p:sp>
        <p:nvSpPr>
          <p:cNvPr id="29" name="Text 25"/>
          <p:cNvSpPr txBox="1"/>
          <p:nvPr/>
        </p:nvSpPr>
        <p:spPr>
          <a:xfrm>
            <a:off x="6537960" y="4709160"/>
            <a:ext cx="384048" cy="256032"/>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30" name="Text 26"/>
          <p:cNvSpPr txBox="1"/>
          <p:nvPr/>
        </p:nvSpPr>
        <p:spPr>
          <a:xfrm>
            <a:off x="7068312" y="4690872"/>
            <a:ext cx="4373575" cy="292608"/>
          </a:xfrm>
          <a:prstGeom prst="rect">
            <a:avLst/>
          </a:prstGeom>
          <a:noFill/>
          <a:ln/>
        </p:spPr>
        <p:txBody>
          <a:bodyPr wrap="square" lIns="0" tIns="0" rIns="0" bIns="0" rtlCol="0" anchor="ctr"/>
          <a:lstStyle/>
          <a:p>
            <a:pPr marL="0" indent="0">
              <a:buNone/>
            </a:pPr>
            <a:r>
              <a:rPr lang="en-US" sz="1400" dirty="0">
                <a:solidFill>
                  <a:schemeClr val="tx1"/>
                </a:solidFill>
              </a:rPr>
              <a:t>customers aren't 2x slower</a:t>
            </a:r>
            <a:endParaRPr lang="en-US" sz="1400" dirty="0"/>
          </a:p>
        </p:txBody>
      </p:sp>
      <p:sp>
        <p:nvSpPr>
          <p:cNvPr id="31" name="pill"/>
          <p:cNvSpPr/>
          <p:nvPr/>
        </p:nvSpPr>
        <p:spPr>
          <a:xfrm>
            <a:off x="6537960" y="5047488"/>
            <a:ext cx="384048" cy="256032"/>
          </a:xfrm>
          <a:prstGeom prst="roundRect">
            <a:avLst>
              <a:gd name="adj" fmla="val 50000"/>
            </a:avLst>
          </a:prstGeom>
          <a:solidFill>
            <a:schemeClr val="tx2">
              <a:alpha val="18000"/>
            </a:schemeClr>
          </a:solidFill>
          <a:ln/>
        </p:spPr>
        <p:txBody>
          <a:bodyPr/>
          <a:lstStyle/>
          <a:p>
            <a:endParaRPr lang="en-IN"/>
          </a:p>
        </p:txBody>
      </p:sp>
      <p:sp>
        <p:nvSpPr>
          <p:cNvPr id="32" name="Text 28"/>
          <p:cNvSpPr txBox="1"/>
          <p:nvPr/>
        </p:nvSpPr>
        <p:spPr>
          <a:xfrm>
            <a:off x="6537960" y="5047488"/>
            <a:ext cx="384048" cy="256032"/>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33" name="Text 29"/>
          <p:cNvSpPr txBox="1"/>
          <p:nvPr/>
        </p:nvSpPr>
        <p:spPr>
          <a:xfrm>
            <a:off x="7068312" y="5029200"/>
            <a:ext cx="4373575" cy="292608"/>
          </a:xfrm>
          <a:prstGeom prst="rect">
            <a:avLst/>
          </a:prstGeom>
          <a:noFill/>
          <a:ln/>
        </p:spPr>
        <p:txBody>
          <a:bodyPr wrap="square" lIns="0" tIns="0" rIns="0" bIns="0" rtlCol="0" anchor="ctr"/>
          <a:lstStyle/>
          <a:p>
            <a:pPr marL="0" indent="0">
              <a:buNone/>
            </a:pPr>
            <a:r>
              <a:rPr lang="en-US" sz="1400" dirty="0">
                <a:solidFill>
                  <a:schemeClr val="tx1"/>
                </a:solidFill>
              </a:rPr>
              <a:t>nothing else restarts</a:t>
            </a:r>
            <a:endParaRPr lang="en-US" sz="1400" dirty="0"/>
          </a:p>
        </p:txBody>
      </p:sp>
      <p:sp>
        <p:nvSpPr>
          <p:cNvPr id="34" name="Text 30"/>
          <p:cNvSpPr txBox="1"/>
          <p:nvPr/>
        </p:nvSpPr>
        <p:spPr>
          <a:xfrm>
            <a:off x="6537960" y="5440680"/>
            <a:ext cx="4830775" cy="594360"/>
          </a:xfrm>
          <a:prstGeom prst="rect">
            <a:avLst/>
          </a:prstGeom>
          <a:noFill/>
          <a:ln/>
        </p:spPr>
        <p:txBody>
          <a:bodyPr wrap="square" lIns="0" tIns="0" rIns="0" bIns="0" rtlCol="0" anchor="t"/>
          <a:lstStyle/>
          <a:p>
            <a:pPr marL="0" indent="0">
              <a:buNone/>
            </a:pPr>
            <a:r>
              <a:rPr lang="en-US" sz="1300" dirty="0">
                <a:solidFill>
                  <a:schemeClr val="tx2"/>
                </a:solidFill>
              </a:rPr>
              <a:t>Why not krkn's built-in score: it gave 100/100 to a fault that made the shop 66x slower.</a:t>
            </a:r>
            <a:endParaRPr lang="en-US" sz="130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How far to trust each AI answer</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A model's note reads just as fluently when it's wrong. So rules check every note, and the model's own confidence sits under it.</a:t>
            </a:r>
            <a:endParaRPr lang="en-US" sz="1600" dirty="0"/>
          </a:p>
        </p:txBody>
      </p:sp>
      <p:sp>
        <p:nvSpPr>
          <p:cNvPr id="5" name="card"/>
          <p:cNvSpPr/>
          <p:nvPr/>
        </p:nvSpPr>
        <p:spPr>
          <a:xfrm>
            <a:off x="548640" y="1737360"/>
            <a:ext cx="5852160" cy="2514600"/>
          </a:xfrm>
          <a:prstGeom prst="roundRect">
            <a:avLst>
              <a:gd name="adj" fmla="val 2182"/>
            </a:avLst>
          </a:prstGeom>
          <a:solidFill>
            <a:schemeClr val="bg1"/>
          </a:solidFill>
          <a:ln w="9525">
            <a:solidFill>
              <a:schemeClr val="tx2">
                <a:alpha val="28000"/>
              </a:schemeClr>
            </a:solidFill>
            <a:prstDash val="solid"/>
          </a:ln>
        </p:spPr>
        <p:txBody>
          <a:bodyPr/>
          <a:lstStyle/>
          <a:p>
            <a:endParaRPr lang="en-IN"/>
          </a:p>
        </p:txBody>
      </p:sp>
      <p:sp>
        <p:nvSpPr>
          <p:cNvPr id="6" name="Text 3"/>
          <p:cNvSpPr txBox="1"/>
          <p:nvPr/>
        </p:nvSpPr>
        <p:spPr>
          <a:xfrm>
            <a:off x="822960" y="1874520"/>
            <a:ext cx="5303520" cy="685800"/>
          </a:xfrm>
          <a:prstGeom prst="rect">
            <a:avLst/>
          </a:prstGeom>
          <a:noFill/>
          <a:ln/>
        </p:spPr>
        <p:txBody>
          <a:bodyPr wrap="square" lIns="0" tIns="0" rIns="0" bIns="0" rtlCol="0" anchor="t"/>
          <a:lstStyle/>
          <a:p>
            <a:pPr marL="0" indent="0">
              <a:buNone/>
            </a:pPr>
            <a:r>
              <a:rPr lang="en-US" sz="2000" dirty="0">
                <a:solidFill>
                  <a:schemeClr val="tx1"/>
                </a:solidFill>
                <a:latin typeface="+mj-lt" pitchFamily="34" charset="0"/>
                <a:ea typeface="+mj-lt" pitchFamily="34" charset="-122"/>
                <a:cs typeface="+mj-lt" pitchFamily="34" charset="-120"/>
              </a:rPr>
              <a:t>Evidence check, by rules</a:t>
            </a:r>
            <a:endParaRPr lang="en-US" sz="1400" dirty="0"/>
          </a:p>
          <a:p>
            <a:pPr marL="0" indent="0">
              <a:buNone/>
            </a:pPr>
            <a:r>
              <a:rPr lang="en-US" sz="1300" dirty="0">
                <a:solidFill>
                  <a:schemeClr val="tx2"/>
                </a:solidFill>
              </a:rPr>
              <a:t>starts at 100 %, minus:</a:t>
            </a:r>
            <a:endParaRPr lang="en-US" sz="1400" dirty="0"/>
          </a:p>
        </p:txBody>
      </p:sp>
      <p:sp>
        <p:nvSpPr>
          <p:cNvPr id="7" name="pill"/>
          <p:cNvSpPr/>
          <p:nvPr/>
        </p:nvSpPr>
        <p:spPr>
          <a:xfrm>
            <a:off x="822960" y="2651760"/>
            <a:ext cx="566928" cy="274320"/>
          </a:xfrm>
          <a:prstGeom prst="roundRect">
            <a:avLst>
              <a:gd name="adj" fmla="val 50000"/>
            </a:avLst>
          </a:prstGeom>
          <a:solidFill>
            <a:schemeClr val="accent6">
              <a:alpha val="18000"/>
            </a:schemeClr>
          </a:solidFill>
          <a:ln/>
        </p:spPr>
        <p:txBody>
          <a:bodyPr/>
          <a:lstStyle/>
          <a:p>
            <a:endParaRPr lang="en-IN"/>
          </a:p>
        </p:txBody>
      </p:sp>
      <p:sp>
        <p:nvSpPr>
          <p:cNvPr id="8" name="Text 5"/>
          <p:cNvSpPr txBox="1"/>
          <p:nvPr/>
        </p:nvSpPr>
        <p:spPr>
          <a:xfrm>
            <a:off x="822960" y="2651760"/>
            <a:ext cx="566928" cy="274320"/>
          </a:xfrm>
          <a:prstGeom prst="rect">
            <a:avLst/>
          </a:prstGeom>
          <a:noFill/>
          <a:ln/>
        </p:spPr>
        <p:txBody>
          <a:bodyPr wrap="square" lIns="0" tIns="0" rIns="0" bIns="0" rtlCol="0" anchor="ctr"/>
          <a:lstStyle/>
          <a:p>
            <a:pPr marL="0" indent="0" algn="ctr">
              <a:buNone/>
            </a:pPr>
            <a:r>
              <a:rPr lang="en-US" sz="1200" b="1" dirty="0">
                <a:solidFill>
                  <a:schemeClr val="tx1"/>
                </a:solidFill>
              </a:rPr>
              <a:t>−40</a:t>
            </a:r>
            <a:endParaRPr lang="en-US" sz="1200" dirty="0"/>
          </a:p>
        </p:txBody>
      </p:sp>
      <p:sp>
        <p:nvSpPr>
          <p:cNvPr id="9" name="Text 6"/>
          <p:cNvSpPr txBox="1"/>
          <p:nvPr/>
        </p:nvSpPr>
        <p:spPr>
          <a:xfrm>
            <a:off x="1554480" y="2633472"/>
            <a:ext cx="4617720" cy="310896"/>
          </a:xfrm>
          <a:prstGeom prst="rect">
            <a:avLst/>
          </a:prstGeom>
          <a:noFill/>
          <a:ln/>
        </p:spPr>
        <p:txBody>
          <a:bodyPr wrap="square" lIns="0" tIns="0" rIns="0" bIns="0" rtlCol="0" anchor="ctr"/>
          <a:lstStyle/>
          <a:p>
            <a:pPr marL="0" indent="0">
              <a:buNone/>
            </a:pPr>
            <a:r>
              <a:rPr lang="en-US" sz="1350" dirty="0">
                <a:solidFill>
                  <a:schemeClr val="tx1"/>
                </a:solidFill>
              </a:rPr>
              <a:t>each claim the data disproves, like “no data loss” when carts emptied</a:t>
            </a:r>
            <a:endParaRPr lang="en-US" sz="1350" dirty="0"/>
          </a:p>
        </p:txBody>
      </p:sp>
      <p:sp>
        <p:nvSpPr>
          <p:cNvPr id="10" name="pill"/>
          <p:cNvSpPr/>
          <p:nvPr/>
        </p:nvSpPr>
        <p:spPr>
          <a:xfrm>
            <a:off x="822960" y="3035808"/>
            <a:ext cx="566928" cy="274320"/>
          </a:xfrm>
          <a:prstGeom prst="roundRect">
            <a:avLst>
              <a:gd name="adj" fmla="val 50000"/>
            </a:avLst>
          </a:prstGeom>
          <a:solidFill>
            <a:schemeClr val="accent6">
              <a:alpha val="18000"/>
            </a:schemeClr>
          </a:solidFill>
          <a:ln/>
        </p:spPr>
        <p:txBody>
          <a:bodyPr/>
          <a:lstStyle/>
          <a:p>
            <a:endParaRPr lang="en-IN"/>
          </a:p>
        </p:txBody>
      </p:sp>
      <p:sp>
        <p:nvSpPr>
          <p:cNvPr id="11" name="Text 8"/>
          <p:cNvSpPr txBox="1"/>
          <p:nvPr/>
        </p:nvSpPr>
        <p:spPr>
          <a:xfrm>
            <a:off x="822960" y="3035808"/>
            <a:ext cx="566928" cy="274320"/>
          </a:xfrm>
          <a:prstGeom prst="rect">
            <a:avLst/>
          </a:prstGeom>
          <a:noFill/>
          <a:ln/>
        </p:spPr>
        <p:txBody>
          <a:bodyPr wrap="square" lIns="0" tIns="0" rIns="0" bIns="0" rtlCol="0" anchor="ctr"/>
          <a:lstStyle/>
          <a:p>
            <a:pPr marL="0" indent="0" algn="ctr">
              <a:buNone/>
            </a:pPr>
            <a:r>
              <a:rPr lang="en-US" sz="1200" b="1" dirty="0">
                <a:solidFill>
                  <a:schemeClr val="tx1"/>
                </a:solidFill>
              </a:rPr>
              <a:t>−30</a:t>
            </a:r>
            <a:endParaRPr lang="en-US" sz="1200" dirty="0"/>
          </a:p>
        </p:txBody>
      </p:sp>
      <p:sp>
        <p:nvSpPr>
          <p:cNvPr id="12" name="Text 9"/>
          <p:cNvSpPr txBox="1"/>
          <p:nvPr/>
        </p:nvSpPr>
        <p:spPr>
          <a:xfrm>
            <a:off x="1554480" y="3017520"/>
            <a:ext cx="4617720" cy="310896"/>
          </a:xfrm>
          <a:prstGeom prst="rect">
            <a:avLst/>
          </a:prstGeom>
          <a:noFill/>
          <a:ln/>
        </p:spPr>
        <p:txBody>
          <a:bodyPr wrap="square" lIns="0" tIns="0" rIns="0" bIns="0" rtlCol="0" anchor="ctr"/>
          <a:lstStyle/>
          <a:p>
            <a:pPr marL="0" indent="0">
              <a:buNone/>
            </a:pPr>
            <a:r>
              <a:rPr lang="en-US" sz="1350" dirty="0">
                <a:solidFill>
                  <a:schemeClr val="tx1"/>
                </a:solidFill>
              </a:rPr>
              <a:t>names no service that broke</a:t>
            </a:r>
            <a:endParaRPr lang="en-US" sz="1350" dirty="0"/>
          </a:p>
        </p:txBody>
      </p:sp>
      <p:sp>
        <p:nvSpPr>
          <p:cNvPr id="13" name="pill"/>
          <p:cNvSpPr/>
          <p:nvPr/>
        </p:nvSpPr>
        <p:spPr>
          <a:xfrm>
            <a:off x="822960" y="3419856"/>
            <a:ext cx="566928" cy="274320"/>
          </a:xfrm>
          <a:prstGeom prst="roundRect">
            <a:avLst>
              <a:gd name="adj" fmla="val 50000"/>
            </a:avLst>
          </a:prstGeom>
          <a:solidFill>
            <a:schemeClr val="accent6">
              <a:alpha val="18000"/>
            </a:schemeClr>
          </a:solidFill>
          <a:ln/>
        </p:spPr>
        <p:txBody>
          <a:bodyPr/>
          <a:lstStyle/>
          <a:p>
            <a:endParaRPr lang="en-IN"/>
          </a:p>
        </p:txBody>
      </p:sp>
      <p:sp>
        <p:nvSpPr>
          <p:cNvPr id="14" name="Text 11"/>
          <p:cNvSpPr txBox="1"/>
          <p:nvPr/>
        </p:nvSpPr>
        <p:spPr>
          <a:xfrm>
            <a:off x="822960" y="3419856"/>
            <a:ext cx="566928" cy="274320"/>
          </a:xfrm>
          <a:prstGeom prst="rect">
            <a:avLst/>
          </a:prstGeom>
          <a:noFill/>
          <a:ln/>
        </p:spPr>
        <p:txBody>
          <a:bodyPr wrap="square" lIns="0" tIns="0" rIns="0" bIns="0" rtlCol="0" anchor="ctr"/>
          <a:lstStyle/>
          <a:p>
            <a:pPr marL="0" indent="0" algn="ctr">
              <a:buNone/>
            </a:pPr>
            <a:r>
              <a:rPr lang="en-US" sz="1200" b="1" dirty="0">
                <a:solidFill>
                  <a:schemeClr val="tx1"/>
                </a:solidFill>
              </a:rPr>
              <a:t>−20</a:t>
            </a:r>
            <a:endParaRPr lang="en-US" sz="1200" dirty="0"/>
          </a:p>
        </p:txBody>
      </p:sp>
      <p:sp>
        <p:nvSpPr>
          <p:cNvPr id="15" name="Text 12"/>
          <p:cNvSpPr txBox="1"/>
          <p:nvPr/>
        </p:nvSpPr>
        <p:spPr>
          <a:xfrm>
            <a:off x="1554480" y="3401568"/>
            <a:ext cx="4617720" cy="310896"/>
          </a:xfrm>
          <a:prstGeom prst="rect">
            <a:avLst/>
          </a:prstGeom>
          <a:noFill/>
          <a:ln/>
        </p:spPr>
        <p:txBody>
          <a:bodyPr wrap="square" lIns="0" tIns="0" rIns="0" bIns="0" rtlCol="0" anchor="ctr"/>
          <a:lstStyle/>
          <a:p>
            <a:pPr marL="0" indent="0">
              <a:buNone/>
            </a:pPr>
            <a:r>
              <a:rPr lang="en-US" sz="1350" dirty="0">
                <a:solidFill>
                  <a:schemeClr val="tx1"/>
                </a:solidFill>
              </a:rPr>
              <a:t>the error ratio rests on fewer than 20 calls</a:t>
            </a:r>
            <a:endParaRPr lang="en-US" sz="1350" dirty="0"/>
          </a:p>
        </p:txBody>
      </p:sp>
      <p:sp>
        <p:nvSpPr>
          <p:cNvPr id="16" name="pill"/>
          <p:cNvSpPr/>
          <p:nvPr/>
        </p:nvSpPr>
        <p:spPr>
          <a:xfrm>
            <a:off x="822960" y="3803904"/>
            <a:ext cx="566928" cy="274320"/>
          </a:xfrm>
          <a:prstGeom prst="roundRect">
            <a:avLst>
              <a:gd name="adj" fmla="val 50000"/>
            </a:avLst>
          </a:prstGeom>
          <a:solidFill>
            <a:schemeClr val="accent6">
              <a:alpha val="18000"/>
            </a:schemeClr>
          </a:solidFill>
          <a:ln/>
        </p:spPr>
        <p:txBody>
          <a:bodyPr/>
          <a:lstStyle/>
          <a:p>
            <a:endParaRPr lang="en-IN"/>
          </a:p>
        </p:txBody>
      </p:sp>
      <p:sp>
        <p:nvSpPr>
          <p:cNvPr id="17" name="Text 14"/>
          <p:cNvSpPr txBox="1"/>
          <p:nvPr/>
        </p:nvSpPr>
        <p:spPr>
          <a:xfrm>
            <a:off x="822960" y="3803904"/>
            <a:ext cx="566928" cy="274320"/>
          </a:xfrm>
          <a:prstGeom prst="rect">
            <a:avLst/>
          </a:prstGeom>
          <a:noFill/>
          <a:ln/>
        </p:spPr>
        <p:txBody>
          <a:bodyPr wrap="square" lIns="0" tIns="0" rIns="0" bIns="0" rtlCol="0" anchor="ctr"/>
          <a:lstStyle/>
          <a:p>
            <a:pPr marL="0" indent="0" algn="ctr">
              <a:buNone/>
            </a:pPr>
            <a:r>
              <a:rPr lang="en-US" sz="1200" b="1" dirty="0">
                <a:solidFill>
                  <a:schemeClr val="tx1"/>
                </a:solidFill>
              </a:rPr>
              <a:t>−10</a:t>
            </a:r>
            <a:endParaRPr lang="en-US" sz="1200" dirty="0"/>
          </a:p>
        </p:txBody>
      </p:sp>
      <p:sp>
        <p:nvSpPr>
          <p:cNvPr id="18" name="Text 15"/>
          <p:cNvSpPr txBox="1"/>
          <p:nvPr/>
        </p:nvSpPr>
        <p:spPr>
          <a:xfrm>
            <a:off x="1554480" y="3785616"/>
            <a:ext cx="4617720" cy="310896"/>
          </a:xfrm>
          <a:prstGeom prst="rect">
            <a:avLst/>
          </a:prstGeom>
          <a:noFill/>
          <a:ln/>
        </p:spPr>
        <p:txBody>
          <a:bodyPr wrap="square" lIns="0" tIns="0" rIns="0" bIns="0" rtlCol="0" anchor="ctr"/>
          <a:lstStyle/>
          <a:p>
            <a:pPr marL="0" indent="0">
              <a:buNone/>
            </a:pPr>
            <a:r>
              <a:rPr lang="en-US" sz="1350" dirty="0">
                <a:solidFill>
                  <a:schemeClr val="tx1"/>
                </a:solidFill>
              </a:rPr>
              <a:t>cites no evidence (only files that exist count)</a:t>
            </a:r>
            <a:endParaRPr lang="en-US" sz="1350" dirty="0"/>
          </a:p>
        </p:txBody>
      </p:sp>
      <p:sp>
        <p:nvSpPr>
          <p:cNvPr id="19" name="card"/>
          <p:cNvSpPr/>
          <p:nvPr/>
        </p:nvSpPr>
        <p:spPr>
          <a:xfrm>
            <a:off x="6675120" y="1737360"/>
            <a:ext cx="4967935" cy="2514600"/>
          </a:xfrm>
          <a:prstGeom prst="roundRect">
            <a:avLst>
              <a:gd name="adj" fmla="val 2182"/>
            </a:avLst>
          </a:prstGeom>
          <a:solidFill>
            <a:schemeClr val="bg1"/>
          </a:solidFill>
          <a:ln w="9525">
            <a:solidFill>
              <a:schemeClr val="tx2">
                <a:alpha val="28000"/>
              </a:schemeClr>
            </a:solidFill>
            <a:prstDash val="solid"/>
          </a:ln>
        </p:spPr>
        <p:txBody>
          <a:bodyPr/>
          <a:lstStyle/>
          <a:p>
            <a:endParaRPr lang="en-IN"/>
          </a:p>
        </p:txBody>
      </p:sp>
      <p:sp>
        <p:nvSpPr>
          <p:cNvPr id="20" name="Text 17"/>
          <p:cNvSpPr txBox="1"/>
          <p:nvPr/>
        </p:nvSpPr>
        <p:spPr>
          <a:xfrm>
            <a:off x="6949440" y="1874520"/>
            <a:ext cx="4419295" cy="411480"/>
          </a:xfrm>
          <a:prstGeom prst="rect">
            <a:avLst/>
          </a:prstGeom>
          <a:noFill/>
          <a:ln/>
        </p:spPr>
        <p:txBody>
          <a:bodyPr wrap="square" lIns="0" tIns="0" rIns="0" bIns="0" rtlCol="0" anchor="t"/>
          <a:lstStyle/>
          <a:p>
            <a:pPr marL="0" indent="0">
              <a:buNone/>
            </a:pPr>
            <a:r>
              <a:rPr lang="en-US" sz="2000" dirty="0">
                <a:solidFill>
                  <a:schemeClr val="tx1"/>
                </a:solidFill>
                <a:latin typeface="+mj-lt" pitchFamily="34" charset="0"/>
                <a:ea typeface="+mj-lt" pitchFamily="34" charset="-122"/>
                <a:cs typeface="+mj-lt" pitchFamily="34" charset="-120"/>
              </a:rPr>
              <a:t>Model's own estimate, unchecked</a:t>
            </a:r>
            <a:endParaRPr lang="en-US" sz="2000" dirty="0"/>
          </a:p>
        </p:txBody>
      </p:sp>
      <p:sp>
        <p:nvSpPr>
          <p:cNvPr id="21" name="Text 18"/>
          <p:cNvSpPr txBox="1"/>
          <p:nvPr/>
        </p:nvSpPr>
        <p:spPr>
          <a:xfrm>
            <a:off x="6949440" y="2377440"/>
            <a:ext cx="4419295" cy="1783080"/>
          </a:xfrm>
          <a:prstGeom prst="rect">
            <a:avLst/>
          </a:prstGeom>
          <a:noFill/>
          <a:ln/>
        </p:spPr>
        <p:txBody>
          <a:bodyPr wrap="square" lIns="0" tIns="0" rIns="0" bIns="0" rtlCol="0" anchor="t"/>
          <a:lstStyle/>
          <a:p>
            <a:pPr marL="0" indent="0">
              <a:spcAft>
                <a:spcPts val="800"/>
              </a:spcAft>
              <a:buNone/>
            </a:pPr>
            <a:r>
              <a:rPr lang="en-US" sz="1400" dirty="0">
                <a:solidFill>
                  <a:schemeClr val="tx2"/>
                </a:solidFill>
              </a:rPr>
              <a:t>Each model returns its own confidence, 0 to 1. It sits under the evidence check on every AI output, as Bosch's code of ethics asks.</a:t>
            </a:r>
            <a:endParaRPr lang="en-US" sz="1400" dirty="0"/>
          </a:p>
          <a:p>
            <a:pPr marL="0" indent="0">
              <a:buNone/>
            </a:pPr>
            <a:r>
              <a:rPr lang="en-US" sz="1400" dirty="0">
                <a:solidFill>
                  <a:schemeClr val="tx2"/>
                </a:solidFill>
              </a:rPr>
              <a:t>It stays labelled unchecked: an early prompt's example said 0.6, and one model copied it into every note.</a:t>
            </a:r>
            <a:endParaRPr lang="en-US" sz="1400" dirty="0"/>
          </a:p>
        </p:txBody>
      </p:sp>
      <p:sp>
        <p:nvSpPr>
          <p:cNvPr id="22" name="card"/>
          <p:cNvSpPr/>
          <p:nvPr/>
        </p:nvSpPr>
        <p:spPr>
          <a:xfrm>
            <a:off x="548640" y="4480560"/>
            <a:ext cx="3545738" cy="1691640"/>
          </a:xfrm>
          <a:prstGeom prst="roundRect">
            <a:avLst>
              <a:gd name="adj" fmla="val 3243"/>
            </a:avLst>
          </a:prstGeom>
          <a:solidFill>
            <a:schemeClr val="bg1"/>
          </a:solidFill>
          <a:ln w="9525">
            <a:solidFill>
              <a:schemeClr val="tx2">
                <a:alpha val="28000"/>
              </a:schemeClr>
            </a:solidFill>
            <a:prstDash val="solid"/>
          </a:ln>
        </p:spPr>
        <p:txBody>
          <a:bodyPr/>
          <a:lstStyle/>
          <a:p>
            <a:endParaRPr lang="en-IN"/>
          </a:p>
        </p:txBody>
      </p:sp>
      <p:sp>
        <p:nvSpPr>
          <p:cNvPr id="23" name="Text 20"/>
          <p:cNvSpPr txBox="1"/>
          <p:nvPr/>
        </p:nvSpPr>
        <p:spPr>
          <a:xfrm>
            <a:off x="777240" y="4617720"/>
            <a:ext cx="1463040" cy="548640"/>
          </a:xfrm>
          <a:prstGeom prst="rect">
            <a:avLst/>
          </a:prstGeom>
          <a:noFill/>
          <a:ln/>
        </p:spPr>
        <p:txBody>
          <a:bodyPr wrap="square" lIns="0" tIns="0" rIns="0" bIns="0" rtlCol="0" anchor="t"/>
          <a:lstStyle/>
          <a:p>
            <a:pPr marL="0" indent="0">
              <a:buNone/>
            </a:pPr>
            <a:r>
              <a:rPr lang="en-US" sz="3200" dirty="0">
                <a:solidFill>
                  <a:schemeClr val="accent3"/>
                </a:solidFill>
                <a:latin typeface="+mj-lt" pitchFamily="34" charset="0"/>
                <a:ea typeface="+mj-lt" pitchFamily="34" charset="-122"/>
                <a:cs typeface="+mj-lt" pitchFamily="34" charset="-120"/>
              </a:rPr>
              <a:t>100 %</a:t>
            </a:r>
            <a:endParaRPr lang="en-US" sz="3200" dirty="0"/>
          </a:p>
        </p:txBody>
      </p:sp>
      <p:sp>
        <p:nvSpPr>
          <p:cNvPr id="24" name="Text 21"/>
          <p:cNvSpPr txBox="1"/>
          <p:nvPr/>
        </p:nvSpPr>
        <p:spPr>
          <a:xfrm>
            <a:off x="2148840" y="4663440"/>
            <a:ext cx="1762658" cy="502920"/>
          </a:xfrm>
          <a:prstGeom prst="rect">
            <a:avLst/>
          </a:prstGeom>
          <a:noFill/>
          <a:ln/>
        </p:spPr>
        <p:txBody>
          <a:bodyPr wrap="square" lIns="0" tIns="0" rIns="0" bIns="0" rtlCol="0" anchor="ctr"/>
          <a:lstStyle/>
          <a:p>
            <a:pPr marL="0" indent="0">
              <a:buNone/>
            </a:pPr>
            <a:r>
              <a:rPr lang="en-US" sz="1250" b="1" dirty="0">
                <a:solidFill>
                  <a:schemeClr val="tx1"/>
                </a:solidFill>
              </a:rPr>
              <a:t>blast-latency +</a:t>
            </a:r>
            <a:endParaRPr lang="en-US" sz="1250" dirty="0"/>
          </a:p>
          <a:p>
            <a:pPr marL="0" indent="0">
              <a:buNone/>
            </a:pPr>
            <a:r>
              <a:rPr lang="en-US" sz="1250" b="1" dirty="0">
                <a:solidFill>
                  <a:schemeClr val="tx1"/>
                </a:solidFill>
              </a:rPr>
              <a:t>catalog-db-cutoff</a:t>
            </a:r>
            <a:endParaRPr lang="en-US" sz="1250" dirty="0"/>
          </a:p>
        </p:txBody>
      </p:sp>
      <p:sp>
        <p:nvSpPr>
          <p:cNvPr id="25" name="Text 22"/>
          <p:cNvSpPr txBox="1"/>
          <p:nvPr/>
        </p:nvSpPr>
        <p:spPr>
          <a:xfrm>
            <a:off x="777240" y="5257800"/>
            <a:ext cx="3088538" cy="868680"/>
          </a:xfrm>
          <a:prstGeom prst="rect">
            <a:avLst/>
          </a:prstGeom>
          <a:noFill/>
          <a:ln/>
        </p:spPr>
        <p:txBody>
          <a:bodyPr wrap="square" lIns="0" tIns="0" rIns="0" bIns="0" rtlCol="0" anchor="t"/>
          <a:lstStyle/>
          <a:p>
            <a:pPr marL="0" indent="0">
              <a:buNone/>
            </a:pPr>
            <a:r>
              <a:rPr lang="en-US" sz="1300" dirty="0">
                <a:solidFill>
                  <a:schemeClr val="tx2"/>
                </a:solidFill>
              </a:rPr>
              <a:t>Contradicts nothing, names checkout and product-catalog, cites bank.json. Model's own: 85 %.</a:t>
            </a:r>
            <a:endParaRPr lang="en-US" sz="1300" dirty="0"/>
          </a:p>
        </p:txBody>
      </p:sp>
      <p:sp>
        <p:nvSpPr>
          <p:cNvPr id="26" name="card"/>
          <p:cNvSpPr/>
          <p:nvPr/>
        </p:nvSpPr>
        <p:spPr>
          <a:xfrm>
            <a:off x="4322978" y="4480560"/>
            <a:ext cx="3545738" cy="1691640"/>
          </a:xfrm>
          <a:prstGeom prst="roundRect">
            <a:avLst>
              <a:gd name="adj" fmla="val 3243"/>
            </a:avLst>
          </a:prstGeom>
          <a:solidFill>
            <a:schemeClr val="bg1"/>
          </a:solidFill>
          <a:ln w="9525">
            <a:solidFill>
              <a:schemeClr val="tx2">
                <a:alpha val="28000"/>
              </a:schemeClr>
            </a:solidFill>
            <a:prstDash val="solid"/>
          </a:ln>
        </p:spPr>
        <p:txBody>
          <a:bodyPr/>
          <a:lstStyle/>
          <a:p>
            <a:endParaRPr lang="en-IN"/>
          </a:p>
        </p:txBody>
      </p:sp>
      <p:sp>
        <p:nvSpPr>
          <p:cNvPr id="27" name="Text 24"/>
          <p:cNvSpPr txBox="1"/>
          <p:nvPr/>
        </p:nvSpPr>
        <p:spPr>
          <a:xfrm>
            <a:off x="4551578" y="4617720"/>
            <a:ext cx="1463040" cy="548640"/>
          </a:xfrm>
          <a:prstGeom prst="rect">
            <a:avLst/>
          </a:prstGeom>
          <a:noFill/>
          <a:ln/>
        </p:spPr>
        <p:txBody>
          <a:bodyPr wrap="square" lIns="0" tIns="0" rIns="0" bIns="0" rtlCol="0" anchor="t"/>
          <a:lstStyle/>
          <a:p>
            <a:pPr marL="0" indent="0">
              <a:buNone/>
            </a:pPr>
            <a:r>
              <a:rPr lang="en-US" sz="3200" dirty="0">
                <a:solidFill>
                  <a:schemeClr val="accent5"/>
                </a:solidFill>
                <a:latin typeface="+mj-lt" pitchFamily="34" charset="0"/>
                <a:ea typeface="+mj-lt" pitchFamily="34" charset="-122"/>
                <a:cs typeface="+mj-lt" pitchFamily="34" charset="-120"/>
              </a:rPr>
              <a:t>80 %</a:t>
            </a:r>
            <a:endParaRPr lang="en-US" sz="3200" dirty="0"/>
          </a:p>
        </p:txBody>
      </p:sp>
      <p:sp>
        <p:nvSpPr>
          <p:cNvPr id="28" name="Text 25"/>
          <p:cNvSpPr txBox="1"/>
          <p:nvPr/>
        </p:nvSpPr>
        <p:spPr>
          <a:xfrm>
            <a:off x="5923178" y="4663440"/>
            <a:ext cx="1762658" cy="502920"/>
          </a:xfrm>
          <a:prstGeom prst="rect">
            <a:avLst/>
          </a:prstGeom>
          <a:noFill/>
          <a:ln/>
        </p:spPr>
        <p:txBody>
          <a:bodyPr wrap="square" lIns="0" tIns="0" rIns="0" bIns="0" rtlCol="0" anchor="ctr"/>
          <a:lstStyle/>
          <a:p>
            <a:pPr marL="0" indent="0">
              <a:buNone/>
            </a:pPr>
            <a:r>
              <a:rPr lang="en-US" sz="1250" b="1" dirty="0">
                <a:solidFill>
                  <a:schemeClr val="tx1"/>
                </a:solidFill>
              </a:rPr>
              <a:t>blast-loss</a:t>
            </a:r>
            <a:endParaRPr lang="en-US" sz="1250" dirty="0"/>
          </a:p>
        </p:txBody>
      </p:sp>
      <p:sp>
        <p:nvSpPr>
          <p:cNvPr id="29" name="Text 26"/>
          <p:cNvSpPr txBox="1"/>
          <p:nvPr/>
        </p:nvSpPr>
        <p:spPr>
          <a:xfrm>
            <a:off x="4551578" y="5257800"/>
            <a:ext cx="3088538" cy="868680"/>
          </a:xfrm>
          <a:prstGeom prst="rect">
            <a:avLst/>
          </a:prstGeom>
          <a:noFill/>
          <a:ln/>
        </p:spPr>
        <p:txBody>
          <a:bodyPr wrap="square" lIns="0" tIns="0" rIns="0" bIns="0" rtlCol="0" anchor="t"/>
          <a:lstStyle/>
          <a:p>
            <a:pPr marL="0" indent="0">
              <a:buNone/>
            </a:pPr>
            <a:r>
              <a:rPr lang="en-US" sz="1300" dirty="0">
                <a:solidFill>
                  <a:schemeClr val="tx2"/>
                </a:solidFill>
              </a:rPr>
              <a:t>Grounded, but checkout's error ratio rests on only 9 calls (−20).</a:t>
            </a:r>
            <a:endParaRPr lang="en-US" sz="1300" dirty="0"/>
          </a:p>
        </p:txBody>
      </p:sp>
      <p:sp>
        <p:nvSpPr>
          <p:cNvPr id="30" name="card"/>
          <p:cNvSpPr/>
          <p:nvPr/>
        </p:nvSpPr>
        <p:spPr>
          <a:xfrm>
            <a:off x="8097317" y="4480560"/>
            <a:ext cx="3545738" cy="1691640"/>
          </a:xfrm>
          <a:prstGeom prst="roundRect">
            <a:avLst>
              <a:gd name="adj" fmla="val 3243"/>
            </a:avLst>
          </a:prstGeom>
          <a:solidFill>
            <a:schemeClr val="bg1"/>
          </a:solidFill>
          <a:ln w="9525">
            <a:solidFill>
              <a:schemeClr val="tx2">
                <a:alpha val="28000"/>
              </a:schemeClr>
            </a:solidFill>
            <a:prstDash val="solid"/>
          </a:ln>
        </p:spPr>
        <p:txBody>
          <a:bodyPr/>
          <a:lstStyle/>
          <a:p>
            <a:endParaRPr lang="en-IN"/>
          </a:p>
        </p:txBody>
      </p:sp>
      <p:sp>
        <p:nvSpPr>
          <p:cNvPr id="31" name="Text 28"/>
          <p:cNvSpPr txBox="1"/>
          <p:nvPr/>
        </p:nvSpPr>
        <p:spPr>
          <a:xfrm>
            <a:off x="8325917" y="4617720"/>
            <a:ext cx="1463040" cy="548640"/>
          </a:xfrm>
          <a:prstGeom prst="rect">
            <a:avLst/>
          </a:prstGeom>
          <a:noFill/>
          <a:ln/>
        </p:spPr>
        <p:txBody>
          <a:bodyPr wrap="square" lIns="0" tIns="0" rIns="0" bIns="0" rtlCol="0" anchor="t"/>
          <a:lstStyle/>
          <a:p>
            <a:pPr marL="0" indent="0">
              <a:buNone/>
            </a:pPr>
            <a:r>
              <a:rPr lang="en-US" sz="3200" dirty="0">
                <a:solidFill>
                  <a:schemeClr val="accent6"/>
                </a:solidFill>
                <a:latin typeface="+mj-lt" pitchFamily="34" charset="0"/>
                <a:ea typeface="+mj-lt" pitchFamily="34" charset="-122"/>
                <a:cs typeface="+mj-lt" pitchFamily="34" charset="-120"/>
              </a:rPr>
              <a:t>20 %</a:t>
            </a:r>
            <a:endParaRPr lang="en-US" sz="3200" dirty="0"/>
          </a:p>
        </p:txBody>
      </p:sp>
      <p:sp>
        <p:nvSpPr>
          <p:cNvPr id="32" name="Text 29"/>
          <p:cNvSpPr txBox="1"/>
          <p:nvPr/>
        </p:nvSpPr>
        <p:spPr>
          <a:xfrm>
            <a:off x="9697517" y="4663440"/>
            <a:ext cx="1762658" cy="502920"/>
          </a:xfrm>
          <a:prstGeom prst="rect">
            <a:avLst/>
          </a:prstGeom>
          <a:noFill/>
          <a:ln/>
        </p:spPr>
        <p:txBody>
          <a:bodyPr wrap="square" lIns="0" tIns="0" rIns="0" bIns="0" rtlCol="0" anchor="ctr"/>
          <a:lstStyle/>
          <a:p>
            <a:pPr marL="0" indent="0">
              <a:buNone/>
            </a:pPr>
            <a:r>
              <a:rPr lang="en-US" sz="1250" b="1" dirty="0">
                <a:solidFill>
                  <a:schemeClr val="tx1"/>
                </a:solidFill>
              </a:rPr>
              <a:t>cart-wipe</a:t>
            </a:r>
            <a:endParaRPr lang="en-US" sz="1250" dirty="0"/>
          </a:p>
        </p:txBody>
      </p:sp>
      <p:sp>
        <p:nvSpPr>
          <p:cNvPr id="33" name="Text 30"/>
          <p:cNvSpPr txBox="1"/>
          <p:nvPr/>
        </p:nvSpPr>
        <p:spPr>
          <a:xfrm>
            <a:off x="8325917" y="5257800"/>
            <a:ext cx="3088538" cy="868680"/>
          </a:xfrm>
          <a:prstGeom prst="rect">
            <a:avLst/>
          </a:prstGeom>
          <a:noFill/>
          <a:ln/>
        </p:spPr>
        <p:txBody>
          <a:bodyPr wrap="square" lIns="0" tIns="0" rIns="0" bIns="0" rtlCol="0" anchor="t"/>
          <a:lstStyle/>
          <a:p>
            <a:pPr marL="0" indent="0">
              <a:buNone/>
            </a:pPr>
            <a:r>
              <a:rPr lang="en-US" sz="1300" dirty="0">
                <a:solidFill>
                  <a:schemeClr val="tx2"/>
                </a:solidFill>
              </a:rPr>
              <a:t>Said “no data loss, SLO preserved” while carts went 1 → 0 (−40, −40).</a:t>
            </a:r>
            <a:endParaRPr lang="en-US" sz="130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Tools and technologies</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Open source or free tier, all on one laptop. The replay mode runs anywhere, with no cluster and no keys.</a:t>
            </a:r>
            <a:endParaRPr lang="en-US" sz="1600" dirty="0"/>
          </a:p>
        </p:txBody>
      </p:sp>
      <p:sp>
        <p:nvSpPr>
          <p:cNvPr id="5" name="card"/>
          <p:cNvSpPr/>
          <p:nvPr/>
        </p:nvSpPr>
        <p:spPr>
          <a:xfrm>
            <a:off x="548640" y="1783080"/>
            <a:ext cx="3515258" cy="2103120"/>
          </a:xfrm>
          <a:prstGeom prst="roundRect">
            <a:avLst>
              <a:gd name="adj" fmla="val 2609"/>
            </a:avLst>
          </a:prstGeom>
          <a:solidFill>
            <a:schemeClr val="bg1"/>
          </a:solidFill>
          <a:ln w="9525">
            <a:solidFill>
              <a:schemeClr val="tx2">
                <a:alpha val="28000"/>
              </a:schemeClr>
            </a:solidFill>
            <a:prstDash val="solid"/>
          </a:ln>
        </p:spPr>
        <p:txBody>
          <a:bodyPr/>
          <a:lstStyle/>
          <a:p>
            <a:endParaRPr lang="en-IN"/>
          </a:p>
        </p:txBody>
      </p:sp>
      <p:sp>
        <p:nvSpPr>
          <p:cNvPr id="6" name="icon circle"/>
          <p:cNvSpPr/>
          <p:nvPr/>
        </p:nvSpPr>
        <p:spPr>
          <a:xfrm>
            <a:off x="777240" y="2011680"/>
            <a:ext cx="475488" cy="475488"/>
          </a:xfrm>
          <a:prstGeom prst="ellipse">
            <a:avLst/>
          </a:prstGeom>
          <a:solidFill>
            <a:schemeClr val="accent3"/>
          </a:solidFill>
          <a:ln/>
        </p:spPr>
        <p:txBody>
          <a:bodyPr/>
          <a:lstStyle/>
          <a:p>
            <a:endParaRPr lang="en-IN"/>
          </a:p>
        </p:txBody>
      </p:sp>
      <p:pic>
        <p:nvPicPr>
          <p:cNvPr id="7" name="Image 0" descr="Code icon"/>
          <p:cNvPicPr>
            <a:picLocks noChangeAspect="1"/>
          </p:cNvPicPr>
          <p:nvPr/>
        </p:nvPicPr>
        <p:blipFill>
          <a:blip r:embed="rId3"/>
          <a:stretch>
            <a:fillRect/>
          </a:stretch>
        </p:blipFill>
        <p:spPr>
          <a:xfrm>
            <a:off x="881847" y="2116287"/>
            <a:ext cx="266273" cy="266273"/>
          </a:xfrm>
          <a:prstGeom prst="rect">
            <a:avLst/>
          </a:prstGeom>
        </p:spPr>
      </p:pic>
      <p:sp>
        <p:nvSpPr>
          <p:cNvPr id="8" name="Text 4"/>
          <p:cNvSpPr txBox="1"/>
          <p:nvPr/>
        </p:nvSpPr>
        <p:spPr>
          <a:xfrm>
            <a:off x="1389888" y="2011680"/>
            <a:ext cx="2509418" cy="475488"/>
          </a:xfrm>
          <a:prstGeom prst="rect">
            <a:avLst/>
          </a:prstGeom>
          <a:noFill/>
          <a:ln/>
        </p:spPr>
        <p:txBody>
          <a:bodyPr wrap="square" lIns="0" tIns="0" rIns="0" bIns="0" rtlCol="0" anchor="ctr"/>
          <a:lstStyle/>
          <a:p>
            <a:pPr marL="0" indent="0">
              <a:buNone/>
            </a:pPr>
            <a:r>
              <a:rPr lang="en-US" sz="1600" b="1" dirty="0">
                <a:solidFill>
                  <a:schemeClr val="tx1"/>
                </a:solidFill>
              </a:rPr>
              <a:t>Language and frameworks</a:t>
            </a:r>
            <a:endParaRPr lang="en-US" sz="1600" dirty="0"/>
          </a:p>
        </p:txBody>
      </p:sp>
      <p:sp>
        <p:nvSpPr>
          <p:cNvPr id="9" name="Text 5"/>
          <p:cNvSpPr txBox="1"/>
          <p:nvPr/>
        </p:nvSpPr>
        <p:spPr>
          <a:xfrm>
            <a:off x="777240" y="2651760"/>
            <a:ext cx="3058058" cy="1143000"/>
          </a:xfrm>
          <a:prstGeom prst="rect">
            <a:avLst/>
          </a:prstGeom>
          <a:noFill/>
          <a:ln/>
        </p:spPr>
        <p:txBody>
          <a:bodyPr wrap="square" lIns="0" tIns="0" rIns="0" bIns="0" rtlCol="0" anchor="t"/>
          <a:lstStyle/>
          <a:p>
            <a:pPr marL="0" indent="0">
              <a:buNone/>
            </a:pPr>
            <a:r>
              <a:rPr lang="en-US" sz="1350" dirty="0">
                <a:solidFill>
                  <a:schemeClr val="tx2"/>
                </a:solidFill>
              </a:rPr>
              <a:t>Python 3.12 with uv · LangGraph for the agent's StateGraph · a Streamlit console with a drag-and-drop queue · pytest</a:t>
            </a:r>
            <a:endParaRPr lang="en-US" sz="1350" dirty="0"/>
          </a:p>
        </p:txBody>
      </p:sp>
      <p:sp>
        <p:nvSpPr>
          <p:cNvPr id="10" name="card"/>
          <p:cNvSpPr/>
          <p:nvPr/>
        </p:nvSpPr>
        <p:spPr>
          <a:xfrm>
            <a:off x="4338218" y="1783080"/>
            <a:ext cx="3515258" cy="2103120"/>
          </a:xfrm>
          <a:prstGeom prst="roundRect">
            <a:avLst>
              <a:gd name="adj" fmla="val 2609"/>
            </a:avLst>
          </a:prstGeom>
          <a:solidFill>
            <a:schemeClr val="bg1"/>
          </a:solidFill>
          <a:ln w="9525">
            <a:solidFill>
              <a:schemeClr val="tx2">
                <a:alpha val="28000"/>
              </a:schemeClr>
            </a:solidFill>
            <a:prstDash val="solid"/>
          </a:ln>
        </p:spPr>
        <p:txBody>
          <a:bodyPr/>
          <a:lstStyle/>
          <a:p>
            <a:endParaRPr lang="en-IN"/>
          </a:p>
        </p:txBody>
      </p:sp>
      <p:sp>
        <p:nvSpPr>
          <p:cNvPr id="11" name="icon circle"/>
          <p:cNvSpPr/>
          <p:nvPr/>
        </p:nvSpPr>
        <p:spPr>
          <a:xfrm>
            <a:off x="4566818" y="2011680"/>
            <a:ext cx="475488" cy="475488"/>
          </a:xfrm>
          <a:prstGeom prst="ellipse">
            <a:avLst/>
          </a:prstGeom>
          <a:solidFill>
            <a:schemeClr val="accent4"/>
          </a:solidFill>
          <a:ln/>
        </p:spPr>
        <p:txBody>
          <a:bodyPr/>
          <a:lstStyle/>
          <a:p>
            <a:endParaRPr lang="en-IN"/>
          </a:p>
        </p:txBody>
      </p:sp>
      <p:pic>
        <p:nvPicPr>
          <p:cNvPr id="12" name="Image 1" descr="Brain icon"/>
          <p:cNvPicPr>
            <a:picLocks noChangeAspect="1"/>
          </p:cNvPicPr>
          <p:nvPr/>
        </p:nvPicPr>
        <p:blipFill>
          <a:blip r:embed="rId4"/>
          <a:stretch>
            <a:fillRect/>
          </a:stretch>
        </p:blipFill>
        <p:spPr>
          <a:xfrm>
            <a:off x="4671426" y="2116287"/>
            <a:ext cx="266273" cy="266273"/>
          </a:xfrm>
          <a:prstGeom prst="rect">
            <a:avLst/>
          </a:prstGeom>
        </p:spPr>
      </p:pic>
      <p:sp>
        <p:nvSpPr>
          <p:cNvPr id="13" name="Text 8"/>
          <p:cNvSpPr txBox="1"/>
          <p:nvPr/>
        </p:nvSpPr>
        <p:spPr>
          <a:xfrm>
            <a:off x="5179466" y="2011680"/>
            <a:ext cx="2509418" cy="475488"/>
          </a:xfrm>
          <a:prstGeom prst="rect">
            <a:avLst/>
          </a:prstGeom>
          <a:noFill/>
          <a:ln/>
        </p:spPr>
        <p:txBody>
          <a:bodyPr wrap="square" lIns="0" tIns="0" rIns="0" bIns="0" rtlCol="0" anchor="ctr"/>
          <a:lstStyle/>
          <a:p>
            <a:pPr marL="0" indent="0">
              <a:buNone/>
            </a:pPr>
            <a:r>
              <a:rPr lang="en-US" sz="1600" b="1" dirty="0">
                <a:solidFill>
                  <a:schemeClr val="tx1"/>
                </a:solidFill>
              </a:rPr>
              <a:t>AI models and APIs</a:t>
            </a:r>
            <a:endParaRPr lang="en-US" sz="1600" dirty="0"/>
          </a:p>
        </p:txBody>
      </p:sp>
      <p:sp>
        <p:nvSpPr>
          <p:cNvPr id="14" name="Text 9"/>
          <p:cNvSpPr txBox="1"/>
          <p:nvPr/>
        </p:nvSpPr>
        <p:spPr>
          <a:xfrm>
            <a:off x="4566818" y="2651760"/>
            <a:ext cx="3058058" cy="1143000"/>
          </a:xfrm>
          <a:prstGeom prst="rect">
            <a:avLst/>
          </a:prstGeom>
          <a:noFill/>
          <a:ln/>
        </p:spPr>
        <p:txBody>
          <a:bodyPr wrap="square" lIns="0" tIns="0" rIns="0" bIns="0" rtlCol="0" anchor="t"/>
          <a:lstStyle/>
          <a:p>
            <a:pPr marL="0" indent="0">
              <a:buNone/>
            </a:pPr>
            <a:r>
              <a:rPr lang="en-US" sz="1350" dirty="0">
                <a:solidFill>
                  <a:schemeClr val="tx2"/>
                </a:solidFill>
              </a:rPr>
              <a:t>Groq: gpt-oss-120b and gpt-oss-20b · OpenRouter: nemotron-3.5-lightning as the fallback · one llm() wrapper, so a Bosch-provided model swaps in one place</a:t>
            </a:r>
            <a:endParaRPr lang="en-US" sz="1350" dirty="0"/>
          </a:p>
        </p:txBody>
      </p:sp>
      <p:sp>
        <p:nvSpPr>
          <p:cNvPr id="15" name="card"/>
          <p:cNvSpPr/>
          <p:nvPr/>
        </p:nvSpPr>
        <p:spPr>
          <a:xfrm>
            <a:off x="8127797" y="1783080"/>
            <a:ext cx="3515258" cy="2103120"/>
          </a:xfrm>
          <a:prstGeom prst="roundRect">
            <a:avLst>
              <a:gd name="adj" fmla="val 2609"/>
            </a:avLst>
          </a:prstGeom>
          <a:solidFill>
            <a:schemeClr val="bg1"/>
          </a:solidFill>
          <a:ln w="9525">
            <a:solidFill>
              <a:schemeClr val="tx2">
                <a:alpha val="28000"/>
              </a:schemeClr>
            </a:solidFill>
            <a:prstDash val="solid"/>
          </a:ln>
        </p:spPr>
        <p:txBody>
          <a:bodyPr/>
          <a:lstStyle/>
          <a:p>
            <a:endParaRPr lang="en-IN"/>
          </a:p>
        </p:txBody>
      </p:sp>
      <p:sp>
        <p:nvSpPr>
          <p:cNvPr id="16" name="icon circle"/>
          <p:cNvSpPr/>
          <p:nvPr/>
        </p:nvSpPr>
        <p:spPr>
          <a:xfrm>
            <a:off x="8356397" y="2011680"/>
            <a:ext cx="475488" cy="475488"/>
          </a:xfrm>
          <a:prstGeom prst="ellipse">
            <a:avLst/>
          </a:prstGeom>
          <a:solidFill>
            <a:schemeClr val="accent1"/>
          </a:solidFill>
          <a:ln/>
        </p:spPr>
        <p:txBody>
          <a:bodyPr/>
          <a:lstStyle/>
          <a:p>
            <a:endParaRPr lang="en-IN"/>
          </a:p>
        </p:txBody>
      </p:sp>
      <p:pic>
        <p:nvPicPr>
          <p:cNvPr id="17" name="Image 2" descr="Zap icon"/>
          <p:cNvPicPr>
            <a:picLocks noChangeAspect="1"/>
          </p:cNvPicPr>
          <p:nvPr/>
        </p:nvPicPr>
        <p:blipFill>
          <a:blip r:embed="rId5"/>
          <a:stretch>
            <a:fillRect/>
          </a:stretch>
        </p:blipFill>
        <p:spPr>
          <a:xfrm>
            <a:off x="8461004" y="2116287"/>
            <a:ext cx="266273" cy="266273"/>
          </a:xfrm>
          <a:prstGeom prst="rect">
            <a:avLst/>
          </a:prstGeom>
        </p:spPr>
      </p:pic>
      <p:sp>
        <p:nvSpPr>
          <p:cNvPr id="18" name="Text 12"/>
          <p:cNvSpPr txBox="1"/>
          <p:nvPr/>
        </p:nvSpPr>
        <p:spPr>
          <a:xfrm>
            <a:off x="8969045" y="2011680"/>
            <a:ext cx="2509418" cy="475488"/>
          </a:xfrm>
          <a:prstGeom prst="rect">
            <a:avLst/>
          </a:prstGeom>
          <a:noFill/>
          <a:ln/>
        </p:spPr>
        <p:txBody>
          <a:bodyPr wrap="square" lIns="0" tIns="0" rIns="0" bIns="0" rtlCol="0" anchor="ctr"/>
          <a:lstStyle/>
          <a:p>
            <a:pPr marL="0" indent="0">
              <a:buNone/>
            </a:pPr>
            <a:r>
              <a:rPr lang="en-US" sz="1600" b="1" dirty="0">
                <a:solidFill>
                  <a:schemeClr val="tx1"/>
                </a:solidFill>
              </a:rPr>
              <a:t>Chaos</a:t>
            </a:r>
            <a:endParaRPr lang="en-US" sz="1600" dirty="0"/>
          </a:p>
        </p:txBody>
      </p:sp>
      <p:sp>
        <p:nvSpPr>
          <p:cNvPr id="19" name="Text 13"/>
          <p:cNvSpPr txBox="1"/>
          <p:nvPr/>
        </p:nvSpPr>
        <p:spPr>
          <a:xfrm>
            <a:off x="8356397" y="2651760"/>
            <a:ext cx="3058058" cy="1143000"/>
          </a:xfrm>
          <a:prstGeom prst="rect">
            <a:avLst/>
          </a:prstGeom>
          <a:noFill/>
          <a:ln/>
        </p:spPr>
        <p:txBody>
          <a:bodyPr wrap="square" lIns="0" tIns="0" rIns="0" bIns="0" rtlCol="0" anchor="t"/>
          <a:lstStyle/>
          <a:p>
            <a:pPr marL="0" indent="0">
              <a:buNone/>
            </a:pPr>
            <a:r>
              <a:rPr lang="en-US" sz="1350" dirty="0">
                <a:solidFill>
                  <a:schemeClr val="tx2"/>
                </a:solidFill>
              </a:rPr>
              <a:t>krkn through krknctl v0.14.2-beta: pod kills, network filters, node network chaos, CPU and memory hogs, service hijacking, HTTP load</a:t>
            </a:r>
            <a:endParaRPr lang="en-US" sz="1350" dirty="0"/>
          </a:p>
        </p:txBody>
      </p:sp>
      <p:sp>
        <p:nvSpPr>
          <p:cNvPr id="20" name="card"/>
          <p:cNvSpPr/>
          <p:nvPr/>
        </p:nvSpPr>
        <p:spPr>
          <a:xfrm>
            <a:off x="548640" y="4114800"/>
            <a:ext cx="3515258" cy="2103120"/>
          </a:xfrm>
          <a:prstGeom prst="roundRect">
            <a:avLst>
              <a:gd name="adj" fmla="val 2609"/>
            </a:avLst>
          </a:prstGeom>
          <a:solidFill>
            <a:schemeClr val="bg1"/>
          </a:solidFill>
          <a:ln w="9525">
            <a:solidFill>
              <a:schemeClr val="tx2">
                <a:alpha val="28000"/>
              </a:schemeClr>
            </a:solidFill>
            <a:prstDash val="solid"/>
          </a:ln>
        </p:spPr>
        <p:txBody>
          <a:bodyPr/>
          <a:lstStyle/>
          <a:p>
            <a:endParaRPr lang="en-IN"/>
          </a:p>
        </p:txBody>
      </p:sp>
      <p:sp>
        <p:nvSpPr>
          <p:cNvPr id="21" name="icon circle"/>
          <p:cNvSpPr/>
          <p:nvPr/>
        </p:nvSpPr>
        <p:spPr>
          <a:xfrm>
            <a:off x="777240" y="4343400"/>
            <a:ext cx="475488" cy="475488"/>
          </a:xfrm>
          <a:prstGeom prst="ellipse">
            <a:avLst/>
          </a:prstGeom>
          <a:solidFill>
            <a:schemeClr val="accent5"/>
          </a:solidFill>
          <a:ln/>
        </p:spPr>
        <p:txBody>
          <a:bodyPr/>
          <a:lstStyle/>
          <a:p>
            <a:endParaRPr lang="en-IN"/>
          </a:p>
        </p:txBody>
      </p:sp>
      <p:pic>
        <p:nvPicPr>
          <p:cNvPr id="22" name="Image 3" descr="Boxes icon"/>
          <p:cNvPicPr>
            <a:picLocks noChangeAspect="1"/>
          </p:cNvPicPr>
          <p:nvPr/>
        </p:nvPicPr>
        <p:blipFill>
          <a:blip r:embed="rId6"/>
          <a:stretch>
            <a:fillRect/>
          </a:stretch>
        </p:blipFill>
        <p:spPr>
          <a:xfrm>
            <a:off x="881847" y="4448007"/>
            <a:ext cx="266273" cy="266273"/>
          </a:xfrm>
          <a:prstGeom prst="rect">
            <a:avLst/>
          </a:prstGeom>
        </p:spPr>
      </p:pic>
      <p:sp>
        <p:nvSpPr>
          <p:cNvPr id="23" name="Text 16"/>
          <p:cNvSpPr txBox="1"/>
          <p:nvPr/>
        </p:nvSpPr>
        <p:spPr>
          <a:xfrm>
            <a:off x="1389888" y="4343400"/>
            <a:ext cx="2509418" cy="475488"/>
          </a:xfrm>
          <a:prstGeom prst="rect">
            <a:avLst/>
          </a:prstGeom>
          <a:noFill/>
          <a:ln/>
        </p:spPr>
        <p:txBody>
          <a:bodyPr wrap="square" lIns="0" tIns="0" rIns="0" bIns="0" rtlCol="0" anchor="ctr"/>
          <a:lstStyle/>
          <a:p>
            <a:pPr marL="0" indent="0">
              <a:buNone/>
            </a:pPr>
            <a:r>
              <a:rPr lang="en-US" sz="1600" b="1" dirty="0">
                <a:solidFill>
                  <a:schemeClr val="tx1"/>
                </a:solidFill>
              </a:rPr>
              <a:t>Infrastructure</a:t>
            </a:r>
            <a:endParaRPr lang="en-US" sz="1600" dirty="0"/>
          </a:p>
        </p:txBody>
      </p:sp>
      <p:sp>
        <p:nvSpPr>
          <p:cNvPr id="24" name="Text 17"/>
          <p:cNvSpPr txBox="1"/>
          <p:nvPr/>
        </p:nvSpPr>
        <p:spPr>
          <a:xfrm>
            <a:off x="777240" y="4983480"/>
            <a:ext cx="3058058" cy="1143000"/>
          </a:xfrm>
          <a:prstGeom prst="rect">
            <a:avLst/>
          </a:prstGeom>
          <a:noFill/>
          <a:ln/>
        </p:spPr>
        <p:txBody>
          <a:bodyPr wrap="square" lIns="0" tIns="0" rIns="0" bIns="0" rtlCol="0" anchor="t"/>
          <a:lstStyle/>
          <a:p>
            <a:pPr marL="0" indent="0">
              <a:buNone/>
            </a:pPr>
            <a:r>
              <a:rPr lang="en-US" sz="1350" dirty="0">
                <a:solidFill>
                  <a:schemeClr val="tx2"/>
                </a:solidFill>
              </a:rPr>
              <a:t>Docker · kind v0.33.0, 3 nodes · Kubernetes 1.37 · Helm 4.3 · kubectl. Tested on Arch Linux, Ryzen 7 6800H, 16 GB RAM</a:t>
            </a:r>
            <a:endParaRPr lang="en-US" sz="1350" dirty="0"/>
          </a:p>
        </p:txBody>
      </p:sp>
      <p:sp>
        <p:nvSpPr>
          <p:cNvPr id="25" name="card"/>
          <p:cNvSpPr/>
          <p:nvPr/>
        </p:nvSpPr>
        <p:spPr>
          <a:xfrm>
            <a:off x="4338218" y="4114800"/>
            <a:ext cx="3515258" cy="2103120"/>
          </a:xfrm>
          <a:prstGeom prst="roundRect">
            <a:avLst>
              <a:gd name="adj" fmla="val 2609"/>
            </a:avLst>
          </a:prstGeom>
          <a:solidFill>
            <a:schemeClr val="bg1"/>
          </a:solidFill>
          <a:ln w="9525">
            <a:solidFill>
              <a:schemeClr val="tx2">
                <a:alpha val="28000"/>
              </a:schemeClr>
            </a:solidFill>
            <a:prstDash val="solid"/>
          </a:ln>
        </p:spPr>
        <p:txBody>
          <a:bodyPr/>
          <a:lstStyle/>
          <a:p>
            <a:endParaRPr lang="en-IN"/>
          </a:p>
        </p:txBody>
      </p:sp>
      <p:sp>
        <p:nvSpPr>
          <p:cNvPr id="26" name="icon circle"/>
          <p:cNvSpPr/>
          <p:nvPr/>
        </p:nvSpPr>
        <p:spPr>
          <a:xfrm>
            <a:off x="4566818" y="4343400"/>
            <a:ext cx="475488" cy="475488"/>
          </a:xfrm>
          <a:prstGeom prst="ellipse">
            <a:avLst/>
          </a:prstGeom>
          <a:solidFill>
            <a:schemeClr val="accent3"/>
          </a:solidFill>
          <a:ln/>
        </p:spPr>
        <p:txBody>
          <a:bodyPr/>
          <a:lstStyle/>
          <a:p>
            <a:endParaRPr lang="en-IN"/>
          </a:p>
        </p:txBody>
      </p:sp>
      <p:pic>
        <p:nvPicPr>
          <p:cNvPr id="27" name="Image 4" descr="Activity icon"/>
          <p:cNvPicPr>
            <a:picLocks noChangeAspect="1"/>
          </p:cNvPicPr>
          <p:nvPr/>
        </p:nvPicPr>
        <p:blipFill>
          <a:blip r:embed="rId7"/>
          <a:stretch>
            <a:fillRect/>
          </a:stretch>
        </p:blipFill>
        <p:spPr>
          <a:xfrm>
            <a:off x="4671426" y="4448007"/>
            <a:ext cx="266273" cy="266273"/>
          </a:xfrm>
          <a:prstGeom prst="rect">
            <a:avLst/>
          </a:prstGeom>
        </p:spPr>
      </p:pic>
      <p:sp>
        <p:nvSpPr>
          <p:cNvPr id="28" name="Text 20"/>
          <p:cNvSpPr txBox="1"/>
          <p:nvPr/>
        </p:nvSpPr>
        <p:spPr>
          <a:xfrm>
            <a:off x="5179466" y="4343400"/>
            <a:ext cx="2509418" cy="475488"/>
          </a:xfrm>
          <a:prstGeom prst="rect">
            <a:avLst/>
          </a:prstGeom>
          <a:noFill/>
          <a:ln/>
        </p:spPr>
        <p:txBody>
          <a:bodyPr wrap="square" lIns="0" tIns="0" rIns="0" bIns="0" rtlCol="0" anchor="ctr"/>
          <a:lstStyle/>
          <a:p>
            <a:pPr marL="0" indent="0">
              <a:buNone/>
            </a:pPr>
            <a:r>
              <a:rPr lang="en-US" sz="1600" b="1" dirty="0">
                <a:solidFill>
                  <a:schemeClr val="tx1"/>
                </a:solidFill>
              </a:rPr>
              <a:t>Observability</a:t>
            </a:r>
            <a:endParaRPr lang="en-US" sz="1600" dirty="0"/>
          </a:p>
        </p:txBody>
      </p:sp>
      <p:sp>
        <p:nvSpPr>
          <p:cNvPr id="29" name="Text 21"/>
          <p:cNvSpPr txBox="1"/>
          <p:nvPr/>
        </p:nvSpPr>
        <p:spPr>
          <a:xfrm>
            <a:off x="4566818" y="4983480"/>
            <a:ext cx="3058058" cy="1143000"/>
          </a:xfrm>
          <a:prstGeom prst="rect">
            <a:avLst/>
          </a:prstGeom>
          <a:noFill/>
          <a:ln/>
        </p:spPr>
        <p:txBody>
          <a:bodyPr wrap="square" lIns="0" tIns="0" rIns="0" bIns="0" rtlCol="0" anchor="t"/>
          <a:lstStyle/>
          <a:p>
            <a:pPr marL="0" indent="0">
              <a:buNone/>
            </a:pPr>
            <a:r>
              <a:rPr lang="en-US" sz="1350" dirty="0">
                <a:solidFill>
                  <a:schemeClr val="tx2"/>
                </a:solidFill>
              </a:rPr>
              <a:t>Prometheus: per-service span metrics, CPU and memory · Jaeger traces, which build the dependency map · Grafana</a:t>
            </a:r>
            <a:endParaRPr lang="en-US" sz="1350" dirty="0"/>
          </a:p>
        </p:txBody>
      </p:sp>
      <p:sp>
        <p:nvSpPr>
          <p:cNvPr id="30" name="card"/>
          <p:cNvSpPr/>
          <p:nvPr/>
        </p:nvSpPr>
        <p:spPr>
          <a:xfrm>
            <a:off x="8127797" y="4114800"/>
            <a:ext cx="3515258" cy="2103120"/>
          </a:xfrm>
          <a:prstGeom prst="roundRect">
            <a:avLst>
              <a:gd name="adj" fmla="val 2609"/>
            </a:avLst>
          </a:prstGeom>
          <a:solidFill>
            <a:schemeClr val="bg1"/>
          </a:solidFill>
          <a:ln w="9525">
            <a:solidFill>
              <a:schemeClr val="tx2">
                <a:alpha val="28000"/>
              </a:schemeClr>
            </a:solidFill>
            <a:prstDash val="solid"/>
          </a:ln>
        </p:spPr>
        <p:txBody>
          <a:bodyPr/>
          <a:lstStyle/>
          <a:p>
            <a:endParaRPr lang="en-IN"/>
          </a:p>
        </p:txBody>
      </p:sp>
      <p:sp>
        <p:nvSpPr>
          <p:cNvPr id="31" name="icon circle"/>
          <p:cNvSpPr/>
          <p:nvPr/>
        </p:nvSpPr>
        <p:spPr>
          <a:xfrm>
            <a:off x="8356397" y="4343400"/>
            <a:ext cx="475488" cy="475488"/>
          </a:xfrm>
          <a:prstGeom prst="ellipse">
            <a:avLst/>
          </a:prstGeom>
          <a:solidFill>
            <a:schemeClr val="accent2"/>
          </a:solidFill>
          <a:ln/>
        </p:spPr>
        <p:txBody>
          <a:bodyPr/>
          <a:lstStyle/>
          <a:p>
            <a:endParaRPr lang="en-IN"/>
          </a:p>
        </p:txBody>
      </p:sp>
      <p:pic>
        <p:nvPicPr>
          <p:cNvPr id="32" name="Image 5" descr="Github icon"/>
          <p:cNvPicPr>
            <a:picLocks noChangeAspect="1"/>
          </p:cNvPicPr>
          <p:nvPr/>
        </p:nvPicPr>
        <p:blipFill>
          <a:blip r:embed="rId8"/>
          <a:stretch>
            <a:fillRect/>
          </a:stretch>
        </p:blipFill>
        <p:spPr>
          <a:xfrm>
            <a:off x="8461004" y="4448007"/>
            <a:ext cx="266273" cy="266273"/>
          </a:xfrm>
          <a:prstGeom prst="rect">
            <a:avLst/>
          </a:prstGeom>
        </p:spPr>
      </p:pic>
      <p:sp>
        <p:nvSpPr>
          <p:cNvPr id="33" name="Text 24"/>
          <p:cNvSpPr txBox="1"/>
          <p:nvPr/>
        </p:nvSpPr>
        <p:spPr>
          <a:xfrm>
            <a:off x="8969045" y="4343400"/>
            <a:ext cx="2509418" cy="475488"/>
          </a:xfrm>
          <a:prstGeom prst="rect">
            <a:avLst/>
          </a:prstGeom>
          <a:noFill/>
          <a:ln/>
        </p:spPr>
        <p:txBody>
          <a:bodyPr wrap="square" lIns="0" tIns="0" rIns="0" bIns="0" rtlCol="0" anchor="ctr"/>
          <a:lstStyle/>
          <a:p>
            <a:pPr marL="0" indent="0">
              <a:buNone/>
            </a:pPr>
            <a:r>
              <a:rPr lang="en-US" sz="1600" b="1" dirty="0">
                <a:solidFill>
                  <a:schemeClr val="tx1"/>
                </a:solidFill>
              </a:rPr>
              <a:t>App and repository</a:t>
            </a:r>
            <a:endParaRPr lang="en-US" sz="1600" dirty="0"/>
          </a:p>
        </p:txBody>
      </p:sp>
      <p:sp>
        <p:nvSpPr>
          <p:cNvPr id="34" name="Text 25"/>
          <p:cNvSpPr txBox="1"/>
          <p:nvPr/>
        </p:nvSpPr>
        <p:spPr>
          <a:xfrm>
            <a:off x="8356397" y="4983480"/>
            <a:ext cx="3058058" cy="1143000"/>
          </a:xfrm>
          <a:prstGeom prst="rect">
            <a:avLst/>
          </a:prstGeom>
          <a:noFill/>
          <a:ln/>
        </p:spPr>
        <p:txBody>
          <a:bodyPr wrap="square" lIns="0" tIns="0" rIns="0" bIns="0" rtlCol="0" anchor="t"/>
          <a:lstStyle/>
          <a:p>
            <a:pPr marL="0" indent="0">
              <a:buNone/>
            </a:pPr>
            <a:r>
              <a:rPr lang="en-US" sz="1350" dirty="0">
                <a:solidFill>
                  <a:schemeClr val="tx2"/>
                </a:solidFill>
              </a:rPr>
              <a:t>OpenTelemetry Astronomy Shop 3.1.0, Apache-2.0 · Helm chart 0.42.3. Our code on GitHub:</a:t>
            </a:r>
            <a:endParaRPr lang="en-US" sz="1350" dirty="0"/>
          </a:p>
          <a:p>
            <a:pPr marL="0" indent="0">
              <a:buNone/>
            </a:pPr>
            <a:r>
              <a:rPr lang="en-US" sz="1350" dirty="0">
                <a:solidFill>
                  <a:schemeClr val="tx2"/>
                </a:solidFill>
              </a:rPr>
              <a:t>StrikerEureka34/Back-propagandist</a:t>
            </a:r>
            <a:endParaRPr lang="en-US" sz="135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Failure scenarios we chose, and why</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13 faults, 3 pairs and 2 known-answer controls, each one run on the cluster and rated by measured damage.</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989320" cy="4078224"/>
        </p:xfrm>
        <a:graphic>
          <a:graphicData uri="http://schemas.openxmlformats.org/drawingml/2006/table">
            <a:tbl>
              <a:tblPr/>
              <a:tblGrid>
                <a:gridCol w="16916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29184">
                <a:tc>
                  <a:txBody>
                    <a:bodyPr/>
                    <a:lstStyle/>
                    <a:p>
                      <a:pPr marL="0" indent="0">
                        <a:buNone/>
                      </a:pPr>
                      <a:r>
                        <a:rPr lang="en-US" sz="1200" b="1" dirty="0">
                          <a:solidFill>
                            <a:schemeClr val="tx2"/>
                          </a:solidFill>
                        </a:rPr>
                        <a:t>Failure type</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Our faults</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chemeClr val="tx1"/>
                          </a:solidFill>
                        </a:rPr>
                        <a:t>Service crash</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catalog-kill · payment-kill · kafka-outage · cart-wipe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chemeClr val="tx1"/>
                          </a:solidFill>
                        </a:rPr>
                        <a:t>Slow or lossy network</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blast-latency (+200 ms) · blast-loss (10 % loss), on the backend node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chemeClr val="tx1"/>
                          </a:solidFill>
                        </a:rPr>
                        <a:t>Failed dependency</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catalog-db-cutoff (Postgres cut off) · recommendation-cutoff · currency-down</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chemeClr val="tx1"/>
                          </a:solidFill>
                        </a:rPr>
                        <a:t>Wrong answers</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quote-garbage (200 OK, wrong body) · shipping-ship-errors (500 after the charge)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chemeClr val="tx1"/>
                          </a:solidFill>
                        </a:rPr>
                        <a:t>Resource pressure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cpu-starve (100 % CPU) · blast-memory (1 GiB)</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48640">
                <a:tc>
                  <a:txBody>
                    <a:bodyPr/>
                    <a:lstStyle/>
                    <a:p>
                      <a:pPr marL="0" indent="0">
                        <a:buNone/>
                      </a:pPr>
                      <a:r>
                        <a:rPr lang="en-US" sz="1300" b="1" dirty="0">
                          <a:solidFill>
                            <a:schemeClr val="tx1"/>
                          </a:solidFill>
                        </a:rPr>
                        <a:t>Traffic spike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traffic-spike (1,000 requests a second), run paired with cart-wipe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48640">
                <a:tc>
                  <a:txBody>
                    <a:bodyPr/>
                    <a:lstStyle/>
                    <a:p>
                      <a:pPr marL="0" indent="0">
                        <a:buNone/>
                      </a:pPr>
                      <a:r>
                        <a:rPr lang="en-US" sz="1300" b="1" dirty="0">
                          <a:solidFill>
                            <a:schemeClr val="tx1"/>
                          </a:solidFill>
                        </a:rPr>
                        <a:t>Combined</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blast-latency + catalog-kill · blast-latency + catalog-db-cutoff · cart-wipe + traffic-spike</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pic>
        <p:nvPicPr>
          <p:cNvPr id="6" name="Image 0" descr="Fault bank heatmap from the console: which services each fault hurt"/>
          <p:cNvPicPr>
            <a:picLocks noChangeAspect="1"/>
          </p:cNvPicPr>
          <p:nvPr/>
        </p:nvPicPr>
        <p:blipFill>
          <a:blip r:embed="rId3"/>
          <a:stretch>
            <a:fillRect/>
          </a:stretch>
        </p:blipFill>
        <p:spPr>
          <a:xfrm>
            <a:off x="6812280" y="1737360"/>
            <a:ext cx="4830775" cy="2106749"/>
          </a:xfrm>
          <a:prstGeom prst="rect">
            <a:avLst/>
          </a:prstGeom>
        </p:spPr>
      </p:pic>
      <p:sp>
        <p:nvSpPr>
          <p:cNvPr id="7" name="image frame"/>
          <p:cNvSpPr/>
          <p:nvPr/>
        </p:nvSpPr>
        <p:spPr>
          <a:xfrm>
            <a:off x="6812280" y="1737360"/>
            <a:ext cx="4830775" cy="2106749"/>
          </a:xfrm>
          <a:prstGeom prst="rect">
            <a:avLst/>
          </a:prstGeom>
          <a:ln w="9525">
            <a:solidFill>
              <a:schemeClr val="tx2">
                <a:alpha val="30000"/>
              </a:schemeClr>
            </a:solidFill>
            <a:prstDash val="solid"/>
          </a:ln>
        </p:spPr>
        <p:txBody>
          <a:bodyPr/>
          <a:lstStyle/>
          <a:p>
            <a:endParaRPr lang="en-IN"/>
          </a:p>
        </p:txBody>
      </p:sp>
      <p:sp>
        <p:nvSpPr>
          <p:cNvPr id="8" name="Text 3"/>
          <p:cNvSpPr txBox="1"/>
          <p:nvPr/>
        </p:nvSpPr>
        <p:spPr>
          <a:xfrm>
            <a:off x="6812280" y="3889829"/>
            <a:ext cx="4830775" cy="274320"/>
          </a:xfrm>
          <a:prstGeom prst="rect">
            <a:avLst/>
          </a:prstGeom>
          <a:noFill/>
          <a:ln/>
        </p:spPr>
        <p:txBody>
          <a:bodyPr wrap="square" lIns="0" tIns="0" rIns="0" bIns="0" rtlCol="0" anchor="t"/>
          <a:lstStyle/>
          <a:p>
            <a:pPr marL="0" indent="0">
              <a:buNone/>
            </a:pPr>
            <a:r>
              <a:rPr lang="en-US" sz="1100" dirty="0">
                <a:solidFill>
                  <a:schemeClr val="tx2"/>
                </a:solidFill>
              </a:rPr>
              <a:t>The fault bank in the console: which services each fault hurt. Redder is worse.</a:t>
            </a:r>
            <a:endParaRPr lang="en-US" sz="1100" dirty="0"/>
          </a:p>
        </p:txBody>
      </p:sp>
      <p:sp>
        <p:nvSpPr>
          <p:cNvPr id="9" name="Text 4"/>
          <p:cNvSpPr txBox="1"/>
          <p:nvPr/>
        </p:nvSpPr>
        <p:spPr>
          <a:xfrm>
            <a:off x="6812280" y="4251960"/>
            <a:ext cx="4830775"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From outside the app, like real trouble: a pod dies, the network slows, a dependency answers nonsense.</a:t>
            </a:r>
            <a:endParaRPr lang="en-US" sz="1300" dirty="0"/>
          </a:p>
          <a:p>
            <a:pPr marL="177800" indent="-177800">
              <a:spcAft>
                <a:spcPts val="600"/>
              </a:spcAft>
              <a:buSzPct val="100000"/>
              <a:buChar char="•"/>
            </a:pPr>
            <a:r>
              <a:rPr lang="en-US" sz="1300" dirty="0">
                <a:solidFill>
                  <a:schemeClr val="tx1"/>
                </a:solidFill>
              </a:rPr>
              <a:t>The demo's built-in failure flags were dropped as findings: their outcome is written into the demo. Two stay as controls: paymentFailure must rate high, adHighCpu low.</a:t>
            </a:r>
            <a:endParaRPr lang="en-US" sz="1300" dirty="0"/>
          </a:p>
          <a:p>
            <a:pPr marL="177800" indent="-177800">
              <a:spcAft>
                <a:spcPts val="600"/>
              </a:spcAft>
              <a:buSzPct val="100000"/>
              <a:buChar char="•"/>
            </a:pPr>
            <a:r>
              <a:rPr lang="en-US" sz="1300" dirty="0">
                <a:solidFill>
                  <a:schemeClr val="tx1"/>
                </a:solidFill>
              </a:rPr>
              <a:t>The planner orders faults by expected leverage, from the map. Code pairs two faults only when they can interact.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Measured against a clean baseline</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A dirty “before” once rated shipping-ship-errors low. Now every fault is compared with a quiet window, service by service.</a:t>
            </a:r>
            <a:endParaRPr lang="en-US" sz="1600" dirty="0"/>
          </a:p>
        </p:txBody>
      </p:sp>
      <p:sp>
        <p:nvSpPr>
          <p:cNvPr id="5" name="icon circle"/>
          <p:cNvSpPr/>
          <p:nvPr/>
        </p:nvSpPr>
        <p:spPr>
          <a:xfrm>
            <a:off x="548640" y="1783080"/>
            <a:ext cx="502920" cy="502920"/>
          </a:xfrm>
          <a:prstGeom prst="ellipse">
            <a:avLst/>
          </a:prstGeom>
          <a:solidFill>
            <a:schemeClr val="accent3"/>
          </a:solidFill>
          <a:ln/>
        </p:spPr>
        <p:txBody>
          <a:bodyPr/>
          <a:lstStyle/>
          <a:p>
            <a:endParaRPr lang="en-IN"/>
          </a:p>
        </p:txBody>
      </p:sp>
      <p:pic>
        <p:nvPicPr>
          <p:cNvPr id="6" name="Image 0" descr="Timer icon"/>
          <p:cNvPicPr>
            <a:picLocks noChangeAspect="1"/>
          </p:cNvPicPr>
          <p:nvPr/>
        </p:nvPicPr>
        <p:blipFill>
          <a:blip r:embed="rId3"/>
          <a:stretch>
            <a:fillRect/>
          </a:stretch>
        </p:blipFill>
        <p:spPr>
          <a:xfrm>
            <a:off x="659282" y="1893722"/>
            <a:ext cx="281635" cy="281635"/>
          </a:xfrm>
          <a:prstGeom prst="rect">
            <a:avLst/>
          </a:prstGeom>
        </p:spPr>
      </p:pic>
      <p:sp>
        <p:nvSpPr>
          <p:cNvPr id="7" name="Text 3"/>
          <p:cNvSpPr txBox="1"/>
          <p:nvPr/>
        </p:nvSpPr>
        <p:spPr>
          <a:xfrm>
            <a:off x="1234440" y="1746504"/>
            <a:ext cx="4526280" cy="914400"/>
          </a:xfrm>
          <a:prstGeom prst="rect">
            <a:avLst/>
          </a:prstGeom>
          <a:noFill/>
          <a:ln/>
        </p:spPr>
        <p:txBody>
          <a:bodyPr wrap="square" lIns="0" tIns="0" rIns="0" bIns="0" rtlCol="0" anchor="t"/>
          <a:lstStyle/>
          <a:p>
            <a:pPr marL="0" indent="0">
              <a:buNone/>
            </a:pPr>
            <a:r>
              <a:rPr lang="en-US" sz="1500" b="1" dirty="0">
                <a:solidFill>
                  <a:schemeClr val="tx1"/>
                </a:solidFill>
              </a:rPr>
              <a:t>Before</a:t>
            </a:r>
            <a:endParaRPr lang="en-US" sz="1400" dirty="0"/>
          </a:p>
          <a:p>
            <a:pPr marL="0" indent="0">
              <a:buNone/>
            </a:pPr>
            <a:r>
              <a:rPr lang="en-US" sz="1350" dirty="0">
                <a:solidFill>
                  <a:schemeClr val="tx2"/>
                </a:solidFill>
              </a:rPr>
              <a:t>Wait until the last fault is 5 min in the past, then take the baseline. 5 healthy shop checks in a row before any fault.</a:t>
            </a:r>
            <a:endParaRPr lang="en-US" sz="1400" dirty="0"/>
          </a:p>
        </p:txBody>
      </p:sp>
      <p:sp>
        <p:nvSpPr>
          <p:cNvPr id="8" name="icon circle"/>
          <p:cNvSpPr/>
          <p:nvPr/>
        </p:nvSpPr>
        <p:spPr>
          <a:xfrm>
            <a:off x="548640" y="2743200"/>
            <a:ext cx="502920" cy="502920"/>
          </a:xfrm>
          <a:prstGeom prst="ellipse">
            <a:avLst/>
          </a:prstGeom>
          <a:solidFill>
            <a:schemeClr val="accent3"/>
          </a:solidFill>
          <a:ln/>
        </p:spPr>
        <p:txBody>
          <a:bodyPr/>
          <a:lstStyle/>
          <a:p>
            <a:endParaRPr lang="en-IN"/>
          </a:p>
        </p:txBody>
      </p:sp>
      <p:pic>
        <p:nvPicPr>
          <p:cNvPr id="9" name="Image 1" descr="Activity icon"/>
          <p:cNvPicPr>
            <a:picLocks noChangeAspect="1"/>
          </p:cNvPicPr>
          <p:nvPr/>
        </p:nvPicPr>
        <p:blipFill>
          <a:blip r:embed="rId4"/>
          <a:stretch>
            <a:fillRect/>
          </a:stretch>
        </p:blipFill>
        <p:spPr>
          <a:xfrm>
            <a:off x="659282" y="2853842"/>
            <a:ext cx="281635" cy="281635"/>
          </a:xfrm>
          <a:prstGeom prst="rect">
            <a:avLst/>
          </a:prstGeom>
        </p:spPr>
      </p:pic>
      <p:sp>
        <p:nvSpPr>
          <p:cNvPr id="10" name="Text 5"/>
          <p:cNvSpPr txBox="1"/>
          <p:nvPr/>
        </p:nvSpPr>
        <p:spPr>
          <a:xfrm>
            <a:off x="1234440" y="2706624"/>
            <a:ext cx="4526280" cy="914400"/>
          </a:xfrm>
          <a:prstGeom prst="rect">
            <a:avLst/>
          </a:prstGeom>
          <a:noFill/>
          <a:ln/>
        </p:spPr>
        <p:txBody>
          <a:bodyPr wrap="square" lIns="0" tIns="0" rIns="0" bIns="0" rtlCol="0" anchor="t"/>
          <a:lstStyle/>
          <a:p>
            <a:pPr marL="0" indent="0">
              <a:buNone/>
            </a:pPr>
            <a:r>
              <a:rPr lang="en-US" sz="1500" b="1" dirty="0">
                <a:solidFill>
                  <a:schemeClr val="tx1"/>
                </a:solidFill>
              </a:rPr>
              <a:t>During</a:t>
            </a:r>
            <a:endParaRPr lang="en-US" sz="1400" dirty="0"/>
          </a:p>
          <a:p>
            <a:pPr marL="0" indent="0">
              <a:buNone/>
            </a:pPr>
            <a:r>
              <a:rPr lang="en-US" sz="1350" dirty="0">
                <a:solidFill>
                  <a:schemeClr val="tx2"/>
                </a:solidFill>
              </a:rPr>
              <a:t>The shop is probed every second. Per service, from Prometheus: errors, p95, throughput, plus CPU, memory, restarts and cart contents.</a:t>
            </a:r>
            <a:endParaRPr lang="en-US" sz="1400" dirty="0"/>
          </a:p>
        </p:txBody>
      </p:sp>
      <p:sp>
        <p:nvSpPr>
          <p:cNvPr id="11" name="icon circle"/>
          <p:cNvSpPr/>
          <p:nvPr/>
        </p:nvSpPr>
        <p:spPr>
          <a:xfrm>
            <a:off x="548640" y="3703320"/>
            <a:ext cx="502920" cy="502920"/>
          </a:xfrm>
          <a:prstGeom prst="ellipse">
            <a:avLst/>
          </a:prstGeom>
          <a:solidFill>
            <a:schemeClr val="accent3"/>
          </a:solidFill>
          <a:ln/>
        </p:spPr>
        <p:txBody>
          <a:bodyPr/>
          <a:lstStyle/>
          <a:p>
            <a:endParaRPr lang="en-IN"/>
          </a:p>
        </p:txBody>
      </p:sp>
      <p:pic>
        <p:nvPicPr>
          <p:cNvPr id="12" name="Image 2" descr="RefreshCw icon"/>
          <p:cNvPicPr>
            <a:picLocks noChangeAspect="1"/>
          </p:cNvPicPr>
          <p:nvPr/>
        </p:nvPicPr>
        <p:blipFill>
          <a:blip r:embed="rId5"/>
          <a:stretch>
            <a:fillRect/>
          </a:stretch>
        </p:blipFill>
        <p:spPr>
          <a:xfrm>
            <a:off x="659282" y="3813962"/>
            <a:ext cx="281635" cy="281635"/>
          </a:xfrm>
          <a:prstGeom prst="rect">
            <a:avLst/>
          </a:prstGeom>
        </p:spPr>
      </p:pic>
      <p:sp>
        <p:nvSpPr>
          <p:cNvPr id="13" name="Text 7"/>
          <p:cNvSpPr txBox="1"/>
          <p:nvPr/>
        </p:nvSpPr>
        <p:spPr>
          <a:xfrm>
            <a:off x="1234440" y="3666744"/>
            <a:ext cx="4526280" cy="914400"/>
          </a:xfrm>
          <a:prstGeom prst="rect">
            <a:avLst/>
          </a:prstGeom>
          <a:noFill/>
          <a:ln/>
        </p:spPr>
        <p:txBody>
          <a:bodyPr wrap="square" lIns="0" tIns="0" rIns="0" bIns="0" rtlCol="0" anchor="t"/>
          <a:lstStyle/>
          <a:p>
            <a:pPr marL="0" indent="0">
              <a:buNone/>
            </a:pPr>
            <a:r>
              <a:rPr lang="en-US" sz="1500" b="1" dirty="0">
                <a:solidFill>
                  <a:schemeClr val="tx1"/>
                </a:solidFill>
              </a:rPr>
              <a:t>After</a:t>
            </a:r>
            <a:endParaRPr lang="en-US" sz="1400" dirty="0"/>
          </a:p>
          <a:p>
            <a:pPr marL="0" indent="0">
              <a:buNone/>
            </a:pPr>
            <a:r>
              <a:rPr lang="en-US" sz="1350" dirty="0">
                <a:solidFill>
                  <a:schemeClr val="tx2"/>
                </a:solidFill>
              </a:rPr>
              <a:t>Checks until 5 in a row are normal, then damage is tracked minute by minute: it often outlasts the fault.</a:t>
            </a:r>
            <a:endParaRPr lang="en-US" sz="1400" dirty="0"/>
          </a:p>
        </p:txBody>
      </p:sp>
      <p:sp>
        <p:nvSpPr>
          <p:cNvPr id="14" name="card"/>
          <p:cNvSpPr/>
          <p:nvPr/>
        </p:nvSpPr>
        <p:spPr>
          <a:xfrm>
            <a:off x="548640" y="4709160"/>
            <a:ext cx="5212080" cy="1463040"/>
          </a:xfrm>
          <a:prstGeom prst="roundRect">
            <a:avLst>
              <a:gd name="adj" fmla="val 3750"/>
            </a:avLst>
          </a:prstGeom>
          <a:solidFill>
            <a:schemeClr val="bg1"/>
          </a:solidFill>
          <a:ln w="9525">
            <a:solidFill>
              <a:schemeClr val="tx2">
                <a:alpha val="28000"/>
              </a:schemeClr>
            </a:solidFill>
            <a:prstDash val="solid"/>
          </a:ln>
        </p:spPr>
        <p:txBody>
          <a:bodyPr/>
          <a:lstStyle/>
          <a:p>
            <a:endParaRPr lang="en-IN"/>
          </a:p>
        </p:txBody>
      </p:sp>
      <p:sp>
        <p:nvSpPr>
          <p:cNvPr id="15" name="Text 9"/>
          <p:cNvSpPr txBox="1"/>
          <p:nvPr/>
        </p:nvSpPr>
        <p:spPr>
          <a:xfrm>
            <a:off x="777240" y="4828032"/>
            <a:ext cx="4754880" cy="292608"/>
          </a:xfrm>
          <a:prstGeom prst="rect">
            <a:avLst/>
          </a:prstGeom>
          <a:noFill/>
          <a:ln/>
        </p:spPr>
        <p:txBody>
          <a:bodyPr wrap="square" lIns="0" tIns="0" rIns="0" bIns="0" rtlCol="0" anchor="t"/>
          <a:lstStyle/>
          <a:p>
            <a:pPr marL="0" indent="0">
              <a:buNone/>
            </a:pPr>
            <a:r>
              <a:rPr lang="en-US" sz="1400" b="1" dirty="0">
                <a:solidFill>
                  <a:schemeClr val="tx1"/>
                </a:solidFill>
              </a:rPr>
              <a:t>How a fault is rated</a:t>
            </a:r>
            <a:endParaRPr lang="en-US" sz="1400" dirty="0"/>
          </a:p>
        </p:txBody>
      </p:sp>
      <p:sp>
        <p:nvSpPr>
          <p:cNvPr id="16" name="pill"/>
          <p:cNvSpPr/>
          <p:nvPr/>
        </p:nvSpPr>
        <p:spPr>
          <a:xfrm>
            <a:off x="777240" y="5193792"/>
            <a:ext cx="777240" cy="237744"/>
          </a:xfrm>
          <a:prstGeom prst="roundRect">
            <a:avLst>
              <a:gd name="adj" fmla="val 50000"/>
            </a:avLst>
          </a:prstGeom>
          <a:solidFill>
            <a:schemeClr val="accent6">
              <a:alpha val="18000"/>
            </a:schemeClr>
          </a:solidFill>
          <a:ln/>
        </p:spPr>
        <p:txBody>
          <a:bodyPr/>
          <a:lstStyle/>
          <a:p>
            <a:endParaRPr lang="en-IN"/>
          </a:p>
        </p:txBody>
      </p:sp>
      <p:sp>
        <p:nvSpPr>
          <p:cNvPr id="17" name="Text 11"/>
          <p:cNvSpPr txBox="1"/>
          <p:nvPr/>
        </p:nvSpPr>
        <p:spPr>
          <a:xfrm>
            <a:off x="777240" y="5193792"/>
            <a:ext cx="777240" cy="237744"/>
          </a:xfrm>
          <a:prstGeom prst="rect">
            <a:avLst/>
          </a:prstGeom>
          <a:noFill/>
          <a:ln/>
        </p:spPr>
        <p:txBody>
          <a:bodyPr wrap="square" lIns="0" tIns="0" rIns="0" bIns="0" rtlCol="0" anchor="ctr"/>
          <a:lstStyle/>
          <a:p>
            <a:pPr marL="0" indent="0" algn="ctr">
              <a:buNone/>
            </a:pPr>
            <a:r>
              <a:rPr lang="en-US" sz="1100" b="1" dirty="0">
                <a:solidFill>
                  <a:schemeClr val="tx1"/>
                </a:solidFill>
              </a:rPr>
              <a:t>high</a:t>
            </a:r>
            <a:endParaRPr lang="en-US" sz="1100" dirty="0"/>
          </a:p>
        </p:txBody>
      </p:sp>
      <p:sp>
        <p:nvSpPr>
          <p:cNvPr id="18" name="Text 12"/>
          <p:cNvSpPr txBox="1"/>
          <p:nvPr/>
        </p:nvSpPr>
        <p:spPr>
          <a:xfrm>
            <a:off x="1664208" y="5166360"/>
            <a:ext cx="3886200" cy="292608"/>
          </a:xfrm>
          <a:prstGeom prst="rect">
            <a:avLst/>
          </a:prstGeom>
          <a:noFill/>
          <a:ln/>
        </p:spPr>
        <p:txBody>
          <a:bodyPr wrap="square" lIns="0" tIns="0" rIns="0" bIns="0" rtlCol="0" anchor="ctr"/>
          <a:lstStyle/>
          <a:p>
            <a:pPr marL="0" indent="0">
              <a:buNone/>
            </a:pPr>
            <a:r>
              <a:rPr lang="en-US" sz="1300" dirty="0">
                <a:solidFill>
                  <a:schemeClr val="tx1"/>
                </a:solidFill>
              </a:rPr>
              <a:t>customers hit errors or lose data, or the shop doesn't recover</a:t>
            </a:r>
            <a:endParaRPr lang="en-US" sz="1300" dirty="0"/>
          </a:p>
        </p:txBody>
      </p:sp>
      <p:sp>
        <p:nvSpPr>
          <p:cNvPr id="19" name="pill"/>
          <p:cNvSpPr/>
          <p:nvPr/>
        </p:nvSpPr>
        <p:spPr>
          <a:xfrm>
            <a:off x="777240" y="5504688"/>
            <a:ext cx="777240" cy="237744"/>
          </a:xfrm>
          <a:prstGeom prst="roundRect">
            <a:avLst>
              <a:gd name="adj" fmla="val 50000"/>
            </a:avLst>
          </a:prstGeom>
          <a:solidFill>
            <a:schemeClr val="accent5">
              <a:alpha val="18000"/>
            </a:schemeClr>
          </a:solidFill>
          <a:ln/>
        </p:spPr>
        <p:txBody>
          <a:bodyPr/>
          <a:lstStyle/>
          <a:p>
            <a:endParaRPr lang="en-IN"/>
          </a:p>
        </p:txBody>
      </p:sp>
      <p:sp>
        <p:nvSpPr>
          <p:cNvPr id="20" name="Text 14"/>
          <p:cNvSpPr txBox="1"/>
          <p:nvPr/>
        </p:nvSpPr>
        <p:spPr>
          <a:xfrm>
            <a:off x="777240" y="5504688"/>
            <a:ext cx="777240" cy="237744"/>
          </a:xfrm>
          <a:prstGeom prst="rect">
            <a:avLst/>
          </a:prstGeom>
          <a:noFill/>
          <a:ln/>
        </p:spPr>
        <p:txBody>
          <a:bodyPr wrap="square" lIns="0" tIns="0" rIns="0" bIns="0" rtlCol="0" anchor="ctr"/>
          <a:lstStyle/>
          <a:p>
            <a:pPr marL="0" indent="0" algn="ctr">
              <a:buNone/>
            </a:pPr>
            <a:r>
              <a:rPr lang="en-US" sz="1100" b="1" dirty="0">
                <a:solidFill>
                  <a:schemeClr val="tx1"/>
                </a:solidFill>
              </a:rPr>
              <a:t>medium</a:t>
            </a:r>
            <a:endParaRPr lang="en-US" sz="1100" dirty="0"/>
          </a:p>
        </p:txBody>
      </p:sp>
      <p:sp>
        <p:nvSpPr>
          <p:cNvPr id="21" name="Text 15"/>
          <p:cNvSpPr txBox="1"/>
          <p:nvPr/>
        </p:nvSpPr>
        <p:spPr>
          <a:xfrm>
            <a:off x="1664208" y="5477256"/>
            <a:ext cx="3886200" cy="292608"/>
          </a:xfrm>
          <a:prstGeom prst="rect">
            <a:avLst/>
          </a:prstGeom>
          <a:noFill/>
          <a:ln/>
        </p:spPr>
        <p:txBody>
          <a:bodyPr wrap="square" lIns="0" tIns="0" rIns="0" bIns="0" rtlCol="0" anchor="ctr"/>
          <a:lstStyle/>
          <a:p>
            <a:pPr marL="0" indent="0">
              <a:buNone/>
            </a:pPr>
            <a:r>
              <a:rPr lang="en-US" sz="1300" dirty="0">
                <a:solidFill>
                  <a:schemeClr val="tx1"/>
                </a:solidFill>
              </a:rPr>
              <a:t>another service errors, or customers are 2x slower</a:t>
            </a:r>
            <a:endParaRPr lang="en-US" sz="1300" dirty="0"/>
          </a:p>
        </p:txBody>
      </p:sp>
      <p:sp>
        <p:nvSpPr>
          <p:cNvPr id="22" name="pill"/>
          <p:cNvSpPr/>
          <p:nvPr/>
        </p:nvSpPr>
        <p:spPr>
          <a:xfrm>
            <a:off x="777240" y="5815584"/>
            <a:ext cx="777240" cy="237744"/>
          </a:xfrm>
          <a:prstGeom prst="roundRect">
            <a:avLst>
              <a:gd name="adj" fmla="val 50000"/>
            </a:avLst>
          </a:prstGeom>
          <a:solidFill>
            <a:schemeClr val="accent3">
              <a:alpha val="18000"/>
            </a:schemeClr>
          </a:solidFill>
          <a:ln/>
        </p:spPr>
        <p:txBody>
          <a:bodyPr/>
          <a:lstStyle/>
          <a:p>
            <a:endParaRPr lang="en-IN"/>
          </a:p>
        </p:txBody>
      </p:sp>
      <p:sp>
        <p:nvSpPr>
          <p:cNvPr id="23" name="Text 17"/>
          <p:cNvSpPr txBox="1"/>
          <p:nvPr/>
        </p:nvSpPr>
        <p:spPr>
          <a:xfrm>
            <a:off x="777240" y="5815584"/>
            <a:ext cx="777240" cy="237744"/>
          </a:xfrm>
          <a:prstGeom prst="rect">
            <a:avLst/>
          </a:prstGeom>
          <a:noFill/>
          <a:ln/>
        </p:spPr>
        <p:txBody>
          <a:bodyPr wrap="square" lIns="0" tIns="0" rIns="0" bIns="0" rtlCol="0" anchor="ctr"/>
          <a:lstStyle/>
          <a:p>
            <a:pPr marL="0" indent="0" algn="ctr">
              <a:buNone/>
            </a:pPr>
            <a:r>
              <a:rPr lang="en-US" sz="1100" b="1" dirty="0">
                <a:solidFill>
                  <a:schemeClr val="tx1"/>
                </a:solidFill>
              </a:rPr>
              <a:t>low</a:t>
            </a:r>
            <a:endParaRPr lang="en-US" sz="1100" dirty="0"/>
          </a:p>
        </p:txBody>
      </p:sp>
      <p:sp>
        <p:nvSpPr>
          <p:cNvPr id="24" name="Text 18"/>
          <p:cNvSpPr txBox="1"/>
          <p:nvPr/>
        </p:nvSpPr>
        <p:spPr>
          <a:xfrm>
            <a:off x="1664208" y="5788152"/>
            <a:ext cx="3886200" cy="292608"/>
          </a:xfrm>
          <a:prstGeom prst="rect">
            <a:avLst/>
          </a:prstGeom>
          <a:noFill/>
          <a:ln/>
        </p:spPr>
        <p:txBody>
          <a:bodyPr wrap="square" lIns="0" tIns="0" rIns="0" bIns="0" rtlCol="0" anchor="ctr"/>
          <a:lstStyle/>
          <a:p>
            <a:pPr marL="0" indent="0">
              <a:buNone/>
            </a:pPr>
            <a:r>
              <a:rPr lang="en-US" sz="1300" dirty="0">
                <a:solidFill>
                  <a:schemeClr val="tx1"/>
                </a:solidFill>
              </a:rPr>
              <a:t>anything less</a:t>
            </a:r>
            <a:endParaRPr lang="en-US" sz="1300" dirty="0"/>
          </a:p>
        </p:txBody>
      </p:sp>
      <p:pic>
        <p:nvPicPr>
          <p:cNvPr id="25" name="Image 3" descr="Live run page: every service's errors, slowdown and traffic against usual, during a fault"/>
          <p:cNvPicPr>
            <a:picLocks noChangeAspect="1"/>
          </p:cNvPicPr>
          <p:nvPr/>
        </p:nvPicPr>
        <p:blipFill>
          <a:blip r:embed="rId6"/>
          <a:stretch>
            <a:fillRect/>
          </a:stretch>
        </p:blipFill>
        <p:spPr>
          <a:xfrm>
            <a:off x="6080760" y="1737360"/>
            <a:ext cx="5562295" cy="3753236"/>
          </a:xfrm>
          <a:prstGeom prst="rect">
            <a:avLst/>
          </a:prstGeom>
        </p:spPr>
      </p:pic>
      <p:sp>
        <p:nvSpPr>
          <p:cNvPr id="26" name="image frame"/>
          <p:cNvSpPr/>
          <p:nvPr/>
        </p:nvSpPr>
        <p:spPr>
          <a:xfrm>
            <a:off x="6080760" y="1737360"/>
            <a:ext cx="5562295" cy="3753236"/>
          </a:xfrm>
          <a:prstGeom prst="rect">
            <a:avLst/>
          </a:prstGeom>
          <a:ln w="9525">
            <a:solidFill>
              <a:schemeClr val="tx2">
                <a:alpha val="30000"/>
              </a:schemeClr>
            </a:solidFill>
            <a:prstDash val="solid"/>
          </a:ln>
        </p:spPr>
        <p:txBody>
          <a:bodyPr/>
          <a:lstStyle/>
          <a:p>
            <a:endParaRPr lang="en-IN"/>
          </a:p>
        </p:txBody>
      </p:sp>
      <p:sp>
        <p:nvSpPr>
          <p:cNvPr id="27" name="Text 20"/>
          <p:cNvSpPr txBox="1"/>
          <p:nvPr/>
        </p:nvSpPr>
        <p:spPr>
          <a:xfrm>
            <a:off x="6080760" y="5536316"/>
            <a:ext cx="5562295" cy="274320"/>
          </a:xfrm>
          <a:prstGeom prst="rect">
            <a:avLst/>
          </a:prstGeom>
          <a:noFill/>
          <a:ln/>
        </p:spPr>
        <p:txBody>
          <a:bodyPr wrap="square" lIns="0" tIns="0" rIns="0" bIns="0" rtlCol="0" anchor="t"/>
          <a:lstStyle/>
          <a:p>
            <a:pPr marL="0" indent="0">
              <a:buNone/>
            </a:pPr>
            <a:r>
              <a:rPr lang="en-US" sz="1100" dirty="0">
                <a:solidFill>
                  <a:schemeClr val="tx2"/>
                </a:solidFill>
              </a:rPr>
              <a:t>Live run page during a fault: six services 23x to 96x slower than usual, the rest clear.</a:t>
            </a:r>
            <a:endParaRPr lang="en-US" sz="1100" dirty="0"/>
          </a:p>
        </p:txBody>
      </p:sp>
      <p:sp>
        <p:nvSpPr>
          <p:cNvPr id="28" name="Text 21"/>
          <p:cNvSpPr txBox="1"/>
          <p:nvPr/>
        </p:nvSpPr>
        <p:spPr>
          <a:xfrm>
            <a:off x="6080760" y="5947796"/>
            <a:ext cx="5562295" cy="457200"/>
          </a:xfrm>
          <a:prstGeom prst="rect">
            <a:avLst/>
          </a:prstGeom>
          <a:noFill/>
          <a:ln/>
        </p:spPr>
        <p:txBody>
          <a:bodyPr wrap="square" lIns="0" tIns="0" rIns="0" bIns="0" rtlCol="0" anchor="t"/>
          <a:lstStyle/>
          <a:p>
            <a:pPr marL="0" indent="0">
              <a:buNone/>
            </a:pPr>
            <a:r>
              <a:rPr lang="en-US" sz="1350" b="1" dirty="0">
                <a:solidFill>
                  <a:schemeClr val="tx1"/>
                </a:solidFill>
              </a:rPr>
              <a:t>Calibration: both known-answer controls pass, paymentFailure rates high and adHighCpu low.</a:t>
            </a:r>
            <a:endParaRPr lang="en-US" sz="135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Safety controls, tested on the cluster</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Stop limits live in experiments.toml, one set per fault. The stop path was tested with a real traffic flood.</a:t>
            </a:r>
            <a:endParaRPr lang="en-US" sz="1600" dirty="0"/>
          </a:p>
        </p:txBody>
      </p:sp>
      <p:sp>
        <p:nvSpPr>
          <p:cNvPr id="5" name="icon circle"/>
          <p:cNvSpPr/>
          <p:nvPr/>
        </p:nvSpPr>
        <p:spPr>
          <a:xfrm>
            <a:off x="548640" y="1783080"/>
            <a:ext cx="502920" cy="502920"/>
          </a:xfrm>
          <a:prstGeom prst="ellipse">
            <a:avLst/>
          </a:prstGeom>
          <a:solidFill>
            <a:schemeClr val="accent3"/>
          </a:solidFill>
          <a:ln/>
        </p:spPr>
        <p:txBody>
          <a:bodyPr/>
          <a:lstStyle/>
          <a:p>
            <a:endParaRPr lang="en-IN"/>
          </a:p>
        </p:txBody>
      </p:sp>
      <p:pic>
        <p:nvPicPr>
          <p:cNvPr id="6" name="Image 0" descr="OctagonX icon"/>
          <p:cNvPicPr>
            <a:picLocks noChangeAspect="1"/>
          </p:cNvPicPr>
          <p:nvPr/>
        </p:nvPicPr>
        <p:blipFill>
          <a:blip r:embed="rId3"/>
          <a:stretch>
            <a:fillRect/>
          </a:stretch>
        </p:blipFill>
        <p:spPr>
          <a:xfrm>
            <a:off x="659282" y="1893722"/>
            <a:ext cx="281635" cy="281635"/>
          </a:xfrm>
          <a:prstGeom prst="rect">
            <a:avLst/>
          </a:prstGeom>
        </p:spPr>
      </p:pic>
      <p:sp>
        <p:nvSpPr>
          <p:cNvPr id="7" name="Text 3"/>
          <p:cNvSpPr txBox="1"/>
          <p:nvPr/>
        </p:nvSpPr>
        <p:spPr>
          <a:xfrm>
            <a:off x="1234440" y="1746504"/>
            <a:ext cx="5669280" cy="822960"/>
          </a:xfrm>
          <a:prstGeom prst="rect">
            <a:avLst/>
          </a:prstGeom>
          <a:noFill/>
          <a:ln/>
        </p:spPr>
        <p:txBody>
          <a:bodyPr wrap="square" lIns="0" tIns="0" rIns="0" bIns="0" rtlCol="0" anchor="t"/>
          <a:lstStyle/>
          <a:p>
            <a:pPr marL="0" indent="0">
              <a:buNone/>
            </a:pPr>
            <a:r>
              <a:rPr lang="en-US" sz="1500" b="1" dirty="0">
                <a:solidFill>
                  <a:schemeClr val="tx1"/>
                </a:solidFill>
              </a:rPr>
              <a:t>Kill switch, every second</a:t>
            </a:r>
            <a:endParaRPr lang="en-US" sz="1400" dirty="0"/>
          </a:p>
          <a:p>
            <a:pPr marL="0" indent="0">
              <a:buNone/>
            </a:pPr>
            <a:r>
              <a:rPr lang="en-US" sz="1350" dirty="0">
                <a:solidFill>
                  <a:schemeClr val="tx2"/>
                </a:solidFill>
              </a:rPr>
              <a:t>error rate, p95, blast radius (another pod goes NotReady), time limit</a:t>
            </a:r>
            <a:endParaRPr lang="en-US" sz="1400" dirty="0"/>
          </a:p>
        </p:txBody>
      </p:sp>
      <p:sp>
        <p:nvSpPr>
          <p:cNvPr id="8" name="icon circle"/>
          <p:cNvSpPr/>
          <p:nvPr/>
        </p:nvSpPr>
        <p:spPr>
          <a:xfrm>
            <a:off x="548640" y="2660904"/>
            <a:ext cx="502920" cy="502920"/>
          </a:xfrm>
          <a:prstGeom prst="ellipse">
            <a:avLst/>
          </a:prstGeom>
          <a:solidFill>
            <a:schemeClr val="accent3"/>
          </a:solidFill>
          <a:ln/>
        </p:spPr>
        <p:txBody>
          <a:bodyPr/>
          <a:lstStyle/>
          <a:p>
            <a:endParaRPr lang="en-IN"/>
          </a:p>
        </p:txBody>
      </p:sp>
      <p:pic>
        <p:nvPicPr>
          <p:cNvPr id="9" name="Image 1" descr="Hand icon"/>
          <p:cNvPicPr>
            <a:picLocks noChangeAspect="1"/>
          </p:cNvPicPr>
          <p:nvPr/>
        </p:nvPicPr>
        <p:blipFill>
          <a:blip r:embed="rId4"/>
          <a:stretch>
            <a:fillRect/>
          </a:stretch>
        </p:blipFill>
        <p:spPr>
          <a:xfrm>
            <a:off x="659282" y="2771546"/>
            <a:ext cx="281635" cy="281635"/>
          </a:xfrm>
          <a:prstGeom prst="rect">
            <a:avLst/>
          </a:prstGeom>
        </p:spPr>
      </p:pic>
      <p:sp>
        <p:nvSpPr>
          <p:cNvPr id="10" name="Text 5"/>
          <p:cNvSpPr txBox="1"/>
          <p:nvPr/>
        </p:nvSpPr>
        <p:spPr>
          <a:xfrm>
            <a:off x="1234440" y="2624328"/>
            <a:ext cx="5669280" cy="822960"/>
          </a:xfrm>
          <a:prstGeom prst="rect">
            <a:avLst/>
          </a:prstGeom>
          <a:noFill/>
          <a:ln/>
        </p:spPr>
        <p:txBody>
          <a:bodyPr wrap="square" lIns="0" tIns="0" rIns="0" bIns="0" rtlCol="0" anchor="t"/>
          <a:lstStyle/>
          <a:p>
            <a:pPr marL="0" indent="0">
              <a:buNone/>
            </a:pPr>
            <a:r>
              <a:rPr lang="en-US" sz="1500" b="1" dirty="0">
                <a:solidFill>
                  <a:schemeClr val="tx1"/>
                </a:solidFill>
              </a:rPr>
              <a:t>Manual stop</a:t>
            </a:r>
            <a:endParaRPr lang="en-US" sz="1400" dirty="0"/>
          </a:p>
          <a:p>
            <a:pPr marL="0" indent="0">
              <a:buNone/>
            </a:pPr>
            <a:r>
              <a:rPr lang="en-US" sz="1350" dirty="0">
                <a:solidFill>
                  <a:schemeClr val="tx2"/>
                </a:solidFill>
              </a:rPr>
              <a:t>Emergency stop on the Agent page, runs/STOP, Ctrl+C</a:t>
            </a:r>
            <a:endParaRPr lang="en-US" sz="1400" dirty="0"/>
          </a:p>
        </p:txBody>
      </p:sp>
      <p:sp>
        <p:nvSpPr>
          <p:cNvPr id="11" name="icon circle"/>
          <p:cNvSpPr/>
          <p:nvPr/>
        </p:nvSpPr>
        <p:spPr>
          <a:xfrm>
            <a:off x="548640" y="3538728"/>
            <a:ext cx="502920" cy="502920"/>
          </a:xfrm>
          <a:prstGeom prst="ellipse">
            <a:avLst/>
          </a:prstGeom>
          <a:solidFill>
            <a:schemeClr val="accent3"/>
          </a:solidFill>
          <a:ln/>
        </p:spPr>
        <p:txBody>
          <a:bodyPr/>
          <a:lstStyle/>
          <a:p>
            <a:endParaRPr lang="en-IN"/>
          </a:p>
        </p:txBody>
      </p:sp>
      <p:pic>
        <p:nvPicPr>
          <p:cNvPr id="12" name="Image 2" descr="Layers icon"/>
          <p:cNvPicPr>
            <a:picLocks noChangeAspect="1"/>
          </p:cNvPicPr>
          <p:nvPr/>
        </p:nvPicPr>
        <p:blipFill>
          <a:blip r:embed="rId5"/>
          <a:stretch>
            <a:fillRect/>
          </a:stretch>
        </p:blipFill>
        <p:spPr>
          <a:xfrm>
            <a:off x="659282" y="3649370"/>
            <a:ext cx="281635" cy="281635"/>
          </a:xfrm>
          <a:prstGeom prst="rect">
            <a:avLst/>
          </a:prstGeom>
        </p:spPr>
      </p:pic>
      <p:sp>
        <p:nvSpPr>
          <p:cNvPr id="13" name="Text 7"/>
          <p:cNvSpPr txBox="1"/>
          <p:nvPr/>
        </p:nvSpPr>
        <p:spPr>
          <a:xfrm>
            <a:off x="1234440" y="3502152"/>
            <a:ext cx="5669280" cy="822960"/>
          </a:xfrm>
          <a:prstGeom prst="rect">
            <a:avLst/>
          </a:prstGeom>
          <a:noFill/>
          <a:ln/>
        </p:spPr>
        <p:txBody>
          <a:bodyPr wrap="square" lIns="0" tIns="0" rIns="0" bIns="0" rtlCol="0" anchor="t"/>
          <a:lstStyle/>
          <a:p>
            <a:pPr marL="0" indent="0">
              <a:buNone/>
            </a:pPr>
            <a:r>
              <a:rPr lang="en-US" sz="1500" b="1" dirty="0">
                <a:solidFill>
                  <a:schemeClr val="tx1"/>
                </a:solidFill>
              </a:rPr>
              <a:t>One fault at a time</a:t>
            </a:r>
            <a:endParaRPr lang="en-US" sz="1400" dirty="0"/>
          </a:p>
          <a:p>
            <a:pPr marL="0" indent="0">
              <a:buNone/>
            </a:pPr>
            <a:r>
              <a:rPr lang="en-US" sz="1350" dirty="0">
                <a:solidFill>
                  <a:schemeClr val="tx2"/>
                </a:solidFill>
              </a:rPr>
              <a:t>a machine-wide run lock; no fault goes into an unhealthy shop</a:t>
            </a:r>
            <a:endParaRPr lang="en-US" sz="1400" dirty="0"/>
          </a:p>
        </p:txBody>
      </p:sp>
      <p:sp>
        <p:nvSpPr>
          <p:cNvPr id="14" name="icon circle"/>
          <p:cNvSpPr/>
          <p:nvPr/>
        </p:nvSpPr>
        <p:spPr>
          <a:xfrm>
            <a:off x="548640" y="4416552"/>
            <a:ext cx="502920" cy="502920"/>
          </a:xfrm>
          <a:prstGeom prst="ellipse">
            <a:avLst/>
          </a:prstGeom>
          <a:solidFill>
            <a:schemeClr val="accent3"/>
          </a:solidFill>
          <a:ln/>
        </p:spPr>
        <p:txBody>
          <a:bodyPr/>
          <a:lstStyle/>
          <a:p>
            <a:endParaRPr lang="en-IN"/>
          </a:p>
        </p:txBody>
      </p:sp>
      <p:pic>
        <p:nvPicPr>
          <p:cNvPr id="15" name="Image 3" descr="Target icon"/>
          <p:cNvPicPr>
            <a:picLocks noChangeAspect="1"/>
          </p:cNvPicPr>
          <p:nvPr/>
        </p:nvPicPr>
        <p:blipFill>
          <a:blip r:embed="rId6"/>
          <a:stretch>
            <a:fillRect/>
          </a:stretch>
        </p:blipFill>
        <p:spPr>
          <a:xfrm>
            <a:off x="659282" y="4527194"/>
            <a:ext cx="281635" cy="281635"/>
          </a:xfrm>
          <a:prstGeom prst="rect">
            <a:avLst/>
          </a:prstGeom>
        </p:spPr>
      </p:pic>
      <p:sp>
        <p:nvSpPr>
          <p:cNvPr id="16" name="Text 9"/>
          <p:cNvSpPr txBox="1"/>
          <p:nvPr/>
        </p:nvSpPr>
        <p:spPr>
          <a:xfrm>
            <a:off x="1234440" y="4379976"/>
            <a:ext cx="5669280" cy="822960"/>
          </a:xfrm>
          <a:prstGeom prst="rect">
            <a:avLst/>
          </a:prstGeom>
          <a:noFill/>
          <a:ln/>
        </p:spPr>
        <p:txBody>
          <a:bodyPr wrap="square" lIns="0" tIns="0" rIns="0" bIns="0" rtlCol="0" anchor="t"/>
          <a:lstStyle/>
          <a:p>
            <a:pPr marL="0" indent="0">
              <a:buNone/>
            </a:pPr>
            <a:r>
              <a:rPr lang="en-US" sz="1500" b="1" dirty="0">
                <a:solidFill>
                  <a:schemeClr val="tx1"/>
                </a:solidFill>
              </a:rPr>
              <a:t>Guards</a:t>
            </a:r>
            <a:endParaRPr lang="en-US" sz="1400" dirty="0"/>
          </a:p>
          <a:p>
            <a:pPr marL="0" indent="0">
              <a:buNone/>
            </a:pPr>
            <a:r>
              <a:rPr lang="en-US" sz="1350" dirty="0">
                <a:solidFill>
                  <a:schemeClr val="tx2"/>
                </a:solidFill>
              </a:rPr>
              <a:t>one target per run, nothing on the steady node, never two broad faults, no controls in the pool</a:t>
            </a:r>
            <a:endParaRPr lang="en-US" sz="1400" dirty="0"/>
          </a:p>
        </p:txBody>
      </p:sp>
      <p:sp>
        <p:nvSpPr>
          <p:cNvPr id="17" name="icon circle"/>
          <p:cNvSpPr/>
          <p:nvPr/>
        </p:nvSpPr>
        <p:spPr>
          <a:xfrm>
            <a:off x="548640" y="5294376"/>
            <a:ext cx="502920" cy="502920"/>
          </a:xfrm>
          <a:prstGeom prst="ellipse">
            <a:avLst/>
          </a:prstGeom>
          <a:solidFill>
            <a:schemeClr val="accent3"/>
          </a:solidFill>
          <a:ln/>
        </p:spPr>
        <p:txBody>
          <a:bodyPr/>
          <a:lstStyle/>
          <a:p>
            <a:endParaRPr lang="en-IN"/>
          </a:p>
        </p:txBody>
      </p:sp>
      <p:pic>
        <p:nvPicPr>
          <p:cNvPr id="18" name="Image 4" descr="RefreshCw icon"/>
          <p:cNvPicPr>
            <a:picLocks noChangeAspect="1"/>
          </p:cNvPicPr>
          <p:nvPr/>
        </p:nvPicPr>
        <p:blipFill>
          <a:blip r:embed="rId7"/>
          <a:stretch>
            <a:fillRect/>
          </a:stretch>
        </p:blipFill>
        <p:spPr>
          <a:xfrm>
            <a:off x="659282" y="5405018"/>
            <a:ext cx="281635" cy="281635"/>
          </a:xfrm>
          <a:prstGeom prst="rect">
            <a:avLst/>
          </a:prstGeom>
        </p:spPr>
      </p:pic>
      <p:sp>
        <p:nvSpPr>
          <p:cNvPr id="19" name="Text 11"/>
          <p:cNvSpPr txBox="1"/>
          <p:nvPr/>
        </p:nvSpPr>
        <p:spPr>
          <a:xfrm>
            <a:off x="1234440" y="5257800"/>
            <a:ext cx="5669280" cy="822960"/>
          </a:xfrm>
          <a:prstGeom prst="rect">
            <a:avLst/>
          </a:prstGeom>
          <a:noFill/>
          <a:ln/>
        </p:spPr>
        <p:txBody>
          <a:bodyPr wrap="square" lIns="0" tIns="0" rIns="0" bIns="0" rtlCol="0" anchor="t"/>
          <a:lstStyle/>
          <a:p>
            <a:pPr marL="0" indent="0">
              <a:buNone/>
            </a:pPr>
            <a:r>
              <a:rPr lang="en-US" sz="1500" b="1" dirty="0">
                <a:solidFill>
                  <a:schemeClr val="tx1"/>
                </a:solidFill>
              </a:rPr>
              <a:t>Cleanup</a:t>
            </a:r>
            <a:endParaRPr lang="en-US" sz="1400" dirty="0"/>
          </a:p>
          <a:p>
            <a:pPr marL="0" indent="0">
              <a:buNone/>
            </a:pPr>
            <a:r>
              <a:rPr lang="en-US" sz="1350" dirty="0">
                <a:solidFill>
                  <a:schemeClr val="tx2"/>
                </a:solidFill>
              </a:rPr>
              <a:t>krkn containers and helper pods removed, leftover network delay cleared, hijacked services restored</a:t>
            </a:r>
            <a:endParaRPr lang="en-US" sz="1400" dirty="0"/>
          </a:p>
        </p:txBody>
      </p:sp>
      <p:sp>
        <p:nvSpPr>
          <p:cNvPr id="20" name="card"/>
          <p:cNvSpPr/>
          <p:nvPr/>
        </p:nvSpPr>
        <p:spPr>
          <a:xfrm>
            <a:off x="7223760" y="1737360"/>
            <a:ext cx="4419295" cy="4434840"/>
          </a:xfrm>
          <a:prstGeom prst="roundRect">
            <a:avLst>
              <a:gd name="adj" fmla="val 1241"/>
            </a:avLst>
          </a:prstGeom>
          <a:solidFill>
            <a:schemeClr val="bg1"/>
          </a:solidFill>
          <a:ln w="9525">
            <a:solidFill>
              <a:schemeClr val="tx2">
                <a:alpha val="28000"/>
              </a:schemeClr>
            </a:solidFill>
            <a:prstDash val="solid"/>
          </a:ln>
        </p:spPr>
        <p:txBody>
          <a:bodyPr/>
          <a:lstStyle/>
          <a:p>
            <a:endParaRPr lang="en-IN"/>
          </a:p>
        </p:txBody>
      </p:sp>
      <p:sp>
        <p:nvSpPr>
          <p:cNvPr id="21" name="Text 13"/>
          <p:cNvSpPr txBox="1"/>
          <p:nvPr/>
        </p:nvSpPr>
        <p:spPr>
          <a:xfrm>
            <a:off x="7543800" y="1920240"/>
            <a:ext cx="3779215" cy="621792"/>
          </a:xfrm>
          <a:prstGeom prst="rect">
            <a:avLst/>
          </a:prstGeom>
          <a:noFill/>
          <a:ln/>
        </p:spPr>
        <p:txBody>
          <a:bodyPr wrap="square" lIns="0" tIns="0" rIns="0" bIns="0" rtlCol="0" anchor="t"/>
          <a:lstStyle/>
          <a:p>
            <a:pPr marL="0" indent="0">
              <a:buNone/>
            </a:pPr>
            <a:r>
              <a:rPr lang="en-US" sz="4000" dirty="0">
                <a:solidFill>
                  <a:schemeClr val="accent1"/>
                </a:solidFill>
                <a:latin typeface="+mj-lt" pitchFamily="34" charset="0"/>
                <a:ea typeface="+mj-lt" pitchFamily="34" charset="-122"/>
                <a:cs typeface="+mj-lt" pitchFamily="34" charset="-120"/>
              </a:rPr>
              <a:t>2.6 s</a:t>
            </a:r>
            <a:endParaRPr lang="en-US" sz="4000" dirty="0"/>
          </a:p>
        </p:txBody>
      </p:sp>
      <p:sp>
        <p:nvSpPr>
          <p:cNvPr id="22" name="Text 14"/>
          <p:cNvSpPr txBox="1"/>
          <p:nvPr/>
        </p:nvSpPr>
        <p:spPr>
          <a:xfrm>
            <a:off x="7543800" y="2542032"/>
            <a:ext cx="3779215" cy="320040"/>
          </a:xfrm>
          <a:prstGeom prst="rect">
            <a:avLst/>
          </a:prstGeom>
          <a:noFill/>
          <a:ln/>
        </p:spPr>
        <p:txBody>
          <a:bodyPr wrap="square" lIns="0" tIns="0" rIns="0" bIns="0" rtlCol="0" anchor="t"/>
          <a:lstStyle/>
          <a:p>
            <a:pPr marL="0" indent="0">
              <a:buNone/>
            </a:pPr>
            <a:r>
              <a:rPr lang="en-US" sz="1400" dirty="0">
                <a:solidFill>
                  <a:schemeClr val="tx2"/>
                </a:solidFill>
              </a:rPr>
              <a:t>from the first slow probe to the stop</a:t>
            </a:r>
            <a:endParaRPr lang="en-US" sz="1400" dirty="0"/>
          </a:p>
        </p:txBody>
      </p:sp>
      <p:sp>
        <p:nvSpPr>
          <p:cNvPr id="23" name="Text 15"/>
          <p:cNvSpPr txBox="1"/>
          <p:nvPr/>
        </p:nvSpPr>
        <p:spPr>
          <a:xfrm>
            <a:off x="7543800" y="2999232"/>
            <a:ext cx="3779215" cy="621792"/>
          </a:xfrm>
          <a:prstGeom prst="rect">
            <a:avLst/>
          </a:prstGeom>
          <a:noFill/>
          <a:ln/>
        </p:spPr>
        <p:txBody>
          <a:bodyPr wrap="square" lIns="0" tIns="0" rIns="0" bIns="0" rtlCol="0" anchor="t"/>
          <a:lstStyle/>
          <a:p>
            <a:pPr marL="0" indent="0">
              <a:buNone/>
            </a:pPr>
            <a:r>
              <a:rPr lang="en-US" sz="4000" dirty="0">
                <a:solidFill>
                  <a:schemeClr val="accent1"/>
                </a:solidFill>
                <a:latin typeface="+mj-lt" pitchFamily="34" charset="0"/>
                <a:ea typeface="+mj-lt" pitchFamily="34" charset="-122"/>
                <a:cs typeface="+mj-lt" pitchFamily="34" charset="-120"/>
              </a:rPr>
              <a:t>0.7 s</a:t>
            </a:r>
            <a:endParaRPr lang="en-US" sz="4000" dirty="0"/>
          </a:p>
        </p:txBody>
      </p:sp>
      <p:sp>
        <p:nvSpPr>
          <p:cNvPr id="24" name="Text 16"/>
          <p:cNvSpPr txBox="1"/>
          <p:nvPr/>
        </p:nvSpPr>
        <p:spPr>
          <a:xfrm>
            <a:off x="7543800" y="3621024"/>
            <a:ext cx="3779215" cy="320040"/>
          </a:xfrm>
          <a:prstGeom prst="rect">
            <a:avLst/>
          </a:prstGeom>
          <a:noFill/>
          <a:ln/>
        </p:spPr>
        <p:txBody>
          <a:bodyPr wrap="square" lIns="0" tIns="0" rIns="0" bIns="0" rtlCol="0" anchor="t"/>
          <a:lstStyle/>
          <a:p>
            <a:pPr marL="0" indent="0">
              <a:buNone/>
            </a:pPr>
            <a:r>
              <a:rPr lang="en-US" sz="1400" dirty="0">
                <a:solidFill>
                  <a:schemeClr val="tx2"/>
                </a:solidFill>
              </a:rPr>
              <a:t>from the stop to krkn killed and cleaned up</a:t>
            </a:r>
            <a:endParaRPr lang="en-US" sz="1400" dirty="0"/>
          </a:p>
        </p:txBody>
      </p:sp>
      <p:sp>
        <p:nvSpPr>
          <p:cNvPr id="25" name="Text 17"/>
          <p:cNvSpPr txBox="1"/>
          <p:nvPr/>
        </p:nvSpPr>
        <p:spPr>
          <a:xfrm>
            <a:off x="7543800" y="4078224"/>
            <a:ext cx="3779215" cy="621792"/>
          </a:xfrm>
          <a:prstGeom prst="rect">
            <a:avLst/>
          </a:prstGeom>
          <a:noFill/>
          <a:ln/>
        </p:spPr>
        <p:txBody>
          <a:bodyPr wrap="square" lIns="0" tIns="0" rIns="0" bIns="0" rtlCol="0" anchor="t"/>
          <a:lstStyle/>
          <a:p>
            <a:pPr marL="0" indent="0">
              <a:buNone/>
            </a:pPr>
            <a:r>
              <a:rPr lang="en-US" sz="4000" dirty="0">
                <a:solidFill>
                  <a:schemeClr val="accent1"/>
                </a:solidFill>
                <a:latin typeface="+mj-lt" pitchFamily="34" charset="0"/>
                <a:ea typeface="+mj-lt" pitchFamily="34" charset="-122"/>
                <a:cs typeface="+mj-lt" pitchFamily="34" charset="-120"/>
              </a:rPr>
              <a:t>1.9 s</a:t>
            </a:r>
            <a:endParaRPr lang="en-US" sz="4000" dirty="0"/>
          </a:p>
        </p:txBody>
      </p:sp>
      <p:sp>
        <p:nvSpPr>
          <p:cNvPr id="26" name="Text 18"/>
          <p:cNvSpPr txBox="1"/>
          <p:nvPr/>
        </p:nvSpPr>
        <p:spPr>
          <a:xfrm>
            <a:off x="7543800" y="4700016"/>
            <a:ext cx="3779215" cy="320040"/>
          </a:xfrm>
          <a:prstGeom prst="rect">
            <a:avLst/>
          </a:prstGeom>
          <a:noFill/>
          <a:ln/>
        </p:spPr>
        <p:txBody>
          <a:bodyPr wrap="square" lIns="0" tIns="0" rIns="0" bIns="0" rtlCol="0" anchor="t"/>
          <a:lstStyle/>
          <a:p>
            <a:pPr marL="0" indent="0">
              <a:buNone/>
            </a:pPr>
            <a:r>
              <a:rPr lang="en-US" sz="1400" dirty="0">
                <a:solidFill>
                  <a:schemeClr val="tx2"/>
                </a:solidFill>
              </a:rPr>
              <a:t>until the shop was back to its baseline</a:t>
            </a:r>
            <a:endParaRPr lang="en-US" sz="1400" dirty="0"/>
          </a:p>
        </p:txBody>
      </p:sp>
      <p:sp>
        <p:nvSpPr>
          <p:cNvPr id="27" name="Text 19"/>
          <p:cNvSpPr txBox="1"/>
          <p:nvPr/>
        </p:nvSpPr>
        <p:spPr>
          <a:xfrm>
            <a:off x="7543800" y="5257800"/>
            <a:ext cx="3779215" cy="777240"/>
          </a:xfrm>
          <a:prstGeom prst="rect">
            <a:avLst/>
          </a:prstGeom>
          <a:noFill/>
          <a:ln/>
        </p:spPr>
        <p:txBody>
          <a:bodyPr wrap="square" lIns="0" tIns="0" rIns="0" bIns="0" rtlCol="0" anchor="t"/>
          <a:lstStyle/>
          <a:p>
            <a:pPr marL="0" indent="0">
              <a:buNone/>
            </a:pPr>
            <a:r>
              <a:rPr lang="en-US" sz="1250" i="1" dirty="0">
                <a:solidFill>
                  <a:schemeClr val="tx2"/>
                </a:solidFill>
              </a:rPr>
              <a:t>traffic-spike run 2, 1,000 requests a second: the p95 limit tripped. A manual STOP cleaned up in 0.2 s.</a:t>
            </a:r>
            <a:endParaRPr lang="en-US" sz="125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Demo run: 2 faults, 2 high weaknesses</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Two targeted faults, both rated high, each a different root cause. Both fixes need the shop's code, so they stay recommendations.</a:t>
            </a:r>
            <a:endParaRPr lang="en-US" sz="1600" dirty="0"/>
          </a:p>
        </p:txBody>
      </p:sp>
      <p:sp>
        <p:nvSpPr>
          <p:cNvPr id="5" name="card"/>
          <p:cNvSpPr/>
          <p:nvPr/>
        </p:nvSpPr>
        <p:spPr>
          <a:xfrm>
            <a:off x="548640" y="1737360"/>
            <a:ext cx="5410048" cy="2926080"/>
          </a:xfrm>
          <a:prstGeom prst="roundRect">
            <a:avLst>
              <a:gd name="adj" fmla="val 1875"/>
            </a:avLst>
          </a:prstGeom>
          <a:solidFill>
            <a:schemeClr val="bg1"/>
          </a:solidFill>
          <a:ln w="9525">
            <a:solidFill>
              <a:schemeClr val="tx2">
                <a:alpha val="28000"/>
              </a:schemeClr>
            </a:solidFill>
            <a:prstDash val="solid"/>
          </a:ln>
        </p:spPr>
        <p:txBody>
          <a:bodyPr/>
          <a:lstStyle/>
          <a:p>
            <a:endParaRPr lang="en-IN"/>
          </a:p>
        </p:txBody>
      </p:sp>
      <p:sp>
        <p:nvSpPr>
          <p:cNvPr id="6" name="pill"/>
          <p:cNvSpPr/>
          <p:nvPr/>
        </p:nvSpPr>
        <p:spPr>
          <a:xfrm>
            <a:off x="822960" y="1938528"/>
            <a:ext cx="449519" cy="274320"/>
          </a:xfrm>
          <a:prstGeom prst="roundRect">
            <a:avLst>
              <a:gd name="adj" fmla="val 50000"/>
            </a:avLst>
          </a:prstGeom>
          <a:solidFill>
            <a:schemeClr val="accent1"/>
          </a:solidFill>
          <a:ln/>
        </p:spPr>
        <p:txBody>
          <a:bodyPr/>
          <a:lstStyle/>
          <a:p>
            <a:endParaRPr lang="en-IN"/>
          </a:p>
        </p:txBody>
      </p:sp>
      <p:sp>
        <p:nvSpPr>
          <p:cNvPr id="7" name="Text 4"/>
          <p:cNvSpPr txBox="1"/>
          <p:nvPr/>
        </p:nvSpPr>
        <p:spPr>
          <a:xfrm>
            <a:off x="822960" y="1938528"/>
            <a:ext cx="449519" cy="27432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8" name="pill"/>
          <p:cNvSpPr/>
          <p:nvPr/>
        </p:nvSpPr>
        <p:spPr>
          <a:xfrm>
            <a:off x="1363919" y="1938528"/>
            <a:ext cx="606430" cy="274320"/>
          </a:xfrm>
          <a:prstGeom prst="roundRect">
            <a:avLst>
              <a:gd name="adj" fmla="val 50000"/>
            </a:avLst>
          </a:prstGeom>
          <a:solidFill>
            <a:schemeClr val="accent6">
              <a:alpha val="18000"/>
            </a:schemeClr>
          </a:solidFill>
          <a:ln/>
        </p:spPr>
        <p:txBody>
          <a:bodyPr/>
          <a:lstStyle/>
          <a:p>
            <a:endParaRPr lang="en-IN"/>
          </a:p>
        </p:txBody>
      </p:sp>
      <p:sp>
        <p:nvSpPr>
          <p:cNvPr id="9" name="Text 6"/>
          <p:cNvSpPr txBox="1"/>
          <p:nvPr/>
        </p:nvSpPr>
        <p:spPr>
          <a:xfrm>
            <a:off x="1363919" y="1938528"/>
            <a:ext cx="606430" cy="274320"/>
          </a:xfrm>
          <a:prstGeom prst="rect">
            <a:avLst/>
          </a:prstGeom>
          <a:noFill/>
          <a:ln/>
        </p:spPr>
        <p:txBody>
          <a:bodyPr wrap="square" lIns="0" tIns="0" rIns="0" bIns="0" rtlCol="0" anchor="ctr"/>
          <a:lstStyle/>
          <a:p>
            <a:pPr marL="0" indent="0" algn="ctr">
              <a:buNone/>
            </a:pPr>
            <a:r>
              <a:rPr lang="en-US" sz="1100" b="1" dirty="0">
                <a:solidFill>
                  <a:schemeClr val="tx1"/>
                </a:solidFill>
              </a:rPr>
              <a:t>high</a:t>
            </a:r>
            <a:endParaRPr lang="en-US" sz="1100" dirty="0"/>
          </a:p>
        </p:txBody>
      </p:sp>
      <p:sp>
        <p:nvSpPr>
          <p:cNvPr id="10" name="pill"/>
          <p:cNvSpPr/>
          <p:nvPr/>
        </p:nvSpPr>
        <p:spPr>
          <a:xfrm>
            <a:off x="2061789" y="1938528"/>
            <a:ext cx="920252" cy="274320"/>
          </a:xfrm>
          <a:prstGeom prst="roundRect">
            <a:avLst>
              <a:gd name="adj" fmla="val 50000"/>
            </a:avLst>
          </a:prstGeom>
          <a:solidFill>
            <a:schemeClr val="tx2">
              <a:alpha val="18000"/>
            </a:schemeClr>
          </a:solidFill>
          <a:ln/>
        </p:spPr>
        <p:txBody>
          <a:bodyPr/>
          <a:lstStyle/>
          <a:p>
            <a:endParaRPr lang="en-IN"/>
          </a:p>
        </p:txBody>
      </p:sp>
      <p:sp>
        <p:nvSpPr>
          <p:cNvPr id="11" name="Text 8"/>
          <p:cNvSpPr txBox="1"/>
          <p:nvPr/>
        </p:nvSpPr>
        <p:spPr>
          <a:xfrm>
            <a:off x="2061789" y="1938528"/>
            <a:ext cx="920252" cy="274320"/>
          </a:xfrm>
          <a:prstGeom prst="rect">
            <a:avLst/>
          </a:prstGeom>
          <a:noFill/>
          <a:ln/>
        </p:spPr>
        <p:txBody>
          <a:bodyPr wrap="square" lIns="0" tIns="0" rIns="0" bIns="0" rtlCol="0" anchor="ctr"/>
          <a:lstStyle/>
          <a:p>
            <a:pPr marL="0" indent="0" algn="ctr">
              <a:buNone/>
            </a:pPr>
            <a:r>
              <a:rPr lang="en-US" sz="1100" b="1" dirty="0">
                <a:solidFill>
                  <a:schemeClr val="tx1"/>
                </a:solidFill>
              </a:rPr>
              <a:t>targeted</a:t>
            </a:r>
            <a:endParaRPr lang="en-US" sz="1100" dirty="0"/>
          </a:p>
        </p:txBody>
      </p:sp>
      <p:sp>
        <p:nvSpPr>
          <p:cNvPr id="12" name="pill"/>
          <p:cNvSpPr/>
          <p:nvPr/>
        </p:nvSpPr>
        <p:spPr>
          <a:xfrm>
            <a:off x="3073481" y="1938528"/>
            <a:ext cx="1861718" cy="274320"/>
          </a:xfrm>
          <a:prstGeom prst="roundRect">
            <a:avLst>
              <a:gd name="adj" fmla="val 50000"/>
            </a:avLst>
          </a:prstGeom>
          <a:solidFill>
            <a:schemeClr val="accent1">
              <a:alpha val="18000"/>
            </a:schemeClr>
          </a:solidFill>
          <a:ln/>
        </p:spPr>
        <p:txBody>
          <a:bodyPr/>
          <a:lstStyle/>
          <a:p>
            <a:endParaRPr lang="en-IN"/>
          </a:p>
        </p:txBody>
      </p:sp>
      <p:sp>
        <p:nvSpPr>
          <p:cNvPr id="13" name="Text 10"/>
          <p:cNvSpPr txBox="1"/>
          <p:nvPr/>
        </p:nvSpPr>
        <p:spPr>
          <a:xfrm>
            <a:off x="3073481" y="1938528"/>
            <a:ext cx="1861718" cy="274320"/>
          </a:xfrm>
          <a:prstGeom prst="rect">
            <a:avLst/>
          </a:prstGeom>
          <a:noFill/>
          <a:ln/>
        </p:spPr>
        <p:txBody>
          <a:bodyPr wrap="square" lIns="0" tIns="0" rIns="0" bIns="0" rtlCol="0" anchor="ctr"/>
          <a:lstStyle/>
          <a:p>
            <a:pPr marL="0" indent="0" algn="ctr">
              <a:buNone/>
            </a:pPr>
            <a:r>
              <a:rPr lang="en-US" sz="1100" b="1" dirty="0">
                <a:solidFill>
                  <a:schemeClr val="tx1"/>
                </a:solidFill>
              </a:rPr>
              <a:t>leverage 3 ÷ 2 = 1.5</a:t>
            </a:r>
            <a:endParaRPr lang="en-US" sz="1100" dirty="0"/>
          </a:p>
        </p:txBody>
      </p:sp>
      <p:sp>
        <p:nvSpPr>
          <p:cNvPr id="14" name="Text 11"/>
          <p:cNvSpPr txBox="1"/>
          <p:nvPr/>
        </p:nvSpPr>
        <p:spPr>
          <a:xfrm>
            <a:off x="822960" y="2331720"/>
            <a:ext cx="4861408" cy="411480"/>
          </a:xfrm>
          <a:prstGeom prst="rect">
            <a:avLst/>
          </a:prstGeom>
          <a:noFill/>
          <a:ln/>
        </p:spPr>
        <p:txBody>
          <a:bodyPr wrap="square" lIns="0" tIns="0" rIns="0" bIns="0" rtlCol="0" anchor="t"/>
          <a:lstStyle/>
          <a:p>
            <a:pPr marL="0" indent="0">
              <a:buNone/>
            </a:pPr>
            <a:r>
              <a:rPr lang="en-US" sz="2100" dirty="0">
                <a:solidFill>
                  <a:schemeClr val="tx1"/>
                </a:solidFill>
                <a:latin typeface="+mj-lt" pitchFamily="34" charset="0"/>
                <a:ea typeface="+mj-lt" pitchFamily="34" charset="-122"/>
                <a:cs typeface="+mj-lt" pitchFamily="34" charset="-120"/>
              </a:rPr>
              <a:t>The catalog loses its database</a:t>
            </a:r>
            <a:endParaRPr lang="en-US" sz="2100" dirty="0"/>
          </a:p>
        </p:txBody>
      </p:sp>
      <p:sp>
        <p:nvSpPr>
          <p:cNvPr id="15" name="Text 12"/>
          <p:cNvSpPr txBox="1"/>
          <p:nvPr/>
        </p:nvSpPr>
        <p:spPr>
          <a:xfrm>
            <a:off x="822960" y="2743200"/>
            <a:ext cx="4861408" cy="274320"/>
          </a:xfrm>
          <a:prstGeom prst="rect">
            <a:avLst/>
          </a:prstGeom>
          <a:noFill/>
          <a:ln/>
        </p:spPr>
        <p:txBody>
          <a:bodyPr wrap="square" lIns="0" tIns="0" rIns="0" bIns="0" rtlCol="0" anchor="t"/>
          <a:lstStyle/>
          <a:p>
            <a:pPr marL="0" indent="0">
              <a:buNone/>
            </a:pPr>
            <a:r>
              <a:rPr lang="en-US" sz="1300" dirty="0">
                <a:solidFill>
                  <a:schemeClr val="tx2"/>
                </a:solidFill>
              </a:rPr>
              <a:t>catalog-db-cutoff</a:t>
            </a:r>
            <a:endParaRPr lang="en-US" sz="1300" dirty="0"/>
          </a:p>
        </p:txBody>
      </p:sp>
      <p:sp>
        <p:nvSpPr>
          <p:cNvPr id="16" name="Text 13"/>
          <p:cNvSpPr txBox="1"/>
          <p:nvPr/>
        </p:nvSpPr>
        <p:spPr>
          <a:xfrm>
            <a:off x="822960" y="3108960"/>
            <a:ext cx="4861408" cy="502920"/>
          </a:xfrm>
          <a:prstGeom prst="rect">
            <a:avLst/>
          </a:prstGeom>
          <a:noFill/>
          <a:ln/>
        </p:spPr>
        <p:txBody>
          <a:bodyPr wrap="square" lIns="0" tIns="0" rIns="0" bIns="0" rtlCol="0" anchor="t"/>
          <a:lstStyle/>
          <a:p>
            <a:pPr marL="0" indent="0">
              <a:buNone/>
            </a:pPr>
            <a:r>
              <a:rPr lang="en-US" sz="1400" b="1" dirty="0">
                <a:solidFill>
                  <a:schemeClr val="tx1"/>
                </a:solidFill>
              </a:rPr>
              <a:t>What broke  </a:t>
            </a:r>
            <a:r>
              <a:rPr lang="en-US" sz="1400" dirty="0">
                <a:solidFill>
                  <a:schemeClr val="tx1"/>
                </a:solidFill>
              </a:rPr>
              <a:t>frontend-proxy p95 33 → 2,234 ms; the shop stops answering.</a:t>
            </a:r>
            <a:endParaRPr lang="en-US" sz="1400" dirty="0"/>
          </a:p>
        </p:txBody>
      </p:sp>
      <p:sp>
        <p:nvSpPr>
          <p:cNvPr id="17" name="Text 14"/>
          <p:cNvSpPr txBox="1"/>
          <p:nvPr/>
        </p:nvSpPr>
        <p:spPr>
          <a:xfrm>
            <a:off x="822960" y="3611880"/>
            <a:ext cx="4861408" cy="548640"/>
          </a:xfrm>
          <a:prstGeom prst="rect">
            <a:avLst/>
          </a:prstGeom>
          <a:noFill/>
          <a:ln/>
        </p:spPr>
        <p:txBody>
          <a:bodyPr wrap="square" lIns="0" tIns="0" rIns="0" bIns="0" rtlCol="0" anchor="t"/>
          <a:lstStyle/>
          <a:p>
            <a:pPr marL="0" indent="0">
              <a:buNone/>
            </a:pPr>
            <a:r>
              <a:rPr lang="en-US" sz="1400" b="1" dirty="0">
                <a:solidFill>
                  <a:schemeClr val="tx1"/>
                </a:solidFill>
              </a:rPr>
              <a:t>Fix  </a:t>
            </a:r>
            <a:r>
              <a:rPr lang="en-US" sz="1400" dirty="0">
                <a:solidFill>
                  <a:schemeClr val="tx1"/>
                </a:solidFill>
              </a:rPr>
              <a:t>In product-catalog: a ~1 s query timeout, a circuit breaker, and the last good catalog served from memory.</a:t>
            </a:r>
            <a:endParaRPr lang="en-US" sz="1400" dirty="0"/>
          </a:p>
        </p:txBody>
      </p:sp>
      <p:sp>
        <p:nvSpPr>
          <p:cNvPr id="18" name="Text 15"/>
          <p:cNvSpPr txBox="1"/>
          <p:nvPr/>
        </p:nvSpPr>
        <p:spPr>
          <a:xfrm>
            <a:off x="822960" y="4206240"/>
            <a:ext cx="4861408" cy="320040"/>
          </a:xfrm>
          <a:prstGeom prst="rect">
            <a:avLst/>
          </a:prstGeom>
          <a:noFill/>
          <a:ln/>
        </p:spPr>
        <p:txBody>
          <a:bodyPr wrap="square" lIns="0" tIns="0" rIns="0" bIns="0" rtlCol="0" anchor="t"/>
          <a:lstStyle/>
          <a:p>
            <a:pPr marL="0" indent="0">
              <a:buNone/>
            </a:pPr>
            <a:r>
              <a:rPr lang="en-US" sz="1250" i="1" dirty="0">
                <a:solidFill>
                  <a:schemeClr val="accent2"/>
                </a:solidFill>
              </a:rPr>
              <a:t>Corrected by a person: the fixer's draft pointed at recommendation calls.</a:t>
            </a:r>
            <a:endParaRPr lang="en-US" sz="1250" dirty="0"/>
          </a:p>
        </p:txBody>
      </p:sp>
      <p:sp>
        <p:nvSpPr>
          <p:cNvPr id="19" name="card"/>
          <p:cNvSpPr/>
          <p:nvPr/>
        </p:nvSpPr>
        <p:spPr>
          <a:xfrm>
            <a:off x="6233008" y="1737360"/>
            <a:ext cx="5410048" cy="2926080"/>
          </a:xfrm>
          <a:prstGeom prst="roundRect">
            <a:avLst>
              <a:gd name="adj" fmla="val 1875"/>
            </a:avLst>
          </a:prstGeom>
          <a:solidFill>
            <a:schemeClr val="bg1"/>
          </a:solidFill>
          <a:ln w="9525">
            <a:solidFill>
              <a:schemeClr val="tx2">
                <a:alpha val="28000"/>
              </a:schemeClr>
            </a:solidFill>
            <a:prstDash val="solid"/>
          </a:ln>
        </p:spPr>
        <p:txBody>
          <a:bodyPr/>
          <a:lstStyle/>
          <a:p>
            <a:endParaRPr lang="en-IN"/>
          </a:p>
        </p:txBody>
      </p:sp>
      <p:sp>
        <p:nvSpPr>
          <p:cNvPr id="20" name="pill"/>
          <p:cNvSpPr/>
          <p:nvPr/>
        </p:nvSpPr>
        <p:spPr>
          <a:xfrm>
            <a:off x="6507328" y="1938528"/>
            <a:ext cx="449519" cy="274320"/>
          </a:xfrm>
          <a:prstGeom prst="roundRect">
            <a:avLst>
              <a:gd name="adj" fmla="val 50000"/>
            </a:avLst>
          </a:prstGeom>
          <a:solidFill>
            <a:schemeClr val="accent1"/>
          </a:solidFill>
          <a:ln/>
        </p:spPr>
        <p:txBody>
          <a:bodyPr/>
          <a:lstStyle/>
          <a:p>
            <a:endParaRPr lang="en-IN"/>
          </a:p>
        </p:txBody>
      </p:sp>
      <p:sp>
        <p:nvSpPr>
          <p:cNvPr id="21" name="Text 18"/>
          <p:cNvSpPr txBox="1"/>
          <p:nvPr/>
        </p:nvSpPr>
        <p:spPr>
          <a:xfrm>
            <a:off x="6507328" y="1938528"/>
            <a:ext cx="449519" cy="274320"/>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22" name="pill"/>
          <p:cNvSpPr/>
          <p:nvPr/>
        </p:nvSpPr>
        <p:spPr>
          <a:xfrm>
            <a:off x="7048287" y="1938528"/>
            <a:ext cx="606430" cy="274320"/>
          </a:xfrm>
          <a:prstGeom prst="roundRect">
            <a:avLst>
              <a:gd name="adj" fmla="val 50000"/>
            </a:avLst>
          </a:prstGeom>
          <a:solidFill>
            <a:schemeClr val="accent6">
              <a:alpha val="18000"/>
            </a:schemeClr>
          </a:solidFill>
          <a:ln/>
        </p:spPr>
        <p:txBody>
          <a:bodyPr/>
          <a:lstStyle/>
          <a:p>
            <a:endParaRPr lang="en-IN"/>
          </a:p>
        </p:txBody>
      </p:sp>
      <p:sp>
        <p:nvSpPr>
          <p:cNvPr id="23" name="Text 20"/>
          <p:cNvSpPr txBox="1"/>
          <p:nvPr/>
        </p:nvSpPr>
        <p:spPr>
          <a:xfrm>
            <a:off x="7048287" y="1938528"/>
            <a:ext cx="606430" cy="274320"/>
          </a:xfrm>
          <a:prstGeom prst="rect">
            <a:avLst/>
          </a:prstGeom>
          <a:noFill/>
          <a:ln/>
        </p:spPr>
        <p:txBody>
          <a:bodyPr wrap="square" lIns="0" tIns="0" rIns="0" bIns="0" rtlCol="0" anchor="ctr"/>
          <a:lstStyle/>
          <a:p>
            <a:pPr marL="0" indent="0" algn="ctr">
              <a:buNone/>
            </a:pPr>
            <a:r>
              <a:rPr lang="en-US" sz="1100" b="1" dirty="0">
                <a:solidFill>
                  <a:schemeClr val="tx1"/>
                </a:solidFill>
              </a:rPr>
              <a:t>high</a:t>
            </a:r>
            <a:endParaRPr lang="en-US" sz="1100" dirty="0"/>
          </a:p>
        </p:txBody>
      </p:sp>
      <p:sp>
        <p:nvSpPr>
          <p:cNvPr id="24" name="pill"/>
          <p:cNvSpPr/>
          <p:nvPr/>
        </p:nvSpPr>
        <p:spPr>
          <a:xfrm>
            <a:off x="7746157" y="1938528"/>
            <a:ext cx="920252" cy="274320"/>
          </a:xfrm>
          <a:prstGeom prst="roundRect">
            <a:avLst>
              <a:gd name="adj" fmla="val 50000"/>
            </a:avLst>
          </a:prstGeom>
          <a:solidFill>
            <a:schemeClr val="tx2">
              <a:alpha val="18000"/>
            </a:schemeClr>
          </a:solidFill>
          <a:ln/>
        </p:spPr>
        <p:txBody>
          <a:bodyPr/>
          <a:lstStyle/>
          <a:p>
            <a:endParaRPr lang="en-IN"/>
          </a:p>
        </p:txBody>
      </p:sp>
      <p:sp>
        <p:nvSpPr>
          <p:cNvPr id="25" name="Text 22"/>
          <p:cNvSpPr txBox="1"/>
          <p:nvPr/>
        </p:nvSpPr>
        <p:spPr>
          <a:xfrm>
            <a:off x="7746157" y="1938528"/>
            <a:ext cx="920252" cy="274320"/>
          </a:xfrm>
          <a:prstGeom prst="rect">
            <a:avLst/>
          </a:prstGeom>
          <a:noFill/>
          <a:ln/>
        </p:spPr>
        <p:txBody>
          <a:bodyPr wrap="square" lIns="0" tIns="0" rIns="0" bIns="0" rtlCol="0" anchor="ctr"/>
          <a:lstStyle/>
          <a:p>
            <a:pPr marL="0" indent="0" algn="ctr">
              <a:buNone/>
            </a:pPr>
            <a:r>
              <a:rPr lang="en-US" sz="1100" b="1" dirty="0">
                <a:solidFill>
                  <a:schemeClr val="tx1"/>
                </a:solidFill>
              </a:rPr>
              <a:t>targeted</a:t>
            </a:r>
            <a:endParaRPr lang="en-US" sz="1100" dirty="0"/>
          </a:p>
        </p:txBody>
      </p:sp>
      <p:sp>
        <p:nvSpPr>
          <p:cNvPr id="26" name="pill"/>
          <p:cNvSpPr/>
          <p:nvPr/>
        </p:nvSpPr>
        <p:spPr>
          <a:xfrm>
            <a:off x="8757849" y="1938528"/>
            <a:ext cx="1861718" cy="274320"/>
          </a:xfrm>
          <a:prstGeom prst="roundRect">
            <a:avLst>
              <a:gd name="adj" fmla="val 50000"/>
            </a:avLst>
          </a:prstGeom>
          <a:solidFill>
            <a:schemeClr val="accent1">
              <a:alpha val="18000"/>
            </a:schemeClr>
          </a:solidFill>
          <a:ln/>
        </p:spPr>
        <p:txBody>
          <a:bodyPr/>
          <a:lstStyle/>
          <a:p>
            <a:endParaRPr lang="en-IN"/>
          </a:p>
        </p:txBody>
      </p:sp>
      <p:sp>
        <p:nvSpPr>
          <p:cNvPr id="27" name="Text 24"/>
          <p:cNvSpPr txBox="1"/>
          <p:nvPr/>
        </p:nvSpPr>
        <p:spPr>
          <a:xfrm>
            <a:off x="8757849" y="1938528"/>
            <a:ext cx="1861718" cy="274320"/>
          </a:xfrm>
          <a:prstGeom prst="rect">
            <a:avLst/>
          </a:prstGeom>
          <a:noFill/>
          <a:ln/>
        </p:spPr>
        <p:txBody>
          <a:bodyPr wrap="square" lIns="0" tIns="0" rIns="0" bIns="0" rtlCol="0" anchor="ctr"/>
          <a:lstStyle/>
          <a:p>
            <a:pPr marL="0" indent="0" algn="ctr">
              <a:buNone/>
            </a:pPr>
            <a:r>
              <a:rPr lang="en-US" sz="1100" b="1" dirty="0">
                <a:solidFill>
                  <a:schemeClr val="tx1"/>
                </a:solidFill>
              </a:rPr>
              <a:t>leverage 3 ÷ 2 = 1.5</a:t>
            </a:r>
            <a:endParaRPr lang="en-US" sz="1100" dirty="0"/>
          </a:p>
        </p:txBody>
      </p:sp>
      <p:sp>
        <p:nvSpPr>
          <p:cNvPr id="28" name="Text 25"/>
          <p:cNvSpPr txBox="1"/>
          <p:nvPr/>
        </p:nvSpPr>
        <p:spPr>
          <a:xfrm>
            <a:off x="6507328" y="2331720"/>
            <a:ext cx="4861408" cy="411480"/>
          </a:xfrm>
          <a:prstGeom prst="rect">
            <a:avLst/>
          </a:prstGeom>
          <a:noFill/>
          <a:ln/>
        </p:spPr>
        <p:txBody>
          <a:bodyPr wrap="square" lIns="0" tIns="0" rIns="0" bIns="0" rtlCol="0" anchor="t"/>
          <a:lstStyle/>
          <a:p>
            <a:pPr marL="0" indent="0">
              <a:buNone/>
            </a:pPr>
            <a:r>
              <a:rPr lang="en-US" sz="2100" dirty="0">
                <a:solidFill>
                  <a:schemeClr val="tx1"/>
                </a:solidFill>
                <a:latin typeface="+mj-lt" pitchFamily="34" charset="0"/>
                <a:ea typeface="+mj-lt" pitchFamily="34" charset="-122"/>
                <a:cs typeface="+mj-lt" pitchFamily="34" charset="-120"/>
              </a:rPr>
              <a:t>Customers charged, then no order</a:t>
            </a:r>
            <a:endParaRPr lang="en-US" sz="2100" dirty="0"/>
          </a:p>
        </p:txBody>
      </p:sp>
      <p:sp>
        <p:nvSpPr>
          <p:cNvPr id="29" name="Text 26"/>
          <p:cNvSpPr txBox="1"/>
          <p:nvPr/>
        </p:nvSpPr>
        <p:spPr>
          <a:xfrm>
            <a:off x="6507328" y="2743200"/>
            <a:ext cx="4861408" cy="274320"/>
          </a:xfrm>
          <a:prstGeom prst="rect">
            <a:avLst/>
          </a:prstGeom>
          <a:noFill/>
          <a:ln/>
        </p:spPr>
        <p:txBody>
          <a:bodyPr wrap="square" lIns="0" tIns="0" rIns="0" bIns="0" rtlCol="0" anchor="t"/>
          <a:lstStyle/>
          <a:p>
            <a:pPr marL="0" indent="0">
              <a:buNone/>
            </a:pPr>
            <a:r>
              <a:rPr lang="en-US" sz="1300" dirty="0">
                <a:solidFill>
                  <a:schemeClr val="tx2"/>
                </a:solidFill>
              </a:rPr>
              <a:t>shipping-ship-errors</a:t>
            </a:r>
            <a:endParaRPr lang="en-US" sz="1300" dirty="0"/>
          </a:p>
        </p:txBody>
      </p:sp>
      <p:sp>
        <p:nvSpPr>
          <p:cNvPr id="30" name="Text 27"/>
          <p:cNvSpPr txBox="1"/>
          <p:nvPr/>
        </p:nvSpPr>
        <p:spPr>
          <a:xfrm>
            <a:off x="6507328" y="3108960"/>
            <a:ext cx="4861408" cy="502920"/>
          </a:xfrm>
          <a:prstGeom prst="rect">
            <a:avLst/>
          </a:prstGeom>
          <a:noFill/>
          <a:ln/>
        </p:spPr>
        <p:txBody>
          <a:bodyPr wrap="square" lIns="0" tIns="0" rIns="0" bIns="0" rtlCol="0" anchor="t"/>
          <a:lstStyle/>
          <a:p>
            <a:pPr marL="0" indent="0">
              <a:buNone/>
            </a:pPr>
            <a:r>
              <a:rPr lang="en-US" sz="1400" b="1" dirty="0">
                <a:solidFill>
                  <a:schemeClr val="tx1"/>
                </a:solidFill>
              </a:rPr>
              <a:t>What broke  </a:t>
            </a:r>
            <a:r>
              <a:rPr lang="en-US" sz="1400" dirty="0">
                <a:solidFill>
                  <a:schemeClr val="tx1"/>
                </a:solidFill>
              </a:rPr>
              <a:t>checkout errors 0 % → 91 % (20 of 22 calls), after the card is charged.</a:t>
            </a:r>
            <a:endParaRPr lang="en-US" sz="1400" dirty="0"/>
          </a:p>
        </p:txBody>
      </p:sp>
      <p:sp>
        <p:nvSpPr>
          <p:cNvPr id="31" name="Text 28"/>
          <p:cNvSpPr txBox="1"/>
          <p:nvPr/>
        </p:nvSpPr>
        <p:spPr>
          <a:xfrm>
            <a:off x="6507328" y="3611880"/>
            <a:ext cx="4861408" cy="548640"/>
          </a:xfrm>
          <a:prstGeom prst="rect">
            <a:avLst/>
          </a:prstGeom>
          <a:noFill/>
          <a:ln/>
        </p:spPr>
        <p:txBody>
          <a:bodyPr wrap="square" lIns="0" tIns="0" rIns="0" bIns="0" rtlCol="0" anchor="t"/>
          <a:lstStyle/>
          <a:p>
            <a:pPr marL="0" indent="0">
              <a:buNone/>
            </a:pPr>
            <a:r>
              <a:rPr lang="en-US" sz="1400" b="1" dirty="0">
                <a:solidFill>
                  <a:schemeClr val="tx1"/>
                </a:solidFill>
              </a:rPr>
              <a:t>Fix  </a:t>
            </a:r>
            <a:r>
              <a:rPr lang="en-US" sz="1400" dirty="0">
                <a:solidFill>
                  <a:schemeClr val="tx1"/>
                </a:solidFill>
              </a:rPr>
              <a:t>Reserve shipping before charging, or refund when shipping fails.</a:t>
            </a:r>
            <a:endParaRPr lang="en-US" sz="1400" dirty="0"/>
          </a:p>
        </p:txBody>
      </p:sp>
      <p:sp>
        <p:nvSpPr>
          <p:cNvPr id="32" name="card"/>
          <p:cNvSpPr/>
          <p:nvPr/>
        </p:nvSpPr>
        <p:spPr>
          <a:xfrm>
            <a:off x="548640" y="4892040"/>
            <a:ext cx="2602154" cy="1280160"/>
          </a:xfrm>
          <a:prstGeom prst="roundRect">
            <a:avLst>
              <a:gd name="adj" fmla="val 4286"/>
            </a:avLst>
          </a:prstGeom>
          <a:solidFill>
            <a:schemeClr val="bg1"/>
          </a:solidFill>
          <a:ln w="9525">
            <a:solidFill>
              <a:schemeClr val="tx2">
                <a:alpha val="28000"/>
              </a:schemeClr>
            </a:solidFill>
            <a:prstDash val="solid"/>
          </a:ln>
        </p:spPr>
        <p:txBody>
          <a:bodyPr/>
          <a:lstStyle/>
          <a:p>
            <a:endParaRPr lang="en-IN"/>
          </a:p>
        </p:txBody>
      </p:sp>
      <p:sp>
        <p:nvSpPr>
          <p:cNvPr id="33" name="Text 30"/>
          <p:cNvSpPr txBox="1"/>
          <p:nvPr/>
        </p:nvSpPr>
        <p:spPr>
          <a:xfrm>
            <a:off x="777240" y="5029200"/>
            <a:ext cx="2144954" cy="548640"/>
          </a:xfrm>
          <a:prstGeom prst="rect">
            <a:avLst/>
          </a:prstGeom>
          <a:noFill/>
          <a:ln/>
        </p:spPr>
        <p:txBody>
          <a:bodyPr wrap="square" lIns="0" tIns="0" rIns="0" bIns="0" rtlCol="0" anchor="t"/>
          <a:lstStyle/>
          <a:p>
            <a:pPr marL="0" indent="0">
              <a:buNone/>
            </a:pPr>
            <a:r>
              <a:rPr lang="en-US" sz="2800" dirty="0">
                <a:solidFill>
                  <a:schemeClr val="accent1"/>
                </a:solidFill>
                <a:latin typeface="+mj-lt" pitchFamily="34" charset="0"/>
                <a:ea typeface="+mj-lt" pitchFamily="34" charset="-122"/>
                <a:cs typeface="+mj-lt" pitchFamily="34" charset="-120"/>
              </a:rPr>
              <a:t>67/100</a:t>
            </a:r>
            <a:endParaRPr lang="en-US" sz="2800" dirty="0"/>
          </a:p>
        </p:txBody>
      </p:sp>
      <p:sp>
        <p:nvSpPr>
          <p:cNvPr id="34" name="Text 31"/>
          <p:cNvSpPr txBox="1"/>
          <p:nvPr/>
        </p:nvSpPr>
        <p:spPr>
          <a:xfrm>
            <a:off x="777240" y="5605272"/>
            <a:ext cx="2144954" cy="502920"/>
          </a:xfrm>
          <a:prstGeom prst="rect">
            <a:avLst/>
          </a:prstGeom>
          <a:noFill/>
          <a:ln/>
        </p:spPr>
        <p:txBody>
          <a:bodyPr wrap="square" lIns="0" tIns="0" rIns="0" bIns="0" rtlCol="0" anchor="t"/>
          <a:lstStyle/>
          <a:p>
            <a:pPr marL="0" indent="0">
              <a:buNone/>
            </a:pPr>
            <a:r>
              <a:rPr lang="en-US" sz="1250" dirty="0">
                <a:solidFill>
                  <a:schemeClr val="tx2"/>
                </a:solidFill>
              </a:rPr>
              <a:t>resilience score, 2026-10-11 03:30 UTC</a:t>
            </a:r>
            <a:endParaRPr lang="en-US" sz="1250" dirty="0"/>
          </a:p>
        </p:txBody>
      </p:sp>
      <p:sp>
        <p:nvSpPr>
          <p:cNvPr id="35" name="card"/>
          <p:cNvSpPr/>
          <p:nvPr/>
        </p:nvSpPr>
        <p:spPr>
          <a:xfrm>
            <a:off x="3379394" y="4892040"/>
            <a:ext cx="2602154" cy="1280160"/>
          </a:xfrm>
          <a:prstGeom prst="roundRect">
            <a:avLst>
              <a:gd name="adj" fmla="val 4286"/>
            </a:avLst>
          </a:prstGeom>
          <a:solidFill>
            <a:schemeClr val="bg1"/>
          </a:solidFill>
          <a:ln w="9525">
            <a:solidFill>
              <a:schemeClr val="tx2">
                <a:alpha val="28000"/>
              </a:schemeClr>
            </a:solidFill>
            <a:prstDash val="solid"/>
          </a:ln>
        </p:spPr>
        <p:txBody>
          <a:bodyPr/>
          <a:lstStyle/>
          <a:p>
            <a:endParaRPr lang="en-IN"/>
          </a:p>
        </p:txBody>
      </p:sp>
      <p:sp>
        <p:nvSpPr>
          <p:cNvPr id="36" name="Text 33"/>
          <p:cNvSpPr txBox="1"/>
          <p:nvPr/>
        </p:nvSpPr>
        <p:spPr>
          <a:xfrm>
            <a:off x="3607994" y="5029200"/>
            <a:ext cx="2144954" cy="548640"/>
          </a:xfrm>
          <a:prstGeom prst="rect">
            <a:avLst/>
          </a:prstGeom>
          <a:noFill/>
          <a:ln/>
        </p:spPr>
        <p:txBody>
          <a:bodyPr wrap="square" lIns="0" tIns="0" rIns="0" bIns="0" rtlCol="0" anchor="t"/>
          <a:lstStyle/>
          <a:p>
            <a:pPr marL="0" indent="0">
              <a:buNone/>
            </a:pPr>
            <a:r>
              <a:rPr lang="en-US" sz="2800" dirty="0">
                <a:solidFill>
                  <a:schemeClr val="accent1"/>
                </a:solidFill>
                <a:latin typeface="+mj-lt" pitchFamily="34" charset="0"/>
                <a:ea typeface="+mj-lt" pitchFamily="34" charset="-122"/>
                <a:cs typeface="+mj-lt" pitchFamily="34" charset="-120"/>
              </a:rPr>
              <a:t>100 %</a:t>
            </a:r>
            <a:endParaRPr lang="en-US" sz="2800" dirty="0"/>
          </a:p>
        </p:txBody>
      </p:sp>
      <p:sp>
        <p:nvSpPr>
          <p:cNvPr id="37" name="Text 34"/>
          <p:cNvSpPr txBox="1"/>
          <p:nvPr/>
        </p:nvSpPr>
        <p:spPr>
          <a:xfrm>
            <a:off x="3607994" y="5605272"/>
            <a:ext cx="2144954" cy="502920"/>
          </a:xfrm>
          <a:prstGeom prst="rect">
            <a:avLst/>
          </a:prstGeom>
          <a:noFill/>
          <a:ln/>
        </p:spPr>
        <p:txBody>
          <a:bodyPr wrap="square" lIns="0" tIns="0" rIns="0" bIns="0" rtlCol="0" anchor="t"/>
          <a:lstStyle/>
          <a:p>
            <a:pPr marL="0" indent="0">
              <a:buNone/>
            </a:pPr>
            <a:r>
              <a:rPr lang="en-US" sz="1250" dirty="0">
                <a:solidFill>
                  <a:schemeClr val="tx2"/>
                </a:solidFill>
              </a:rPr>
              <a:t>evidence check on both analyst notes</a:t>
            </a:r>
            <a:endParaRPr lang="en-US" sz="1250" dirty="0"/>
          </a:p>
        </p:txBody>
      </p:sp>
      <p:sp>
        <p:nvSpPr>
          <p:cNvPr id="38" name="card"/>
          <p:cNvSpPr/>
          <p:nvPr/>
        </p:nvSpPr>
        <p:spPr>
          <a:xfrm>
            <a:off x="6210148" y="4892040"/>
            <a:ext cx="2602154" cy="1280160"/>
          </a:xfrm>
          <a:prstGeom prst="roundRect">
            <a:avLst>
              <a:gd name="adj" fmla="val 4286"/>
            </a:avLst>
          </a:prstGeom>
          <a:solidFill>
            <a:schemeClr val="bg1"/>
          </a:solidFill>
          <a:ln w="9525">
            <a:solidFill>
              <a:schemeClr val="tx2">
                <a:alpha val="28000"/>
              </a:schemeClr>
            </a:solidFill>
            <a:prstDash val="solid"/>
          </a:ln>
        </p:spPr>
        <p:txBody>
          <a:bodyPr/>
          <a:lstStyle/>
          <a:p>
            <a:endParaRPr lang="en-IN"/>
          </a:p>
        </p:txBody>
      </p:sp>
      <p:sp>
        <p:nvSpPr>
          <p:cNvPr id="39" name="Text 36"/>
          <p:cNvSpPr txBox="1"/>
          <p:nvPr/>
        </p:nvSpPr>
        <p:spPr>
          <a:xfrm>
            <a:off x="6438748" y="5029200"/>
            <a:ext cx="2144954" cy="548640"/>
          </a:xfrm>
          <a:prstGeom prst="rect">
            <a:avLst/>
          </a:prstGeom>
          <a:noFill/>
          <a:ln/>
        </p:spPr>
        <p:txBody>
          <a:bodyPr wrap="square" lIns="0" tIns="0" rIns="0" bIns="0" rtlCol="0" anchor="t"/>
          <a:lstStyle/>
          <a:p>
            <a:pPr marL="0" indent="0">
              <a:buNone/>
            </a:pPr>
            <a:r>
              <a:rPr lang="en-US" sz="2800" dirty="0">
                <a:solidFill>
                  <a:schemeClr val="accent1"/>
                </a:solidFill>
                <a:latin typeface="+mj-lt" pitchFamily="34" charset="0"/>
                <a:ea typeface="+mj-lt" pitchFamily="34" charset="-122"/>
                <a:cs typeface="+mj-lt" pitchFamily="34" charset="-120"/>
              </a:rPr>
              <a:t>2 of 2</a:t>
            </a:r>
            <a:endParaRPr lang="en-US" sz="2800" dirty="0"/>
          </a:p>
        </p:txBody>
      </p:sp>
      <p:sp>
        <p:nvSpPr>
          <p:cNvPr id="40" name="Text 37"/>
          <p:cNvSpPr txBox="1"/>
          <p:nvPr/>
        </p:nvSpPr>
        <p:spPr>
          <a:xfrm>
            <a:off x="6438748" y="5605272"/>
            <a:ext cx="2144954" cy="502920"/>
          </a:xfrm>
          <a:prstGeom prst="rect">
            <a:avLst/>
          </a:prstGeom>
          <a:noFill/>
          <a:ln/>
        </p:spPr>
        <p:txBody>
          <a:bodyPr wrap="square" lIns="0" tIns="0" rIns="0" bIns="0" rtlCol="0" anchor="t"/>
          <a:lstStyle/>
          <a:p>
            <a:pPr marL="0" indent="0">
              <a:buNone/>
            </a:pPr>
            <a:r>
              <a:rPr lang="en-US" sz="1250" dirty="0">
                <a:solidFill>
                  <a:schemeClr val="tx2"/>
                </a:solidFill>
              </a:rPr>
              <a:t>tiers the planner predicted right</a:t>
            </a:r>
            <a:endParaRPr lang="en-US" sz="1250" dirty="0"/>
          </a:p>
        </p:txBody>
      </p:sp>
      <p:sp>
        <p:nvSpPr>
          <p:cNvPr id="41" name="card"/>
          <p:cNvSpPr/>
          <p:nvPr/>
        </p:nvSpPr>
        <p:spPr>
          <a:xfrm>
            <a:off x="9040901" y="4892040"/>
            <a:ext cx="2602154" cy="1280160"/>
          </a:xfrm>
          <a:prstGeom prst="roundRect">
            <a:avLst>
              <a:gd name="adj" fmla="val 4286"/>
            </a:avLst>
          </a:prstGeom>
          <a:solidFill>
            <a:schemeClr val="bg1"/>
          </a:solidFill>
          <a:ln w="9525">
            <a:solidFill>
              <a:schemeClr val="tx2">
                <a:alpha val="28000"/>
              </a:schemeClr>
            </a:solidFill>
            <a:prstDash val="solid"/>
          </a:ln>
        </p:spPr>
        <p:txBody>
          <a:bodyPr/>
          <a:lstStyle/>
          <a:p>
            <a:endParaRPr lang="en-IN"/>
          </a:p>
        </p:txBody>
      </p:sp>
      <p:sp>
        <p:nvSpPr>
          <p:cNvPr id="42" name="Text 39"/>
          <p:cNvSpPr txBox="1"/>
          <p:nvPr/>
        </p:nvSpPr>
        <p:spPr>
          <a:xfrm>
            <a:off x="9269501" y="5029200"/>
            <a:ext cx="2144954" cy="548640"/>
          </a:xfrm>
          <a:prstGeom prst="rect">
            <a:avLst/>
          </a:prstGeom>
          <a:noFill/>
          <a:ln/>
        </p:spPr>
        <p:txBody>
          <a:bodyPr wrap="square" lIns="0" tIns="0" rIns="0" bIns="0" rtlCol="0" anchor="t"/>
          <a:lstStyle/>
          <a:p>
            <a:pPr marL="0" indent="0">
              <a:buNone/>
            </a:pPr>
            <a:r>
              <a:rPr lang="en-US" sz="2800" dirty="0">
                <a:solidFill>
                  <a:schemeClr val="accent2"/>
                </a:solidFill>
                <a:latin typeface="+mj-lt" pitchFamily="34" charset="0"/>
                <a:ea typeface="+mj-lt" pitchFamily="34" charset="-122"/>
                <a:cs typeface="+mj-lt" pitchFamily="34" charset="-120"/>
              </a:rPr>
              <a:t>1 held back</a:t>
            </a:r>
            <a:endParaRPr lang="en-US" sz="2800" dirty="0"/>
          </a:p>
        </p:txBody>
      </p:sp>
      <p:sp>
        <p:nvSpPr>
          <p:cNvPr id="43" name="Text 40"/>
          <p:cNvSpPr txBox="1"/>
          <p:nvPr/>
        </p:nvSpPr>
        <p:spPr>
          <a:xfrm>
            <a:off x="9269501" y="5605272"/>
            <a:ext cx="2144954" cy="502920"/>
          </a:xfrm>
          <a:prstGeom prst="rect">
            <a:avLst/>
          </a:prstGeom>
          <a:noFill/>
          <a:ln/>
        </p:spPr>
        <p:txBody>
          <a:bodyPr wrap="square" lIns="0" tIns="0" rIns="0" bIns="0" rtlCol="0" anchor="t"/>
          <a:lstStyle/>
          <a:p>
            <a:pPr marL="0" indent="0">
              <a:buNone/>
            </a:pPr>
            <a:r>
              <a:rPr lang="en-US" sz="1250" dirty="0">
                <a:solidFill>
                  <a:schemeClr val="tx2"/>
                </a:solidFill>
              </a:rPr>
              <a:t>catalog-kill queued, not approved, never ran</a:t>
            </a:r>
            <a:endParaRPr lang="en-US" sz="125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Three longer sessions</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Same cluster, too long for the 3-minute video. Each one found something the others didn't.</a:t>
            </a:r>
            <a:endParaRPr lang="en-US" sz="1600" dirty="0"/>
          </a:p>
        </p:txBody>
      </p:sp>
      <p:sp>
        <p:nvSpPr>
          <p:cNvPr id="5" name="card"/>
          <p:cNvSpPr/>
          <p:nvPr/>
        </p:nvSpPr>
        <p:spPr>
          <a:xfrm>
            <a:off x="548640" y="1737360"/>
            <a:ext cx="11094415" cy="1115568"/>
          </a:xfrm>
          <a:prstGeom prst="roundRect">
            <a:avLst>
              <a:gd name="adj" fmla="val 4918"/>
            </a:avLst>
          </a:prstGeom>
          <a:solidFill>
            <a:schemeClr val="bg1"/>
          </a:solidFill>
          <a:ln w="9525">
            <a:solidFill>
              <a:schemeClr val="tx2">
                <a:alpha val="28000"/>
              </a:schemeClr>
            </a:solidFill>
            <a:prstDash val="solid"/>
          </a:ln>
        </p:spPr>
        <p:txBody>
          <a:bodyPr/>
          <a:lstStyle/>
          <a:p>
            <a:endParaRPr lang="en-IN"/>
          </a:p>
        </p:txBody>
      </p:sp>
      <p:sp>
        <p:nvSpPr>
          <p:cNvPr id="6" name="Text 3"/>
          <p:cNvSpPr txBox="1"/>
          <p:nvPr/>
        </p:nvSpPr>
        <p:spPr>
          <a:xfrm>
            <a:off x="777240" y="1920240"/>
            <a:ext cx="1828800" cy="73152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Session 3</a:t>
            </a:r>
            <a:endParaRPr lang="en-US" sz="1400" dirty="0"/>
          </a:p>
          <a:p>
            <a:pPr marL="0" indent="0">
              <a:buNone/>
            </a:pPr>
            <a:r>
              <a:rPr lang="en-US" sz="1200" dirty="0">
                <a:solidFill>
                  <a:schemeClr val="tx2"/>
                </a:solidFill>
              </a:rPr>
              <a:t>2026-10-11 02:59 UTC</a:t>
            </a:r>
            <a:endParaRPr lang="en-US" sz="1400" dirty="0"/>
          </a:p>
        </p:txBody>
      </p:sp>
      <p:sp>
        <p:nvSpPr>
          <p:cNvPr id="7" name="Text 4"/>
          <p:cNvSpPr txBox="1"/>
          <p:nvPr/>
        </p:nvSpPr>
        <p:spPr>
          <a:xfrm>
            <a:off x="2651760" y="1920240"/>
            <a:ext cx="1234440" cy="548640"/>
          </a:xfrm>
          <a:prstGeom prst="rect">
            <a:avLst/>
          </a:prstGeom>
          <a:noFill/>
          <a:ln/>
        </p:spPr>
        <p:txBody>
          <a:bodyPr wrap="square" lIns="0" tIns="0" rIns="0" bIns="0" rtlCol="0" anchor="t"/>
          <a:lstStyle/>
          <a:p>
            <a:pPr marL="0" indent="0">
              <a:buNone/>
            </a:pPr>
            <a:r>
              <a:rPr lang="en-US" sz="2800" dirty="0">
                <a:solidFill>
                  <a:schemeClr val="accent1"/>
                </a:solidFill>
                <a:latin typeface="+mj-lt" pitchFamily="34" charset="0"/>
                <a:ea typeface="+mj-lt" pitchFamily="34" charset="-122"/>
                <a:cs typeface="+mj-lt" pitchFamily="34" charset="-120"/>
              </a:rPr>
              <a:t>73</a:t>
            </a:r>
            <a:r>
              <a:rPr lang="en-US" sz="1300" dirty="0">
                <a:solidFill>
                  <a:schemeClr val="tx2"/>
                </a:solidFill>
              </a:rPr>
              <a:t> /100</a:t>
            </a:r>
            <a:endParaRPr lang="en-US" sz="1400" dirty="0"/>
          </a:p>
        </p:txBody>
      </p:sp>
      <p:sp>
        <p:nvSpPr>
          <p:cNvPr id="8" name="Text 5"/>
          <p:cNvSpPr txBox="1"/>
          <p:nvPr/>
        </p:nvSpPr>
        <p:spPr>
          <a:xfrm>
            <a:off x="2651760" y="2450592"/>
            <a:ext cx="1234440" cy="274320"/>
          </a:xfrm>
          <a:prstGeom prst="rect">
            <a:avLst/>
          </a:prstGeom>
          <a:noFill/>
          <a:ln/>
        </p:spPr>
        <p:txBody>
          <a:bodyPr wrap="square" lIns="0" tIns="0" rIns="0" bIns="0" rtlCol="0" anchor="t"/>
          <a:lstStyle/>
          <a:p>
            <a:pPr marL="0" indent="0">
              <a:buNone/>
            </a:pPr>
            <a:r>
              <a:rPr lang="en-US" sz="1100" dirty="0">
                <a:solidFill>
                  <a:schemeClr val="tx2"/>
                </a:solidFill>
              </a:rPr>
              <a:t>resilience</a:t>
            </a:r>
            <a:endParaRPr lang="en-US" sz="1100" dirty="0"/>
          </a:p>
        </p:txBody>
      </p:sp>
      <p:sp>
        <p:nvSpPr>
          <p:cNvPr id="9" name="Text 6"/>
          <p:cNvSpPr txBox="1"/>
          <p:nvPr/>
        </p:nvSpPr>
        <p:spPr>
          <a:xfrm>
            <a:off x="3977640" y="1828800"/>
            <a:ext cx="2926080" cy="932688"/>
          </a:xfrm>
          <a:prstGeom prst="rect">
            <a:avLst/>
          </a:prstGeom>
          <a:noFill/>
          <a:ln/>
        </p:spPr>
        <p:txBody>
          <a:bodyPr wrap="square" lIns="0" tIns="0" rIns="0" bIns="0" rtlCol="0" anchor="ctr"/>
          <a:lstStyle/>
          <a:p>
            <a:pPr marL="0" indent="0">
              <a:buNone/>
            </a:pPr>
            <a:r>
              <a:rPr lang="en-US" sz="1250" dirty="0">
                <a:solidFill>
                  <a:schemeClr val="tx2"/>
                </a:solidFill>
              </a:rPr>
              <a:t>catalog-db-cutoff</a:t>
            </a:r>
            <a:endParaRPr lang="en-US" sz="1250" dirty="0"/>
          </a:p>
          <a:p>
            <a:pPr marL="0" indent="0">
              <a:buNone/>
            </a:pPr>
            <a:r>
              <a:rPr lang="en-US" sz="1250" dirty="0">
                <a:solidFill>
                  <a:schemeClr val="tx2"/>
                </a:solidFill>
              </a:rPr>
              <a:t>catalog-kill</a:t>
            </a:r>
            <a:endParaRPr lang="en-US" sz="1250" dirty="0"/>
          </a:p>
          <a:p>
            <a:pPr marL="0" indent="0">
              <a:buNone/>
            </a:pPr>
            <a:r>
              <a:rPr lang="en-US" sz="1250" dirty="0">
                <a:solidFill>
                  <a:schemeClr val="tx2"/>
                </a:solidFill>
              </a:rPr>
              <a:t>shipping-ship-errors</a:t>
            </a:r>
            <a:endParaRPr lang="en-US" sz="1250" dirty="0"/>
          </a:p>
          <a:p>
            <a:pPr marL="0" indent="0">
              <a:buNone/>
            </a:pPr>
            <a:r>
              <a:rPr lang="en-US" sz="1250" dirty="0">
                <a:solidFill>
                  <a:schemeClr val="tx2"/>
                </a:solidFill>
              </a:rPr>
              <a:t>blast-loss</a:t>
            </a:r>
            <a:endParaRPr lang="en-US" sz="1250" dirty="0"/>
          </a:p>
        </p:txBody>
      </p:sp>
      <p:sp>
        <p:nvSpPr>
          <p:cNvPr id="10" name="Text 7"/>
          <p:cNvSpPr txBox="1"/>
          <p:nvPr/>
        </p:nvSpPr>
        <p:spPr>
          <a:xfrm>
            <a:off x="7086600" y="1847088"/>
            <a:ext cx="4327855" cy="914400"/>
          </a:xfrm>
          <a:prstGeom prst="rect">
            <a:avLst/>
          </a:prstGeom>
          <a:noFill/>
          <a:ln/>
        </p:spPr>
        <p:txBody>
          <a:bodyPr wrap="square" lIns="0" tIns="0" rIns="0" bIns="0" rtlCol="0" anchor="ctr"/>
          <a:lstStyle/>
          <a:p>
            <a:pPr marL="0" indent="0">
              <a:buNone/>
            </a:pPr>
            <a:r>
              <a:rPr lang="en-US" sz="1300" dirty="0">
                <a:solidFill>
                  <a:schemeClr val="tx1"/>
                </a:solidFill>
              </a:rPr>
              <a:t>10 % packet loss alone made checkout 9 s slow: the top leverage, 2.0. After its fix, catalog-kill rated medium, a tier below its old high.</a:t>
            </a:r>
            <a:endParaRPr lang="en-US" sz="1300" dirty="0"/>
          </a:p>
        </p:txBody>
      </p:sp>
      <p:sp>
        <p:nvSpPr>
          <p:cNvPr id="11" name="card"/>
          <p:cNvSpPr/>
          <p:nvPr/>
        </p:nvSpPr>
        <p:spPr>
          <a:xfrm>
            <a:off x="548640" y="2980944"/>
            <a:ext cx="11094415" cy="1115568"/>
          </a:xfrm>
          <a:prstGeom prst="roundRect">
            <a:avLst>
              <a:gd name="adj" fmla="val 4918"/>
            </a:avLst>
          </a:prstGeom>
          <a:solidFill>
            <a:schemeClr val="bg1"/>
          </a:solidFill>
          <a:ln w="9525">
            <a:solidFill>
              <a:schemeClr val="tx2">
                <a:alpha val="28000"/>
              </a:schemeClr>
            </a:solidFill>
            <a:prstDash val="solid"/>
          </a:ln>
        </p:spPr>
        <p:txBody>
          <a:bodyPr/>
          <a:lstStyle/>
          <a:p>
            <a:endParaRPr lang="en-IN"/>
          </a:p>
        </p:txBody>
      </p:sp>
      <p:sp>
        <p:nvSpPr>
          <p:cNvPr id="12" name="Text 9"/>
          <p:cNvSpPr txBox="1"/>
          <p:nvPr/>
        </p:nvSpPr>
        <p:spPr>
          <a:xfrm>
            <a:off x="777240" y="3163824"/>
            <a:ext cx="1828800" cy="73152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Session 2</a:t>
            </a:r>
            <a:endParaRPr lang="en-US" sz="1400" dirty="0"/>
          </a:p>
          <a:p>
            <a:pPr marL="0" indent="0">
              <a:buNone/>
            </a:pPr>
            <a:r>
              <a:rPr lang="en-US" sz="1200" dirty="0">
                <a:solidFill>
                  <a:schemeClr val="tx2"/>
                </a:solidFill>
              </a:rPr>
              <a:t>2026-10-10 21:50 UTC</a:t>
            </a:r>
            <a:endParaRPr lang="en-US" sz="1400" dirty="0"/>
          </a:p>
        </p:txBody>
      </p:sp>
      <p:sp>
        <p:nvSpPr>
          <p:cNvPr id="13" name="Text 10"/>
          <p:cNvSpPr txBox="1"/>
          <p:nvPr/>
        </p:nvSpPr>
        <p:spPr>
          <a:xfrm>
            <a:off x="2651760" y="3163824"/>
            <a:ext cx="1234440" cy="548640"/>
          </a:xfrm>
          <a:prstGeom prst="rect">
            <a:avLst/>
          </a:prstGeom>
          <a:noFill/>
          <a:ln/>
        </p:spPr>
        <p:txBody>
          <a:bodyPr wrap="square" lIns="0" tIns="0" rIns="0" bIns="0" rtlCol="0" anchor="t"/>
          <a:lstStyle/>
          <a:p>
            <a:pPr marL="0" indent="0">
              <a:buNone/>
            </a:pPr>
            <a:r>
              <a:rPr lang="en-US" sz="2800" dirty="0">
                <a:solidFill>
                  <a:schemeClr val="accent1"/>
                </a:solidFill>
                <a:latin typeface="+mj-lt" pitchFamily="34" charset="0"/>
                <a:ea typeface="+mj-lt" pitchFamily="34" charset="-122"/>
                <a:cs typeface="+mj-lt" pitchFamily="34" charset="-120"/>
              </a:rPr>
              <a:t>44</a:t>
            </a:r>
            <a:r>
              <a:rPr lang="en-US" sz="1300" dirty="0">
                <a:solidFill>
                  <a:schemeClr val="tx2"/>
                </a:solidFill>
              </a:rPr>
              <a:t> /100</a:t>
            </a:r>
            <a:endParaRPr lang="en-US" sz="1400" dirty="0"/>
          </a:p>
        </p:txBody>
      </p:sp>
      <p:sp>
        <p:nvSpPr>
          <p:cNvPr id="14" name="Text 11"/>
          <p:cNvSpPr txBox="1"/>
          <p:nvPr/>
        </p:nvSpPr>
        <p:spPr>
          <a:xfrm>
            <a:off x="2651760" y="3694176"/>
            <a:ext cx="1234440" cy="274320"/>
          </a:xfrm>
          <a:prstGeom prst="rect">
            <a:avLst/>
          </a:prstGeom>
          <a:noFill/>
          <a:ln/>
        </p:spPr>
        <p:txBody>
          <a:bodyPr wrap="square" lIns="0" tIns="0" rIns="0" bIns="0" rtlCol="0" anchor="t"/>
          <a:lstStyle/>
          <a:p>
            <a:pPr marL="0" indent="0">
              <a:buNone/>
            </a:pPr>
            <a:r>
              <a:rPr lang="en-US" sz="1100" dirty="0">
                <a:solidFill>
                  <a:schemeClr val="tx2"/>
                </a:solidFill>
              </a:rPr>
              <a:t>resilience</a:t>
            </a:r>
            <a:endParaRPr lang="en-US" sz="1100" dirty="0"/>
          </a:p>
        </p:txBody>
      </p:sp>
      <p:sp>
        <p:nvSpPr>
          <p:cNvPr id="15" name="Text 12"/>
          <p:cNvSpPr txBox="1"/>
          <p:nvPr/>
        </p:nvSpPr>
        <p:spPr>
          <a:xfrm>
            <a:off x="3977640" y="3072384"/>
            <a:ext cx="2926080" cy="932688"/>
          </a:xfrm>
          <a:prstGeom prst="rect">
            <a:avLst/>
          </a:prstGeom>
          <a:noFill/>
          <a:ln/>
        </p:spPr>
        <p:txBody>
          <a:bodyPr wrap="square" lIns="0" tIns="0" rIns="0" bIns="0" rtlCol="0" anchor="ctr"/>
          <a:lstStyle/>
          <a:p>
            <a:pPr marL="0" indent="0">
              <a:buNone/>
            </a:pPr>
            <a:r>
              <a:rPr lang="en-US" sz="1250" dirty="0">
                <a:solidFill>
                  <a:schemeClr val="tx2"/>
                </a:solidFill>
              </a:rPr>
              <a:t>quote-garbage</a:t>
            </a:r>
            <a:endParaRPr lang="en-US" sz="1250" dirty="0"/>
          </a:p>
          <a:p>
            <a:pPr marL="0" indent="0">
              <a:buNone/>
            </a:pPr>
            <a:r>
              <a:rPr lang="en-US" sz="1250" dirty="0">
                <a:solidFill>
                  <a:schemeClr val="tx2"/>
                </a:solidFill>
              </a:rPr>
              <a:t>blast-latency + catalog-db-cutoff</a:t>
            </a:r>
            <a:endParaRPr lang="en-US" sz="1250" dirty="0"/>
          </a:p>
          <a:p>
            <a:pPr marL="0" indent="0">
              <a:buNone/>
            </a:pPr>
            <a:r>
              <a:rPr lang="en-US" sz="1250" dirty="0">
                <a:solidFill>
                  <a:schemeClr val="tx2"/>
                </a:solidFill>
              </a:rPr>
              <a:t>cart-wipe + traffic-spike</a:t>
            </a:r>
            <a:endParaRPr lang="en-US" sz="1250" dirty="0"/>
          </a:p>
        </p:txBody>
      </p:sp>
      <p:sp>
        <p:nvSpPr>
          <p:cNvPr id="16" name="Text 13"/>
          <p:cNvSpPr txBox="1"/>
          <p:nvPr/>
        </p:nvSpPr>
        <p:spPr>
          <a:xfrm>
            <a:off x="7086600" y="3090672"/>
            <a:ext cx="4327855" cy="914400"/>
          </a:xfrm>
          <a:prstGeom prst="rect">
            <a:avLst/>
          </a:prstGeom>
          <a:noFill/>
          <a:ln/>
        </p:spPr>
        <p:txBody>
          <a:bodyPr wrap="square" lIns="0" tIns="0" rIns="0" bIns="0" rtlCol="0" anchor="ctr"/>
          <a:lstStyle/>
          <a:p>
            <a:pPr marL="0" indent="0">
              <a:buNone/>
            </a:pPr>
            <a:r>
              <a:rPr lang="en-US" sz="1300" dirty="0">
                <a:solidFill>
                  <a:schemeClr val="tx1"/>
                </a:solidFill>
              </a:rPr>
              <a:t>A 200 OK with a wrong body broke 59 % of checkouts while the shop looked healthy. The latency + database pair left the shop unhealthy 120 s later; neither fault did that alone.</a:t>
            </a:r>
            <a:endParaRPr lang="en-US" sz="1300" dirty="0"/>
          </a:p>
        </p:txBody>
      </p:sp>
      <p:sp>
        <p:nvSpPr>
          <p:cNvPr id="17" name="card"/>
          <p:cNvSpPr/>
          <p:nvPr/>
        </p:nvSpPr>
        <p:spPr>
          <a:xfrm>
            <a:off x="548640" y="4224528"/>
            <a:ext cx="11094415" cy="1115568"/>
          </a:xfrm>
          <a:prstGeom prst="roundRect">
            <a:avLst>
              <a:gd name="adj" fmla="val 4918"/>
            </a:avLst>
          </a:prstGeom>
          <a:solidFill>
            <a:schemeClr val="bg1"/>
          </a:solidFill>
          <a:ln w="9525">
            <a:solidFill>
              <a:schemeClr val="tx2">
                <a:alpha val="28000"/>
              </a:schemeClr>
            </a:solidFill>
            <a:prstDash val="solid"/>
          </a:ln>
        </p:spPr>
        <p:txBody>
          <a:bodyPr/>
          <a:lstStyle/>
          <a:p>
            <a:endParaRPr lang="en-IN"/>
          </a:p>
        </p:txBody>
      </p:sp>
      <p:sp>
        <p:nvSpPr>
          <p:cNvPr id="18" name="Text 15"/>
          <p:cNvSpPr txBox="1"/>
          <p:nvPr/>
        </p:nvSpPr>
        <p:spPr>
          <a:xfrm>
            <a:off x="777240" y="4407408"/>
            <a:ext cx="1828800" cy="73152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Session 1</a:t>
            </a:r>
            <a:endParaRPr lang="en-US" sz="1400" dirty="0"/>
          </a:p>
          <a:p>
            <a:pPr marL="0" indent="0">
              <a:buNone/>
            </a:pPr>
            <a:r>
              <a:rPr lang="en-US" sz="1200" dirty="0">
                <a:solidFill>
                  <a:schemeClr val="tx2"/>
                </a:solidFill>
              </a:rPr>
              <a:t>2026-10-10 20:28 UTC</a:t>
            </a:r>
            <a:endParaRPr lang="en-US" sz="1400" dirty="0"/>
          </a:p>
        </p:txBody>
      </p:sp>
      <p:sp>
        <p:nvSpPr>
          <p:cNvPr id="19" name="Text 16"/>
          <p:cNvSpPr txBox="1"/>
          <p:nvPr/>
        </p:nvSpPr>
        <p:spPr>
          <a:xfrm>
            <a:off x="2651760" y="4407408"/>
            <a:ext cx="1234440" cy="548640"/>
          </a:xfrm>
          <a:prstGeom prst="rect">
            <a:avLst/>
          </a:prstGeom>
          <a:noFill/>
          <a:ln/>
        </p:spPr>
        <p:txBody>
          <a:bodyPr wrap="square" lIns="0" tIns="0" rIns="0" bIns="0" rtlCol="0" anchor="t"/>
          <a:lstStyle/>
          <a:p>
            <a:pPr marL="0" indent="0">
              <a:buNone/>
            </a:pPr>
            <a:r>
              <a:rPr lang="en-US" sz="2800" dirty="0">
                <a:solidFill>
                  <a:schemeClr val="accent1"/>
                </a:solidFill>
                <a:latin typeface="+mj-lt" pitchFamily="34" charset="0"/>
                <a:ea typeface="+mj-lt" pitchFamily="34" charset="-122"/>
                <a:cs typeface="+mj-lt" pitchFamily="34" charset="-120"/>
              </a:rPr>
              <a:t>80</a:t>
            </a:r>
            <a:r>
              <a:rPr lang="en-US" sz="1300" dirty="0">
                <a:solidFill>
                  <a:schemeClr val="tx2"/>
                </a:solidFill>
              </a:rPr>
              <a:t> /100</a:t>
            </a:r>
            <a:endParaRPr lang="en-US" sz="1400" dirty="0"/>
          </a:p>
        </p:txBody>
      </p:sp>
      <p:sp>
        <p:nvSpPr>
          <p:cNvPr id="20" name="Text 17"/>
          <p:cNvSpPr txBox="1"/>
          <p:nvPr/>
        </p:nvSpPr>
        <p:spPr>
          <a:xfrm>
            <a:off x="2651760" y="4937760"/>
            <a:ext cx="1234440" cy="274320"/>
          </a:xfrm>
          <a:prstGeom prst="rect">
            <a:avLst/>
          </a:prstGeom>
          <a:noFill/>
          <a:ln/>
        </p:spPr>
        <p:txBody>
          <a:bodyPr wrap="square" lIns="0" tIns="0" rIns="0" bIns="0" rtlCol="0" anchor="t"/>
          <a:lstStyle/>
          <a:p>
            <a:pPr marL="0" indent="0">
              <a:buNone/>
            </a:pPr>
            <a:r>
              <a:rPr lang="en-US" sz="1100" dirty="0">
                <a:solidFill>
                  <a:schemeClr val="tx2"/>
                </a:solidFill>
              </a:rPr>
              <a:t>resilience</a:t>
            </a:r>
            <a:endParaRPr lang="en-US" sz="1100" dirty="0"/>
          </a:p>
        </p:txBody>
      </p:sp>
      <p:sp>
        <p:nvSpPr>
          <p:cNvPr id="21" name="Text 18"/>
          <p:cNvSpPr txBox="1"/>
          <p:nvPr/>
        </p:nvSpPr>
        <p:spPr>
          <a:xfrm>
            <a:off x="3977640" y="4315968"/>
            <a:ext cx="2926080" cy="932688"/>
          </a:xfrm>
          <a:prstGeom prst="rect">
            <a:avLst/>
          </a:prstGeom>
          <a:noFill/>
          <a:ln/>
        </p:spPr>
        <p:txBody>
          <a:bodyPr wrap="square" lIns="0" tIns="0" rIns="0" bIns="0" rtlCol="0" anchor="ctr"/>
          <a:lstStyle/>
          <a:p>
            <a:pPr marL="0" indent="0">
              <a:buNone/>
            </a:pPr>
            <a:r>
              <a:rPr lang="en-US" sz="1250" dirty="0">
                <a:solidFill>
                  <a:schemeClr val="tx2"/>
                </a:solidFill>
              </a:rPr>
              <a:t>blast-loss</a:t>
            </a:r>
            <a:endParaRPr lang="en-US" sz="1250" dirty="0"/>
          </a:p>
          <a:p>
            <a:pPr marL="0" indent="0">
              <a:buNone/>
            </a:pPr>
            <a:r>
              <a:rPr lang="en-US" sz="1250" dirty="0">
                <a:solidFill>
                  <a:schemeClr val="tx2"/>
                </a:solidFill>
              </a:rPr>
              <a:t>cart-wipe</a:t>
            </a:r>
            <a:endParaRPr lang="en-US" sz="1250" dirty="0"/>
          </a:p>
          <a:p>
            <a:pPr marL="0" indent="0">
              <a:buNone/>
            </a:pPr>
            <a:r>
              <a:rPr lang="en-US" sz="1250" dirty="0">
                <a:solidFill>
                  <a:schemeClr val="tx2"/>
                </a:solidFill>
              </a:rPr>
              <a:t>blast-latency</a:t>
            </a:r>
            <a:endParaRPr lang="en-US" sz="1250" dirty="0"/>
          </a:p>
        </p:txBody>
      </p:sp>
      <p:sp>
        <p:nvSpPr>
          <p:cNvPr id="22" name="Text 19"/>
          <p:cNvSpPr txBox="1"/>
          <p:nvPr/>
        </p:nvSpPr>
        <p:spPr>
          <a:xfrm>
            <a:off x="7086600" y="4334256"/>
            <a:ext cx="4327855" cy="914400"/>
          </a:xfrm>
          <a:prstGeom prst="rect">
            <a:avLst/>
          </a:prstGeom>
          <a:noFill/>
          <a:ln/>
        </p:spPr>
        <p:txBody>
          <a:bodyPr wrap="square" lIns="0" tIns="0" rIns="0" bIns="0" rtlCol="0" anchor="ctr"/>
          <a:lstStyle/>
          <a:p>
            <a:pPr marL="0" indent="0">
              <a:buNone/>
            </a:pPr>
            <a:r>
              <a:rPr lang="en-US" sz="1300" dirty="0">
                <a:solidFill>
                  <a:schemeClr val="tx1"/>
                </a:solidFill>
              </a:rPr>
              <a:t>Carts live in memory only, so one pod restart empties every cart. The planner predicted all 3 tiers right.</a:t>
            </a:r>
            <a:endParaRPr lang="en-US" sz="1300" dirty="0"/>
          </a:p>
        </p:txBody>
      </p:sp>
      <p:sp>
        <p:nvSpPr>
          <p:cNvPr id="23" name="Text 20"/>
          <p:cNvSpPr txBox="1"/>
          <p:nvPr/>
        </p:nvSpPr>
        <p:spPr>
          <a:xfrm>
            <a:off x="548640" y="5486400"/>
            <a:ext cx="11094415" cy="384048"/>
          </a:xfrm>
          <a:prstGeom prst="rect">
            <a:avLst/>
          </a:prstGeom>
          <a:noFill/>
          <a:ln/>
        </p:spPr>
        <p:txBody>
          <a:bodyPr wrap="square" lIns="0" tIns="0" rIns="0" bIns="0" rtlCol="0" anchor="t"/>
          <a:lstStyle/>
          <a:p>
            <a:pPr marL="0" indent="0">
              <a:buNone/>
            </a:pPr>
            <a:r>
              <a:rPr lang="en-US" sz="1500" b="1" dirty="0">
                <a:solidFill>
                  <a:schemeClr val="tx1"/>
                </a:solidFill>
              </a:rPr>
              <a:t>Across all four runs, mild and targeted faults found 3 distinct root causes: checkout breaks · carts are lost · the catalog loses its database.</a:t>
            </a:r>
            <a:endParaRPr lang="en-US" sz="1500" dirty="0"/>
          </a:p>
        </p:txBody>
      </p:sp>
      <p:sp>
        <p:nvSpPr>
          <p:cNvPr id="24" name="Text 21"/>
          <p:cNvSpPr txBox="1"/>
          <p:nvPr/>
        </p:nvSpPr>
        <p:spPr>
          <a:xfrm>
            <a:off x="548640" y="5897880"/>
            <a:ext cx="11094415" cy="365760"/>
          </a:xfrm>
          <a:prstGeom prst="rect">
            <a:avLst/>
          </a:prstGeom>
          <a:noFill/>
          <a:ln/>
        </p:spPr>
        <p:txBody>
          <a:bodyPr wrap="square" lIns="0" tIns="0" rIns="0" bIns="0" rtlCol="0" anchor="t"/>
          <a:lstStyle/>
          <a:p>
            <a:pPr marL="0" indent="0">
              <a:buNone/>
            </a:pPr>
            <a:r>
              <a:rPr lang="en-US" sz="1050" dirty="0">
                <a:solidFill>
                  <a:schemeClr val="tx2"/>
                </a:solidFill>
              </a:rPr>
              <a:t>Session 2's pair leverage predates fix a305be8; corrected, the pairs are 0.6 and 1.0, so quote-garbage ranks first. Session 1's analysts ran on nemotron, since replaced by gpt-oss-20b.</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Fix verified: catalog-kill, high to low</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Same fault, re-run after the fix: two tiers lower, 3 runs out of 3. This one needed only config, so we could prove it.</a:t>
            </a:r>
            <a:endParaRPr lang="en-US" sz="1600" dirty="0"/>
          </a:p>
        </p:txBody>
      </p:sp>
      <p:sp>
        <p:nvSpPr>
          <p:cNvPr id="5" name="Text 2"/>
          <p:cNvSpPr txBox="1"/>
          <p:nvPr/>
        </p:nvSpPr>
        <p:spPr>
          <a:xfrm>
            <a:off x="548640" y="1737360"/>
            <a:ext cx="4846320" cy="4480560"/>
          </a:xfrm>
          <a:prstGeom prst="rect">
            <a:avLst/>
          </a:prstGeom>
          <a:noFill/>
          <a:ln/>
        </p:spPr>
        <p:txBody>
          <a:bodyPr wrap="square" lIns="0" tIns="0" rIns="0" bIns="0" rtlCol="0" anchor="t"/>
          <a:lstStyle/>
          <a:p>
            <a:pPr marL="0" indent="0">
              <a:buNone/>
            </a:pPr>
            <a:r>
              <a:rPr lang="en-US" sz="1500" b="1" dirty="0">
                <a:solidFill>
                  <a:schemeClr val="tx1"/>
                </a:solidFill>
              </a:rPr>
              <a:t>What broke</a:t>
            </a:r>
            <a:endParaRPr lang="en-US" sz="1400" dirty="0"/>
          </a:p>
          <a:p>
            <a:pPr marL="0" indent="0">
              <a:spcAft>
                <a:spcPts val="1600"/>
              </a:spcAft>
              <a:buNone/>
            </a:pPr>
            <a:r>
              <a:rPr lang="en-US" sz="1400" dirty="0">
                <a:solidFill>
                  <a:schemeClr val="tx2"/>
                </a:solidFill>
              </a:rPr>
              <a:t>Killing the only catalog pod left the shop broken for about 2 minutes, though the pod was back in 4 s.</a:t>
            </a:r>
            <a:endParaRPr lang="en-US" sz="1400" dirty="0"/>
          </a:p>
          <a:p>
            <a:pPr marL="0" indent="0">
              <a:buNone/>
            </a:pPr>
            <a:r>
              <a:rPr lang="en-US" sz="1500" b="1" dirty="0">
                <a:solidFill>
                  <a:schemeClr val="tx1"/>
                </a:solidFill>
              </a:rPr>
              <a:t>Root cause, from the logs</a:t>
            </a:r>
            <a:endParaRPr lang="en-US" sz="1400" dirty="0"/>
          </a:p>
          <a:p>
            <a:pPr marL="0" indent="0">
              <a:spcAft>
                <a:spcPts val="1600"/>
              </a:spcAft>
              <a:buNone/>
            </a:pPr>
            <a:r>
              <a:rPr lang="en-US" sz="1400" dirty="0">
                <a:solidFill>
                  <a:schemeClr val="tx2"/>
                </a:solidFill>
              </a:rPr>
              <a:t>The frontend reconnected to the dead pod's IP. With no gRPC connect timeout, every catalog request waited out Linux's SYN retries, about 127 s.</a:t>
            </a:r>
            <a:endParaRPr lang="en-US" sz="1400" dirty="0"/>
          </a:p>
          <a:p>
            <a:pPr marL="0" indent="0">
              <a:buNone/>
            </a:pPr>
            <a:r>
              <a:rPr lang="en-US" sz="1500" b="1" dirty="0">
                <a:solidFill>
                  <a:schemeClr val="accent3"/>
                </a:solidFill>
              </a:rPr>
              <a:t>The fix, config only</a:t>
            </a:r>
            <a:endParaRPr lang="en-US" sz="1400" dirty="0"/>
          </a:p>
          <a:p>
            <a:pPr marL="0" indent="0">
              <a:spcAft>
                <a:spcPts val="1600"/>
              </a:spcAft>
              <a:buNone/>
            </a:pPr>
            <a:r>
              <a:rPr lang="en-US" sz="1400" dirty="0">
                <a:solidFill>
                  <a:schemeClr val="tx2"/>
                </a:solidFill>
              </a:rPr>
              <a:t>product-catalog: 2 replicas and a 10 s preStop sleep, so callers aren't routed to a dying pod.</a:t>
            </a:r>
            <a:endParaRPr lang="en-US" sz="1400" dirty="0"/>
          </a:p>
          <a:p>
            <a:pPr marL="0" indent="0">
              <a:buNone/>
            </a:pPr>
            <a:r>
              <a:rPr lang="en-US" sz="1500" b="1" dirty="0">
                <a:solidFill>
                  <a:schemeClr val="tx1"/>
                </a:solidFill>
              </a:rPr>
              <a:t>What's left</a:t>
            </a:r>
            <a:endParaRPr lang="en-US" sz="1400" dirty="0"/>
          </a:p>
          <a:p>
            <a:pPr marL="0" indent="0">
              <a:spcAft>
                <a:spcPts val="1600"/>
              </a:spcAft>
              <a:buNone/>
            </a:pPr>
            <a:r>
              <a:rPr lang="en-US" sz="1400" dirty="0">
                <a:solidFill>
                  <a:schemeClr val="tx2"/>
                </a:solidFill>
              </a:rPr>
              <a:t>The real fix is a connect timeout in the frontend. This one removes the trigger for planned deletes, not for crashes.</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37360"/>
          <a:ext cx="5928055" cy="1984248"/>
        </p:xfrm>
        <a:graphic>
          <a:graphicData uri="http://schemas.openxmlformats.org/drawingml/2006/table">
            <a:tbl>
              <a:tblPr/>
              <a:tblGrid>
                <a:gridCol w="15544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630375">
                  <a:extLst>
                    <a:ext uri="{9D8B030D-6E8A-4147-A177-3AD203B41FA5}">
                      <a16:colId xmlns:a16="http://schemas.microsoft.com/office/drawing/2014/main" val="20003"/>
                    </a:ext>
                  </a:extLst>
                </a:gridCol>
              </a:tblGrid>
              <a:tr h="329184">
                <a:tc>
                  <a:txBody>
                    <a:bodyPr/>
                    <a:lstStyle/>
                    <a:p>
                      <a:pPr marL="0" indent="0">
                        <a:buNone/>
                      </a:pPr>
                      <a:r>
                        <a:rPr lang="en-US" sz="1200" b="1" dirty="0">
                          <a:solidFill>
                            <a:schemeClr val="tx2"/>
                          </a:solidFill>
                        </a:rPr>
                        <a:t>Run</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Tier</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Shop probes failed</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Pod back</a:t>
                      </a:r>
                      <a:endParaRPr lang="en-US" sz="12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chemeClr val="tx1"/>
                          </a:solidFill>
                        </a:rPr>
                        <a:t>Before, 1 replica</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6"/>
                          </a:solidFill>
                        </a:rPr>
                        <a:t>high</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3 / 26, kill switch tripped</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not healthy 120 s after</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chemeClr val="tx1"/>
                          </a:solidFill>
                        </a:rPr>
                        <a:t>After, run 1</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3"/>
                          </a:solidFill>
                        </a:rPr>
                        <a:t>low</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 / 37</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3.3 s</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1"/>
                          </a:solidFill>
                        </a:rPr>
                        <a:t>After, run 2</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3"/>
                          </a:solidFill>
                        </a:rPr>
                        <a:t>low</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 / 41</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6.6 s</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chemeClr val="tx1"/>
                          </a:solidFill>
                        </a:rPr>
                        <a:t>After, run 3</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3"/>
                          </a:solidFill>
                        </a:rPr>
                        <a:t>low</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 / 33</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2.8 s</a:t>
                      </a:r>
                      <a:endParaRPr lang="en-US" sz="1300" dirty="0"/>
                    </a:p>
                  </a:txBody>
                  <a:tcPr marL="76200" marR="76200" marT="50800" marB="50800" anchor="ctr">
                    <a:lnL w="9525" cap="flat" cmpd="sng" algn="ctr">
                      <a:solidFill>
                        <a:srgbClr val="DDD6C7"/>
                      </a:solidFill>
                      <a:prstDash val="solid"/>
                      <a:round/>
                      <a:headEnd type="none" w="med" len="med"/>
                      <a:tailEnd type="none" w="med" len="med"/>
                    </a:lnL>
                    <a:lnR w="9525" cap="flat" cmpd="sng" algn="ctr">
                      <a:solidFill>
                        <a:srgbClr val="DDD6C7"/>
                      </a:solidFill>
                      <a:prstDash val="solid"/>
                      <a:round/>
                      <a:headEnd type="none" w="med" len="med"/>
                      <a:tailEnd type="none" w="med" len="med"/>
                    </a:lnR>
                    <a:lnT w="9525" cap="flat" cmpd="sng" algn="ctr">
                      <a:solidFill>
                        <a:srgbClr val="DDD6C7"/>
                      </a:solidFill>
                      <a:prstDash val="solid"/>
                      <a:round/>
                      <a:headEnd type="none" w="med" len="med"/>
                      <a:tailEnd type="none" w="med" len="med"/>
                    </a:lnT>
                    <a:lnB w="9525" cap="flat" cmpd="sng" algn="ctr">
                      <a:solidFill>
                        <a:srgbClr val="DDD6C7"/>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card"/>
          <p:cNvSpPr/>
          <p:nvPr/>
        </p:nvSpPr>
        <p:spPr>
          <a:xfrm>
            <a:off x="5715000" y="3931920"/>
            <a:ext cx="5928055" cy="1188720"/>
          </a:xfrm>
          <a:prstGeom prst="roundRect">
            <a:avLst>
              <a:gd name="adj" fmla="val 4615"/>
            </a:avLst>
          </a:prstGeom>
          <a:solidFill>
            <a:schemeClr val="bg1"/>
          </a:solidFill>
          <a:ln w="9525">
            <a:solidFill>
              <a:schemeClr val="tx2">
                <a:alpha val="28000"/>
              </a:schemeClr>
            </a:solidFill>
            <a:prstDash val="solid"/>
          </a:ln>
        </p:spPr>
        <p:txBody>
          <a:bodyPr/>
          <a:lstStyle/>
          <a:p>
            <a:endParaRPr lang="en-IN"/>
          </a:p>
        </p:txBody>
      </p:sp>
      <p:sp>
        <p:nvSpPr>
          <p:cNvPr id="8" name="Text 4"/>
          <p:cNvSpPr txBox="1"/>
          <p:nvPr/>
        </p:nvSpPr>
        <p:spPr>
          <a:xfrm>
            <a:off x="5989320" y="4041648"/>
            <a:ext cx="3108960" cy="594360"/>
          </a:xfrm>
          <a:prstGeom prst="rect">
            <a:avLst/>
          </a:prstGeom>
          <a:noFill/>
          <a:ln/>
        </p:spPr>
        <p:txBody>
          <a:bodyPr wrap="square" lIns="0" tIns="0" rIns="0" bIns="0" rtlCol="0" anchor="t"/>
          <a:lstStyle/>
          <a:p>
            <a:pPr marL="0" indent="0">
              <a:buNone/>
            </a:pPr>
            <a:r>
              <a:rPr lang="en-US" sz="3200" dirty="0">
                <a:solidFill>
                  <a:schemeClr val="accent3"/>
                </a:solidFill>
                <a:latin typeface="+mj-lt" pitchFamily="34" charset="0"/>
                <a:ea typeface="+mj-lt" pitchFamily="34" charset="-122"/>
                <a:cs typeface="+mj-lt" pitchFamily="34" charset="-120"/>
              </a:rPr>
              <a:t>4/15 → 15/15</a:t>
            </a:r>
            <a:endParaRPr lang="en-US" sz="3200" dirty="0"/>
          </a:p>
        </p:txBody>
      </p:sp>
      <p:sp>
        <p:nvSpPr>
          <p:cNvPr id="9" name="Text 5"/>
          <p:cNvSpPr txBox="1"/>
          <p:nvPr/>
        </p:nvSpPr>
        <p:spPr>
          <a:xfrm>
            <a:off x="5989320" y="4617720"/>
            <a:ext cx="5379415" cy="457200"/>
          </a:xfrm>
          <a:prstGeom prst="rect">
            <a:avLst/>
          </a:prstGeom>
          <a:noFill/>
          <a:ln/>
        </p:spPr>
        <p:txBody>
          <a:bodyPr wrap="square" lIns="0" tIns="0" rIns="0" bIns="0" rtlCol="0" anchor="t"/>
          <a:lstStyle/>
          <a:p>
            <a:pPr marL="0" indent="0">
              <a:buNone/>
            </a:pPr>
            <a:r>
              <a:rPr lang="en-US" sz="1300" dirty="0">
                <a:solidFill>
                  <a:schemeClr val="tx2"/>
                </a:solidFill>
              </a:rPr>
              <a:t>SLO points for catalog-kill, before and after. Any pool that includes it now scores higher.</a:t>
            </a:r>
            <a:endParaRPr lang="en-US" sz="1300" dirty="0"/>
          </a:p>
        </p:txBody>
      </p:sp>
      <p:sp>
        <p:nvSpPr>
          <p:cNvPr id="10" name="Text 6"/>
          <p:cNvSpPr txBox="1"/>
          <p:nvPr/>
        </p:nvSpPr>
        <p:spPr>
          <a:xfrm>
            <a:off x="5715000" y="5349240"/>
            <a:ext cx="5928055" cy="594360"/>
          </a:xfrm>
          <a:prstGeom prst="rect">
            <a:avLst/>
          </a:prstGeom>
          <a:noFill/>
          <a:ln/>
        </p:spPr>
        <p:txBody>
          <a:bodyPr wrap="square" lIns="0" tIns="0" rIns="0" bIns="0" rtlCol="0" anchor="t"/>
          <a:lstStyle/>
          <a:p>
            <a:pPr marL="0" indent="0">
              <a:buNone/>
            </a:pPr>
            <a:r>
              <a:rPr lang="en-US" sz="1400" dirty="0">
                <a:solidFill>
                  <a:schemeClr val="tx1"/>
                </a:solidFill>
              </a:rPr>
              <a:t>Still holds on a slow network: blast-latency + catalog-kill rates medium, no worse than the latency alone.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What we learned the hard way</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Most of the work went into making the measurements trustworthy, not into the AI.</a:t>
            </a:r>
            <a:endParaRPr lang="en-US" sz="1600" dirty="0"/>
          </a:p>
        </p:txBody>
      </p:sp>
      <p:sp>
        <p:nvSpPr>
          <p:cNvPr id="5" name="step number"/>
          <p:cNvSpPr/>
          <p:nvPr/>
        </p:nvSpPr>
        <p:spPr>
          <a:xfrm>
            <a:off x="548640" y="1783080"/>
            <a:ext cx="411480" cy="411480"/>
          </a:xfrm>
          <a:prstGeom prst="ellipse">
            <a:avLst/>
          </a:prstGeom>
          <a:solidFill>
            <a:schemeClr val="accent1"/>
          </a:solidFill>
          <a:ln/>
        </p:spPr>
        <p:txBody>
          <a:bodyPr/>
          <a:lstStyle/>
          <a:p>
            <a:endParaRPr lang="en-IN"/>
          </a:p>
        </p:txBody>
      </p:sp>
      <p:sp>
        <p:nvSpPr>
          <p:cNvPr id="6" name="Text 3"/>
          <p:cNvSpPr txBox="1"/>
          <p:nvPr/>
        </p:nvSpPr>
        <p:spPr>
          <a:xfrm>
            <a:off x="548640" y="178308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143000" y="1737360"/>
            <a:ext cx="6492240" cy="841248"/>
          </a:xfrm>
          <a:prstGeom prst="rect">
            <a:avLst/>
          </a:prstGeom>
          <a:noFill/>
          <a:ln/>
        </p:spPr>
        <p:txBody>
          <a:bodyPr wrap="square" lIns="0" tIns="0" rIns="0" bIns="0" rtlCol="0" anchor="t"/>
          <a:lstStyle/>
          <a:p>
            <a:pPr marL="0" indent="0">
              <a:buNone/>
            </a:pPr>
            <a:r>
              <a:rPr lang="en-US" sz="1500" b="1" dirty="0">
                <a:solidFill>
                  <a:schemeClr val="tx1"/>
                </a:solidFill>
              </a:rPr>
              <a:t>A tool's “pass” isn't proof</a:t>
            </a:r>
            <a:endParaRPr lang="en-US" sz="1400" dirty="0"/>
          </a:p>
          <a:p>
            <a:pPr marL="0" indent="0">
              <a:buNone/>
            </a:pPr>
            <a:r>
              <a:rPr lang="en-US" sz="1350" dirty="0">
                <a:solidFill>
                  <a:schemeClr val="tx2"/>
                </a:solidFill>
              </a:rPr>
              <a:t>krkn reported success for network faults that never ran. </a:t>
            </a:r>
            <a:r>
              <a:rPr lang="en-US" sz="1350" dirty="0">
                <a:solidFill>
                  <a:schemeClr val="tx1"/>
                </a:solidFill>
              </a:rPr>
              <a:t>Now: every result needs positive evidence of the fault; we scan krkn's logs.</a:t>
            </a:r>
            <a:endParaRPr lang="en-US" sz="1400" dirty="0"/>
          </a:p>
        </p:txBody>
      </p:sp>
      <p:sp>
        <p:nvSpPr>
          <p:cNvPr id="8" name="step number"/>
          <p:cNvSpPr/>
          <p:nvPr/>
        </p:nvSpPr>
        <p:spPr>
          <a:xfrm>
            <a:off x="548640" y="2670048"/>
            <a:ext cx="411480" cy="411480"/>
          </a:xfrm>
          <a:prstGeom prst="ellipse">
            <a:avLst/>
          </a:prstGeom>
          <a:solidFill>
            <a:schemeClr val="accent1"/>
          </a:solidFill>
          <a:ln/>
        </p:spPr>
        <p:txBody>
          <a:bodyPr/>
          <a:lstStyle/>
          <a:p>
            <a:endParaRPr lang="en-IN"/>
          </a:p>
        </p:txBody>
      </p:sp>
      <p:sp>
        <p:nvSpPr>
          <p:cNvPr id="9" name="Text 6"/>
          <p:cNvSpPr txBox="1"/>
          <p:nvPr/>
        </p:nvSpPr>
        <p:spPr>
          <a:xfrm>
            <a:off x="548640" y="2670048"/>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 7"/>
          <p:cNvSpPr txBox="1"/>
          <p:nvPr/>
        </p:nvSpPr>
        <p:spPr>
          <a:xfrm>
            <a:off x="1143000" y="2624328"/>
            <a:ext cx="6492240" cy="841248"/>
          </a:xfrm>
          <a:prstGeom prst="rect">
            <a:avLst/>
          </a:prstGeom>
          <a:noFill/>
          <a:ln/>
        </p:spPr>
        <p:txBody>
          <a:bodyPr wrap="square" lIns="0" tIns="0" rIns="0" bIns="0" rtlCol="0" anchor="t"/>
          <a:lstStyle/>
          <a:p>
            <a:pPr marL="0" indent="0">
              <a:buNone/>
            </a:pPr>
            <a:r>
              <a:rPr lang="en-US" sz="1500" b="1" dirty="0">
                <a:solidFill>
                  <a:schemeClr val="tx1"/>
                </a:solidFill>
              </a:rPr>
              <a:t>Stopped isn't gone</a:t>
            </a:r>
            <a:endParaRPr lang="en-US" sz="1400" dirty="0"/>
          </a:p>
          <a:p>
            <a:pPr marL="0" indent="0">
              <a:buNone/>
            </a:pPr>
            <a:r>
              <a:rPr lang="en-US" sz="1350" dirty="0">
                <a:solidFill>
                  <a:schemeClr val="tx2"/>
                </a:solidFill>
              </a:rPr>
              <a:t>A +200 ms delay stayed on the node for 8 minutes after a stop. </a:t>
            </a:r>
            <a:r>
              <a:rPr lang="en-US" sz="1350" dirty="0">
                <a:solidFill>
                  <a:schemeClr val="tx1"/>
                </a:solidFill>
              </a:rPr>
              <a:t>Now: cleanup clears it; we check the shop, not the exit code.</a:t>
            </a:r>
            <a:endParaRPr lang="en-US" sz="1400" dirty="0"/>
          </a:p>
        </p:txBody>
      </p:sp>
      <p:sp>
        <p:nvSpPr>
          <p:cNvPr id="11" name="step number"/>
          <p:cNvSpPr/>
          <p:nvPr/>
        </p:nvSpPr>
        <p:spPr>
          <a:xfrm>
            <a:off x="548640" y="3557016"/>
            <a:ext cx="411480" cy="411480"/>
          </a:xfrm>
          <a:prstGeom prst="ellipse">
            <a:avLst/>
          </a:prstGeom>
          <a:solidFill>
            <a:schemeClr val="accent1"/>
          </a:solidFill>
          <a:ln/>
        </p:spPr>
        <p:txBody>
          <a:bodyPr/>
          <a:lstStyle/>
          <a:p>
            <a:endParaRPr lang="en-IN"/>
          </a:p>
        </p:txBody>
      </p:sp>
      <p:sp>
        <p:nvSpPr>
          <p:cNvPr id="12" name="Text 9"/>
          <p:cNvSpPr txBox="1"/>
          <p:nvPr/>
        </p:nvSpPr>
        <p:spPr>
          <a:xfrm>
            <a:off x="548640" y="3557016"/>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Text 10"/>
          <p:cNvSpPr txBox="1"/>
          <p:nvPr/>
        </p:nvSpPr>
        <p:spPr>
          <a:xfrm>
            <a:off x="1143000" y="3511296"/>
            <a:ext cx="6492240" cy="841248"/>
          </a:xfrm>
          <a:prstGeom prst="rect">
            <a:avLst/>
          </a:prstGeom>
          <a:noFill/>
          <a:ln/>
        </p:spPr>
        <p:txBody>
          <a:bodyPr wrap="square" lIns="0" tIns="0" rIns="0" bIns="0" rtlCol="0" anchor="t"/>
          <a:lstStyle/>
          <a:p>
            <a:pPr marL="0" indent="0">
              <a:buNone/>
            </a:pPr>
            <a:r>
              <a:rPr lang="en-US" sz="1500" b="1" dirty="0">
                <a:solidFill>
                  <a:schemeClr val="tx1"/>
                </a:solidFill>
              </a:rPr>
              <a:t>A dirty baseline hides damage</a:t>
            </a:r>
            <a:endParaRPr lang="en-US" sz="1400" dirty="0"/>
          </a:p>
          <a:p>
            <a:pPr marL="0" indent="0">
              <a:buNone/>
            </a:pPr>
            <a:r>
              <a:rPr lang="en-US" sz="1350" dirty="0">
                <a:solidFill>
                  <a:schemeClr val="tx2"/>
                </a:solidFill>
              </a:rPr>
              <a:t>A fault started 3 min after another looked harmless. </a:t>
            </a:r>
            <a:r>
              <a:rPr lang="en-US" sz="1350" dirty="0">
                <a:solidFill>
                  <a:schemeClr val="tx1"/>
                </a:solidFill>
              </a:rPr>
              <a:t>Now: wait 5 quiet minutes before the baseline.</a:t>
            </a:r>
            <a:endParaRPr lang="en-US" sz="1400" dirty="0"/>
          </a:p>
        </p:txBody>
      </p:sp>
      <p:sp>
        <p:nvSpPr>
          <p:cNvPr id="14" name="step number"/>
          <p:cNvSpPr/>
          <p:nvPr/>
        </p:nvSpPr>
        <p:spPr>
          <a:xfrm>
            <a:off x="548640" y="4443984"/>
            <a:ext cx="411480" cy="411480"/>
          </a:xfrm>
          <a:prstGeom prst="ellipse">
            <a:avLst/>
          </a:prstGeom>
          <a:solidFill>
            <a:schemeClr val="accent1"/>
          </a:solidFill>
          <a:ln/>
        </p:spPr>
        <p:txBody>
          <a:bodyPr/>
          <a:lstStyle/>
          <a:p>
            <a:endParaRPr lang="en-IN"/>
          </a:p>
        </p:txBody>
      </p:sp>
      <p:sp>
        <p:nvSpPr>
          <p:cNvPr id="15" name="Text 12"/>
          <p:cNvSpPr txBox="1"/>
          <p:nvPr/>
        </p:nvSpPr>
        <p:spPr>
          <a:xfrm>
            <a:off x="548640" y="4443984"/>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6" name="Text 13"/>
          <p:cNvSpPr txBox="1"/>
          <p:nvPr/>
        </p:nvSpPr>
        <p:spPr>
          <a:xfrm>
            <a:off x="1143000" y="4398264"/>
            <a:ext cx="6492240" cy="841248"/>
          </a:xfrm>
          <a:prstGeom prst="rect">
            <a:avLst/>
          </a:prstGeom>
          <a:noFill/>
          <a:ln/>
        </p:spPr>
        <p:txBody>
          <a:bodyPr wrap="square" lIns="0" tIns="0" rIns="0" bIns="0" rtlCol="0" anchor="t"/>
          <a:lstStyle/>
          <a:p>
            <a:pPr marL="0" indent="0">
              <a:buNone/>
            </a:pPr>
            <a:r>
              <a:rPr lang="en-US" sz="1500" b="1" dirty="0">
                <a:solidFill>
                  <a:schemeClr val="tx1"/>
                </a:solidFill>
              </a:rPr>
              <a:t>Overlapping faults spoil both</a:t>
            </a:r>
            <a:endParaRPr lang="en-US" sz="1400" dirty="0"/>
          </a:p>
          <a:p>
            <a:pPr marL="0" indent="0">
              <a:buNone/>
            </a:pPr>
            <a:r>
              <a:rPr lang="en-US" sz="1350" dirty="0">
                <a:solidFill>
                  <a:schemeClr val="tx2"/>
                </a:solidFill>
              </a:rPr>
              <a:t>One overlap made a calibration check fail. </a:t>
            </a:r>
            <a:r>
              <a:rPr lang="en-US" sz="1350" dirty="0">
                <a:solidFill>
                  <a:schemeClr val="tx1"/>
                </a:solidFill>
              </a:rPr>
              <a:t>Now: one fault at a time, machine-wide.</a:t>
            </a:r>
            <a:endParaRPr lang="en-US" sz="1400" dirty="0"/>
          </a:p>
        </p:txBody>
      </p:sp>
      <p:sp>
        <p:nvSpPr>
          <p:cNvPr id="17" name="step number"/>
          <p:cNvSpPr/>
          <p:nvPr/>
        </p:nvSpPr>
        <p:spPr>
          <a:xfrm>
            <a:off x="548640" y="5330952"/>
            <a:ext cx="411480" cy="411480"/>
          </a:xfrm>
          <a:prstGeom prst="ellipse">
            <a:avLst/>
          </a:prstGeom>
          <a:solidFill>
            <a:schemeClr val="accent1"/>
          </a:solidFill>
          <a:ln/>
        </p:spPr>
        <p:txBody>
          <a:bodyPr/>
          <a:lstStyle/>
          <a:p>
            <a:endParaRPr lang="en-IN"/>
          </a:p>
        </p:txBody>
      </p:sp>
      <p:sp>
        <p:nvSpPr>
          <p:cNvPr id="18" name="Text 15"/>
          <p:cNvSpPr txBox="1"/>
          <p:nvPr/>
        </p:nvSpPr>
        <p:spPr>
          <a:xfrm>
            <a:off x="548640" y="5330952"/>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9" name="Text 16"/>
          <p:cNvSpPr txBox="1"/>
          <p:nvPr/>
        </p:nvSpPr>
        <p:spPr>
          <a:xfrm>
            <a:off x="1143000" y="5285232"/>
            <a:ext cx="6492240" cy="841248"/>
          </a:xfrm>
          <a:prstGeom prst="rect">
            <a:avLst/>
          </a:prstGeom>
          <a:noFill/>
          <a:ln/>
        </p:spPr>
        <p:txBody>
          <a:bodyPr wrap="square" lIns="0" tIns="0" rIns="0" bIns="0" rtlCol="0" anchor="t"/>
          <a:lstStyle/>
          <a:p>
            <a:pPr marL="0" indent="0">
              <a:buNone/>
            </a:pPr>
            <a:r>
              <a:rPr lang="en-US" sz="1500" b="1" dirty="0">
                <a:solidFill>
                  <a:schemeClr val="tx1"/>
                </a:solidFill>
              </a:rPr>
              <a:t>Models invent names</a:t>
            </a:r>
            <a:endParaRPr lang="en-US" sz="1400" dirty="0"/>
          </a:p>
          <a:p>
            <a:pPr marL="0" indent="0">
              <a:buNone/>
            </a:pPr>
            <a:r>
              <a:rPr lang="en-US" sz="1350" dirty="0">
                <a:solidFill>
                  <a:schemeClr val="tx2"/>
                </a:solidFill>
              </a:rPr>
              <a:t>Follow-ups named faults that don't exist, so nothing ran. </a:t>
            </a:r>
            <a:r>
              <a:rPr lang="en-US" sz="1350" dirty="0">
                <a:solidFill>
                  <a:schemeClr val="tx1"/>
                </a:solidFill>
              </a:rPr>
              <a:t>Now: show the allowed list; code drops the rest.</a:t>
            </a:r>
            <a:endParaRPr lang="en-US" sz="1400" dirty="0"/>
          </a:p>
        </p:txBody>
      </p:sp>
      <p:sp>
        <p:nvSpPr>
          <p:cNvPr id="20" name="card"/>
          <p:cNvSpPr/>
          <p:nvPr/>
        </p:nvSpPr>
        <p:spPr>
          <a:xfrm>
            <a:off x="7955280" y="1737360"/>
            <a:ext cx="3687775" cy="4434840"/>
          </a:xfrm>
          <a:prstGeom prst="roundRect">
            <a:avLst>
              <a:gd name="adj" fmla="val 1488"/>
            </a:avLst>
          </a:prstGeom>
          <a:solidFill>
            <a:schemeClr val="bg1"/>
          </a:solidFill>
          <a:ln w="9525">
            <a:solidFill>
              <a:schemeClr val="tx2">
                <a:alpha val="28000"/>
              </a:schemeClr>
            </a:solidFill>
            <a:prstDash val="solid"/>
          </a:ln>
        </p:spPr>
        <p:txBody>
          <a:bodyPr/>
          <a:lstStyle/>
          <a:p>
            <a:endParaRPr lang="en-IN"/>
          </a:p>
        </p:txBody>
      </p:sp>
      <p:sp>
        <p:nvSpPr>
          <p:cNvPr id="21" name="icon circle"/>
          <p:cNvSpPr/>
          <p:nvPr/>
        </p:nvSpPr>
        <p:spPr>
          <a:xfrm>
            <a:off x="8183880" y="1920240"/>
            <a:ext cx="438912" cy="438912"/>
          </a:xfrm>
          <a:prstGeom prst="ellipse">
            <a:avLst/>
          </a:prstGeom>
          <a:solidFill>
            <a:schemeClr val="accent5"/>
          </a:solidFill>
          <a:ln/>
        </p:spPr>
        <p:txBody>
          <a:bodyPr/>
          <a:lstStyle/>
          <a:p>
            <a:endParaRPr lang="en-IN"/>
          </a:p>
        </p:txBody>
      </p:sp>
      <p:pic>
        <p:nvPicPr>
          <p:cNvPr id="22" name="Image 0" descr="TriangleAlert icon"/>
          <p:cNvPicPr>
            <a:picLocks noChangeAspect="1"/>
          </p:cNvPicPr>
          <p:nvPr/>
        </p:nvPicPr>
        <p:blipFill>
          <a:blip r:embed="rId3"/>
          <a:stretch>
            <a:fillRect/>
          </a:stretch>
        </p:blipFill>
        <p:spPr>
          <a:xfrm>
            <a:off x="8280441" y="2016801"/>
            <a:ext cx="245791" cy="245791"/>
          </a:xfrm>
          <a:prstGeom prst="rect">
            <a:avLst/>
          </a:prstGeom>
        </p:spPr>
      </p:pic>
      <p:sp>
        <p:nvSpPr>
          <p:cNvPr id="23" name="Text 19"/>
          <p:cNvSpPr txBox="1"/>
          <p:nvPr/>
        </p:nvSpPr>
        <p:spPr>
          <a:xfrm>
            <a:off x="8759952" y="1920240"/>
            <a:ext cx="2681935" cy="438912"/>
          </a:xfrm>
          <a:prstGeom prst="rect">
            <a:avLst/>
          </a:prstGeom>
          <a:noFill/>
          <a:ln/>
        </p:spPr>
        <p:txBody>
          <a:bodyPr wrap="square" lIns="0" tIns="0" rIns="0" bIns="0" rtlCol="0" anchor="ctr"/>
          <a:lstStyle/>
          <a:p>
            <a:pPr marL="0" indent="0">
              <a:buNone/>
            </a:pPr>
            <a:r>
              <a:rPr lang="en-US" sz="2000" dirty="0">
                <a:solidFill>
                  <a:schemeClr val="tx1"/>
                </a:solidFill>
                <a:latin typeface="+mj-lt" pitchFamily="34" charset="0"/>
                <a:ea typeface="+mj-lt" pitchFamily="34" charset="-122"/>
                <a:cs typeface="+mj-lt" pitchFamily="34" charset="-120"/>
              </a:rPr>
              <a:t>Limitations</a:t>
            </a:r>
            <a:endParaRPr lang="en-US" sz="2000" dirty="0"/>
          </a:p>
        </p:txBody>
      </p:sp>
      <p:sp>
        <p:nvSpPr>
          <p:cNvPr id="24" name="Text 20"/>
          <p:cNvSpPr txBox="1"/>
          <p:nvPr/>
        </p:nvSpPr>
        <p:spPr>
          <a:xfrm>
            <a:off x="8183880" y="2560320"/>
            <a:ext cx="3230575" cy="35204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Live faults need Linux; Windows runs the replay and the console</a:t>
            </a:r>
            <a:endParaRPr lang="en-US" sz="1350" dirty="0"/>
          </a:p>
          <a:p>
            <a:pPr marL="177800" indent="-177800">
              <a:spcAft>
                <a:spcPts val="700"/>
              </a:spcAft>
              <a:buSzPct val="100000"/>
              <a:buChar char="•"/>
            </a:pPr>
            <a:r>
              <a:rPr lang="en-US" sz="1350" dirty="0">
                <a:solidFill>
                  <a:schemeClr val="tx1"/>
                </a:solidFill>
              </a:rPr>
              <a:t>One laptop, one replica per service: not production scale</a:t>
            </a:r>
            <a:endParaRPr lang="en-US" sz="1350" dirty="0"/>
          </a:p>
          <a:p>
            <a:pPr marL="177800" indent="-177800">
              <a:spcAft>
                <a:spcPts val="700"/>
              </a:spcAft>
              <a:buSzPct val="100000"/>
              <a:buChar char="•"/>
            </a:pPr>
            <a:r>
              <a:rPr lang="en-US" sz="1350" dirty="0">
                <a:solidFill>
                  <a:schemeClr val="tx1"/>
                </a:solidFill>
              </a:rPr>
              <a:t>The model's own confidence isn't calibrated</a:t>
            </a:r>
            <a:endParaRPr lang="en-US" sz="1350" dirty="0"/>
          </a:p>
          <a:p>
            <a:pPr marL="177800" indent="-177800">
              <a:spcAft>
                <a:spcPts val="700"/>
              </a:spcAft>
              <a:buSzPct val="100000"/>
              <a:buChar char="•"/>
            </a:pPr>
            <a:r>
              <a:rPr lang="en-US" sz="1350" dirty="0">
                <a:solidFill>
                  <a:schemeClr val="tx1"/>
                </a:solidFill>
              </a:rPr>
              <a:t>Two demo fixes need shop code changes, so they aren't verified yet</a:t>
            </a:r>
            <a:endParaRPr lang="en-US" sz="1350" dirty="0"/>
          </a:p>
          <a:p>
            <a:pPr marL="177800" indent="-177800">
              <a:spcAft>
                <a:spcPts val="700"/>
              </a:spcAft>
              <a:buSzPct val="100000"/>
              <a:buChar char="•"/>
            </a:pPr>
            <a:r>
              <a:rPr lang="en-US" sz="1350" dirty="0">
                <a:solidFill>
                  <a:schemeClr val="tx1"/>
                </a:solidFill>
              </a:rPr>
              <a:t>Recovery time is minute-accurate: Prometheus scrapes once a minute</a:t>
            </a:r>
            <a:endParaRPr lang="en-US" sz="1350" dirty="0"/>
          </a:p>
          <a:p>
            <a:pPr marL="177800" indent="-177800">
              <a:spcAft>
                <a:spcPts val="700"/>
              </a:spcAft>
              <a:buSzPct val="100000"/>
              <a:buChar char="•"/>
            </a:pPr>
            <a:r>
              <a:rPr lang="en-US" sz="1350" dirty="0">
                <a:solidFill>
                  <a:schemeClr val="tx1"/>
                </a:solidFill>
              </a:rPr>
              <a:t>Groq's free tier rate-limits back-to-back sessions</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9184"/>
            <a:ext cx="11094415" cy="658368"/>
          </a:xfrm>
          <a:prstGeom prst="rect">
            <a:avLst/>
          </a:prstGeom>
          <a:noFill/>
          <a:ln/>
        </p:spPr>
        <p:txBody>
          <a:bodyPr wrap="square" lIns="0" tIns="0" rIns="0" bIns="0" rtlCol="0" anchor="b"/>
          <a:lstStyle/>
          <a:p>
            <a:pPr marL="0" indent="0" algn="l">
              <a:buNone/>
            </a:pPr>
            <a:r>
              <a:rPr lang="en-US" sz="3400" dirty="0">
                <a:solidFill>
                  <a:schemeClr val="tx1"/>
                </a:solidFill>
              </a:rPr>
              <a:t>Next: a genetic search, scored by leverage</a:t>
            </a:r>
            <a:endParaRPr lang="en-US" sz="3400" dirty="0"/>
          </a:p>
        </p:txBody>
      </p:sp>
      <p:sp>
        <p:nvSpPr>
          <p:cNvPr id="3" name="Text 0"/>
          <p:cNvSpPr>
            <a:spLocks noGrp="1"/>
          </p:cNvSpPr>
          <p:nvPr>
            <p:ph type="body" idx="101" hasCustomPrompt="1"/>
          </p:nvPr>
        </p:nvSpPr>
        <p:spPr>
          <a:xfrm>
            <a:off x="548640" y="1042416"/>
            <a:ext cx="11094415" cy="502920"/>
          </a:xfrm>
          <a:prstGeom prst="rect">
            <a:avLst/>
          </a:prstGeom>
          <a:noFill/>
          <a:ln/>
        </p:spPr>
        <p:txBody>
          <a:bodyPr wrap="square" lIns="0" tIns="0" rIns="0" bIns="0" rtlCol="0" anchor="t"/>
          <a:lstStyle/>
          <a:p>
            <a:pPr marL="0" indent="0">
              <a:buNone/>
            </a:pPr>
            <a:r>
              <a:rPr lang="en-US" sz="1600" dirty="0">
                <a:solidFill>
                  <a:schemeClr val="tx2"/>
                </a:solidFill>
              </a:rPr>
              <a:t>Today a person picks the pool from faults we built by hand. Next, let a search propose new ones, inside the same guards.</a:t>
            </a:r>
            <a:endParaRPr lang="en-US" sz="1600" dirty="0"/>
          </a:p>
        </p:txBody>
      </p:sp>
      <p:sp>
        <p:nvSpPr>
          <p:cNvPr id="5" name="card"/>
          <p:cNvSpPr/>
          <p:nvPr/>
        </p:nvSpPr>
        <p:spPr>
          <a:xfrm>
            <a:off x="548640" y="1737360"/>
            <a:ext cx="6903720" cy="4023360"/>
          </a:xfrm>
          <a:prstGeom prst="roundRect">
            <a:avLst>
              <a:gd name="adj" fmla="val 1364"/>
            </a:avLst>
          </a:prstGeom>
          <a:solidFill>
            <a:schemeClr val="bg1"/>
          </a:solidFill>
          <a:ln w="9525">
            <a:solidFill>
              <a:schemeClr val="tx2">
                <a:alpha val="28000"/>
              </a:schemeClr>
            </a:solidFill>
            <a:prstDash val="solid"/>
          </a:ln>
        </p:spPr>
        <p:txBody>
          <a:bodyPr/>
          <a:lstStyle/>
          <a:p>
            <a:endParaRPr lang="en-IN"/>
          </a:p>
        </p:txBody>
      </p:sp>
      <p:sp>
        <p:nvSpPr>
          <p:cNvPr id="6" name="icon circle"/>
          <p:cNvSpPr/>
          <p:nvPr/>
        </p:nvSpPr>
        <p:spPr>
          <a:xfrm>
            <a:off x="822960" y="1938528"/>
            <a:ext cx="502920" cy="502920"/>
          </a:xfrm>
          <a:prstGeom prst="ellipse">
            <a:avLst/>
          </a:prstGeom>
          <a:solidFill>
            <a:schemeClr val="accent4"/>
          </a:solidFill>
          <a:ln/>
        </p:spPr>
        <p:txBody>
          <a:bodyPr/>
          <a:lstStyle/>
          <a:p>
            <a:endParaRPr lang="en-IN"/>
          </a:p>
        </p:txBody>
      </p:sp>
      <p:pic>
        <p:nvPicPr>
          <p:cNvPr id="7" name="Image 0" descr="Dna icon"/>
          <p:cNvPicPr>
            <a:picLocks noChangeAspect="1"/>
          </p:cNvPicPr>
          <p:nvPr/>
        </p:nvPicPr>
        <p:blipFill>
          <a:blip r:embed="rId3"/>
          <a:stretch>
            <a:fillRect/>
          </a:stretch>
        </p:blipFill>
        <p:spPr>
          <a:xfrm>
            <a:off x="933602" y="2049170"/>
            <a:ext cx="281635" cy="281635"/>
          </a:xfrm>
          <a:prstGeom prst="rect">
            <a:avLst/>
          </a:prstGeom>
        </p:spPr>
      </p:pic>
      <p:sp>
        <p:nvSpPr>
          <p:cNvPr id="8" name="Text 4"/>
          <p:cNvSpPr txBox="1"/>
          <p:nvPr/>
        </p:nvSpPr>
        <p:spPr>
          <a:xfrm>
            <a:off x="1463040" y="1938528"/>
            <a:ext cx="5715000" cy="502920"/>
          </a:xfrm>
          <a:prstGeom prst="rect">
            <a:avLst/>
          </a:prstGeom>
          <a:noFill/>
          <a:ln/>
        </p:spPr>
        <p:txBody>
          <a:bodyPr wrap="square" lIns="0" tIns="0" rIns="0" bIns="0" rtlCol="0" anchor="ctr"/>
          <a:lstStyle/>
          <a:p>
            <a:pPr marL="0" indent="0">
              <a:buNone/>
            </a:pPr>
            <a:r>
              <a:rPr lang="en-US" sz="2100" dirty="0">
                <a:solidFill>
                  <a:schemeClr val="tx1"/>
                </a:solidFill>
                <a:latin typeface="+mj-lt" pitchFamily="34" charset="0"/>
                <a:ea typeface="+mj-lt" pitchFamily="34" charset="-122"/>
                <a:cs typeface="+mj-lt" pitchFamily="34" charset="-120"/>
              </a:rPr>
              <a:t>1 · Genetic search over faults</a:t>
            </a:r>
            <a:endParaRPr lang="en-US" sz="2100" dirty="0"/>
          </a:p>
        </p:txBody>
      </p:sp>
      <p:sp>
        <p:nvSpPr>
          <p:cNvPr id="9" name="Text 5"/>
          <p:cNvSpPr txBox="1"/>
          <p:nvPr/>
        </p:nvSpPr>
        <p:spPr>
          <a:xfrm>
            <a:off x="822960" y="2606040"/>
            <a:ext cx="6355080" cy="1188720"/>
          </a:xfrm>
          <a:prstGeom prst="rect">
            <a:avLst/>
          </a:prstGeom>
          <a:noFill/>
          <a:ln/>
        </p:spPr>
        <p:txBody>
          <a:bodyPr wrap="square" lIns="0" tIns="0" rIns="0" bIns="0" rtlCol="0" anchor="t"/>
          <a:lstStyle/>
          <a:p>
            <a:pPr marL="0" indent="0">
              <a:buNone/>
            </a:pPr>
            <a:r>
              <a:rPr lang="en-US" sz="1500" dirty="0">
                <a:solidFill>
                  <a:schemeClr val="tx2"/>
                </a:solidFill>
              </a:rPr>
              <a:t>Evolve new faults with a genetic algorithm. Its weak spot is the fitness function: reward damage and it drifts toward destruction. Leverage is the fitness it needs: it rewards big damage from a small push and sinks “break everything”.</a:t>
            </a:r>
            <a:endParaRPr lang="en-US" sz="1500" dirty="0"/>
          </a:p>
        </p:txBody>
      </p:sp>
      <p:sp>
        <p:nvSpPr>
          <p:cNvPr id="10" name="flow step"/>
          <p:cNvSpPr/>
          <p:nvPr/>
        </p:nvSpPr>
        <p:spPr>
          <a:xfrm>
            <a:off x="822960" y="4041648"/>
            <a:ext cx="1133856" cy="868680"/>
          </a:xfrm>
          <a:prstGeom prst="roundRect">
            <a:avLst>
              <a:gd name="adj" fmla="val 8421"/>
            </a:avLst>
          </a:prstGeom>
          <a:solidFill>
            <a:schemeClr val="accent4">
              <a:alpha val="18000"/>
            </a:schemeClr>
          </a:solidFill>
          <a:ln/>
        </p:spPr>
        <p:txBody>
          <a:bodyPr/>
          <a:lstStyle/>
          <a:p>
            <a:endParaRPr lang="en-IN"/>
          </a:p>
        </p:txBody>
      </p:sp>
      <p:sp>
        <p:nvSpPr>
          <p:cNvPr id="11" name="Text 7"/>
          <p:cNvSpPr txBox="1"/>
          <p:nvPr/>
        </p:nvSpPr>
        <p:spPr>
          <a:xfrm>
            <a:off x="896112" y="4041648"/>
            <a:ext cx="987552" cy="868680"/>
          </a:xfrm>
          <a:prstGeom prst="rect">
            <a:avLst/>
          </a:prstGeom>
          <a:noFill/>
          <a:ln/>
        </p:spPr>
        <p:txBody>
          <a:bodyPr wrap="square" lIns="0" tIns="0" rIns="0" bIns="0" rtlCol="0" anchor="ctr"/>
          <a:lstStyle/>
          <a:p>
            <a:pPr marL="0" indent="0" algn="ctr">
              <a:buNone/>
            </a:pPr>
            <a:r>
              <a:rPr lang="en-US" sz="1250" b="1" dirty="0">
                <a:solidFill>
                  <a:schemeClr val="tx1"/>
                </a:solidFill>
              </a:rPr>
              <a:t>the search proposes a fault</a:t>
            </a:r>
            <a:endParaRPr lang="en-US" sz="1250" dirty="0"/>
          </a:p>
        </p:txBody>
      </p:sp>
      <p:sp>
        <p:nvSpPr>
          <p:cNvPr id="12" name="Text 8"/>
          <p:cNvSpPr txBox="1"/>
          <p:nvPr/>
        </p:nvSpPr>
        <p:spPr>
          <a:xfrm>
            <a:off x="1956816" y="4041648"/>
            <a:ext cx="155448" cy="868680"/>
          </a:xfrm>
          <a:prstGeom prst="rect">
            <a:avLst/>
          </a:prstGeom>
          <a:noFill/>
          <a:ln/>
        </p:spPr>
        <p:txBody>
          <a:bodyPr wrap="square" lIns="0" tIns="0" rIns="0" bIns="0" rtlCol="0" anchor="ctr"/>
          <a:lstStyle/>
          <a:p>
            <a:pPr marL="0" indent="0" algn="ctr">
              <a:buNone/>
            </a:pPr>
            <a:r>
              <a:rPr lang="en-US" sz="1800" dirty="0">
                <a:solidFill>
                  <a:schemeClr val="tx2"/>
                </a:solidFill>
              </a:rPr>
              <a:t>›</a:t>
            </a:r>
            <a:endParaRPr lang="en-US" sz="1800" dirty="0"/>
          </a:p>
        </p:txBody>
      </p:sp>
      <p:sp>
        <p:nvSpPr>
          <p:cNvPr id="13" name="flow step"/>
          <p:cNvSpPr/>
          <p:nvPr/>
        </p:nvSpPr>
        <p:spPr>
          <a:xfrm>
            <a:off x="2112264" y="4041648"/>
            <a:ext cx="1133856" cy="868680"/>
          </a:xfrm>
          <a:prstGeom prst="roundRect">
            <a:avLst>
              <a:gd name="adj" fmla="val 8421"/>
            </a:avLst>
          </a:prstGeom>
          <a:solidFill>
            <a:schemeClr val="accent3">
              <a:alpha val="18000"/>
            </a:schemeClr>
          </a:solidFill>
          <a:ln/>
        </p:spPr>
        <p:txBody>
          <a:bodyPr/>
          <a:lstStyle/>
          <a:p>
            <a:endParaRPr lang="en-IN"/>
          </a:p>
        </p:txBody>
      </p:sp>
      <p:sp>
        <p:nvSpPr>
          <p:cNvPr id="14" name="Text 10"/>
          <p:cNvSpPr txBox="1"/>
          <p:nvPr/>
        </p:nvSpPr>
        <p:spPr>
          <a:xfrm>
            <a:off x="2185416" y="4041648"/>
            <a:ext cx="987552" cy="868680"/>
          </a:xfrm>
          <a:prstGeom prst="rect">
            <a:avLst/>
          </a:prstGeom>
          <a:noFill/>
          <a:ln/>
        </p:spPr>
        <p:txBody>
          <a:bodyPr wrap="square" lIns="0" tIns="0" rIns="0" bIns="0" rtlCol="0" anchor="ctr"/>
          <a:lstStyle/>
          <a:p>
            <a:pPr marL="0" indent="0" algn="ctr">
              <a:buNone/>
            </a:pPr>
            <a:r>
              <a:rPr lang="en-US" sz="1250" b="1" dirty="0">
                <a:solidFill>
                  <a:schemeClr val="tx1"/>
                </a:solidFill>
              </a:rPr>
              <a:t>code checks the guards</a:t>
            </a:r>
            <a:endParaRPr lang="en-US" sz="1250" dirty="0"/>
          </a:p>
        </p:txBody>
      </p:sp>
      <p:sp>
        <p:nvSpPr>
          <p:cNvPr id="15" name="Text 11"/>
          <p:cNvSpPr txBox="1"/>
          <p:nvPr/>
        </p:nvSpPr>
        <p:spPr>
          <a:xfrm>
            <a:off x="3246120" y="4041648"/>
            <a:ext cx="155448" cy="868680"/>
          </a:xfrm>
          <a:prstGeom prst="rect">
            <a:avLst/>
          </a:prstGeom>
          <a:noFill/>
          <a:ln/>
        </p:spPr>
        <p:txBody>
          <a:bodyPr wrap="square" lIns="0" tIns="0" rIns="0" bIns="0" rtlCol="0" anchor="ctr"/>
          <a:lstStyle/>
          <a:p>
            <a:pPr marL="0" indent="0" algn="ctr">
              <a:buNone/>
            </a:pPr>
            <a:r>
              <a:rPr lang="en-US" sz="1800" dirty="0">
                <a:solidFill>
                  <a:schemeClr val="tx2"/>
                </a:solidFill>
              </a:rPr>
              <a:t>›</a:t>
            </a:r>
            <a:endParaRPr lang="en-US" sz="1800" dirty="0"/>
          </a:p>
        </p:txBody>
      </p:sp>
      <p:sp>
        <p:nvSpPr>
          <p:cNvPr id="16" name="flow step"/>
          <p:cNvSpPr/>
          <p:nvPr/>
        </p:nvSpPr>
        <p:spPr>
          <a:xfrm>
            <a:off x="3401568" y="4041648"/>
            <a:ext cx="1133856" cy="868680"/>
          </a:xfrm>
          <a:prstGeom prst="roundRect">
            <a:avLst>
              <a:gd name="adj" fmla="val 8421"/>
            </a:avLst>
          </a:prstGeom>
          <a:solidFill>
            <a:schemeClr val="accent2">
              <a:alpha val="18000"/>
            </a:schemeClr>
          </a:solidFill>
          <a:ln/>
        </p:spPr>
        <p:txBody>
          <a:bodyPr/>
          <a:lstStyle/>
          <a:p>
            <a:endParaRPr lang="en-IN"/>
          </a:p>
        </p:txBody>
      </p:sp>
      <p:sp>
        <p:nvSpPr>
          <p:cNvPr id="17" name="Text 13"/>
          <p:cNvSpPr txBox="1"/>
          <p:nvPr/>
        </p:nvSpPr>
        <p:spPr>
          <a:xfrm>
            <a:off x="3474720" y="4041648"/>
            <a:ext cx="987552" cy="868680"/>
          </a:xfrm>
          <a:prstGeom prst="rect">
            <a:avLst/>
          </a:prstGeom>
          <a:noFill/>
          <a:ln/>
        </p:spPr>
        <p:txBody>
          <a:bodyPr wrap="square" lIns="0" tIns="0" rIns="0" bIns="0" rtlCol="0" anchor="ctr"/>
          <a:lstStyle/>
          <a:p>
            <a:pPr marL="0" indent="0" algn="ctr">
              <a:buNone/>
            </a:pPr>
            <a:r>
              <a:rPr lang="en-US" sz="1250" b="1" dirty="0">
                <a:solidFill>
                  <a:schemeClr val="tx1"/>
                </a:solidFill>
              </a:rPr>
              <a:t>a person approves</a:t>
            </a:r>
            <a:endParaRPr lang="en-US" sz="1250" dirty="0"/>
          </a:p>
        </p:txBody>
      </p:sp>
      <p:sp>
        <p:nvSpPr>
          <p:cNvPr id="18" name="Text 14"/>
          <p:cNvSpPr txBox="1"/>
          <p:nvPr/>
        </p:nvSpPr>
        <p:spPr>
          <a:xfrm>
            <a:off x="4535424" y="4041648"/>
            <a:ext cx="155448" cy="868680"/>
          </a:xfrm>
          <a:prstGeom prst="rect">
            <a:avLst/>
          </a:prstGeom>
          <a:noFill/>
          <a:ln/>
        </p:spPr>
        <p:txBody>
          <a:bodyPr wrap="square" lIns="0" tIns="0" rIns="0" bIns="0" rtlCol="0" anchor="ctr"/>
          <a:lstStyle/>
          <a:p>
            <a:pPr marL="0" indent="0" algn="ctr">
              <a:buNone/>
            </a:pPr>
            <a:r>
              <a:rPr lang="en-US" sz="1800" dirty="0">
                <a:solidFill>
                  <a:schemeClr val="tx2"/>
                </a:solidFill>
              </a:rPr>
              <a:t>›</a:t>
            </a:r>
            <a:endParaRPr lang="en-US" sz="1800" dirty="0"/>
          </a:p>
        </p:txBody>
      </p:sp>
      <p:sp>
        <p:nvSpPr>
          <p:cNvPr id="19" name="flow step"/>
          <p:cNvSpPr/>
          <p:nvPr/>
        </p:nvSpPr>
        <p:spPr>
          <a:xfrm>
            <a:off x="4690872" y="4041648"/>
            <a:ext cx="1133856" cy="868680"/>
          </a:xfrm>
          <a:prstGeom prst="roundRect">
            <a:avLst>
              <a:gd name="adj" fmla="val 8421"/>
            </a:avLst>
          </a:prstGeom>
          <a:solidFill>
            <a:schemeClr val="accent3">
              <a:alpha val="18000"/>
            </a:schemeClr>
          </a:solidFill>
          <a:ln/>
        </p:spPr>
        <p:txBody>
          <a:bodyPr/>
          <a:lstStyle/>
          <a:p>
            <a:endParaRPr lang="en-IN"/>
          </a:p>
        </p:txBody>
      </p:sp>
      <p:sp>
        <p:nvSpPr>
          <p:cNvPr id="20" name="Text 16"/>
          <p:cNvSpPr txBox="1"/>
          <p:nvPr/>
        </p:nvSpPr>
        <p:spPr>
          <a:xfrm>
            <a:off x="4764024" y="4041648"/>
            <a:ext cx="987552" cy="868680"/>
          </a:xfrm>
          <a:prstGeom prst="rect">
            <a:avLst/>
          </a:prstGeom>
          <a:noFill/>
          <a:ln/>
        </p:spPr>
        <p:txBody>
          <a:bodyPr wrap="square" lIns="0" tIns="0" rIns="0" bIns="0" rtlCol="0" anchor="ctr"/>
          <a:lstStyle/>
          <a:p>
            <a:pPr marL="0" indent="0" algn="ctr">
              <a:buNone/>
            </a:pPr>
            <a:r>
              <a:rPr lang="en-US" sz="1250" b="1" dirty="0">
                <a:solidFill>
                  <a:schemeClr val="tx1"/>
                </a:solidFill>
              </a:rPr>
              <a:t>bank.py rates the damage</a:t>
            </a:r>
            <a:endParaRPr lang="en-US" sz="1250" dirty="0"/>
          </a:p>
        </p:txBody>
      </p:sp>
      <p:sp>
        <p:nvSpPr>
          <p:cNvPr id="21" name="Text 17"/>
          <p:cNvSpPr txBox="1"/>
          <p:nvPr/>
        </p:nvSpPr>
        <p:spPr>
          <a:xfrm>
            <a:off x="5824728" y="4041648"/>
            <a:ext cx="155448" cy="868680"/>
          </a:xfrm>
          <a:prstGeom prst="rect">
            <a:avLst/>
          </a:prstGeom>
          <a:noFill/>
          <a:ln/>
        </p:spPr>
        <p:txBody>
          <a:bodyPr wrap="square" lIns="0" tIns="0" rIns="0" bIns="0" rtlCol="0" anchor="ctr"/>
          <a:lstStyle/>
          <a:p>
            <a:pPr marL="0" indent="0" algn="ctr">
              <a:buNone/>
            </a:pPr>
            <a:r>
              <a:rPr lang="en-US" sz="1800" dirty="0">
                <a:solidFill>
                  <a:schemeClr val="tx2"/>
                </a:solidFill>
              </a:rPr>
              <a:t>›</a:t>
            </a:r>
            <a:endParaRPr lang="en-US" sz="1800" dirty="0"/>
          </a:p>
        </p:txBody>
      </p:sp>
      <p:sp>
        <p:nvSpPr>
          <p:cNvPr id="22" name="flow step"/>
          <p:cNvSpPr/>
          <p:nvPr/>
        </p:nvSpPr>
        <p:spPr>
          <a:xfrm>
            <a:off x="5980176" y="4041648"/>
            <a:ext cx="1133856" cy="868680"/>
          </a:xfrm>
          <a:prstGeom prst="roundRect">
            <a:avLst>
              <a:gd name="adj" fmla="val 8421"/>
            </a:avLst>
          </a:prstGeom>
          <a:solidFill>
            <a:schemeClr val="accent1">
              <a:alpha val="18000"/>
            </a:schemeClr>
          </a:solidFill>
          <a:ln/>
        </p:spPr>
        <p:txBody>
          <a:bodyPr/>
          <a:lstStyle/>
          <a:p>
            <a:endParaRPr lang="en-IN"/>
          </a:p>
        </p:txBody>
      </p:sp>
      <p:sp>
        <p:nvSpPr>
          <p:cNvPr id="23" name="Text 19"/>
          <p:cNvSpPr txBox="1"/>
          <p:nvPr/>
        </p:nvSpPr>
        <p:spPr>
          <a:xfrm>
            <a:off x="6053328" y="4041648"/>
            <a:ext cx="987552" cy="868680"/>
          </a:xfrm>
          <a:prstGeom prst="rect">
            <a:avLst/>
          </a:prstGeom>
          <a:noFill/>
          <a:ln/>
        </p:spPr>
        <p:txBody>
          <a:bodyPr wrap="square" lIns="0" tIns="0" rIns="0" bIns="0" rtlCol="0" anchor="ctr"/>
          <a:lstStyle/>
          <a:p>
            <a:pPr marL="0" indent="0" algn="ctr">
              <a:buNone/>
            </a:pPr>
            <a:r>
              <a:rPr lang="en-US" sz="1250" b="1" dirty="0">
                <a:solidFill>
                  <a:schemeClr val="tx1"/>
                </a:solidFill>
              </a:rPr>
              <a:t>leverage is the fitness</a:t>
            </a:r>
            <a:endParaRPr lang="en-US" sz="1250" dirty="0"/>
          </a:p>
        </p:txBody>
      </p:sp>
      <p:sp>
        <p:nvSpPr>
          <p:cNvPr id="24" name="Text 20"/>
          <p:cNvSpPr txBox="1"/>
          <p:nvPr/>
        </p:nvSpPr>
        <p:spPr>
          <a:xfrm>
            <a:off x="822960" y="5138928"/>
            <a:ext cx="6355080" cy="457200"/>
          </a:xfrm>
          <a:prstGeom prst="rect">
            <a:avLst/>
          </a:prstGeom>
          <a:noFill/>
          <a:ln/>
        </p:spPr>
        <p:txBody>
          <a:bodyPr wrap="square" lIns="0" tIns="0" rIns="0" bIns="0" rtlCol="0" anchor="t"/>
          <a:lstStyle/>
          <a:p>
            <a:pPr marL="0" indent="0">
              <a:buNone/>
            </a:pPr>
            <a:r>
              <a:rPr lang="en-US" sz="1500" dirty="0">
                <a:solidFill>
                  <a:schemeClr val="tx1"/>
                </a:solidFill>
              </a:rPr>
              <a:t>The fittest new faults join the bank, and the planner ranks them like any other.</a:t>
            </a:r>
            <a:endParaRPr lang="en-US" sz="1500" dirty="0"/>
          </a:p>
        </p:txBody>
      </p:sp>
      <p:sp>
        <p:nvSpPr>
          <p:cNvPr id="25" name="card"/>
          <p:cNvSpPr/>
          <p:nvPr/>
        </p:nvSpPr>
        <p:spPr>
          <a:xfrm>
            <a:off x="7726680" y="1737360"/>
            <a:ext cx="3916375" cy="4023360"/>
          </a:xfrm>
          <a:prstGeom prst="roundRect">
            <a:avLst>
              <a:gd name="adj" fmla="val 1401"/>
            </a:avLst>
          </a:prstGeom>
          <a:solidFill>
            <a:schemeClr val="bg1"/>
          </a:solidFill>
          <a:ln w="9525">
            <a:solidFill>
              <a:schemeClr val="tx2">
                <a:alpha val="28000"/>
              </a:schemeClr>
            </a:solidFill>
            <a:prstDash val="solid"/>
          </a:ln>
        </p:spPr>
        <p:txBody>
          <a:bodyPr/>
          <a:lstStyle/>
          <a:p>
            <a:endParaRPr lang="en-IN"/>
          </a:p>
        </p:txBody>
      </p:sp>
      <p:sp>
        <p:nvSpPr>
          <p:cNvPr id="26" name="icon circle"/>
          <p:cNvSpPr/>
          <p:nvPr/>
        </p:nvSpPr>
        <p:spPr>
          <a:xfrm>
            <a:off x="8001000" y="1938528"/>
            <a:ext cx="502920" cy="502920"/>
          </a:xfrm>
          <a:prstGeom prst="ellipse">
            <a:avLst/>
          </a:prstGeom>
          <a:solidFill>
            <a:schemeClr val="accent3"/>
          </a:solidFill>
          <a:ln/>
        </p:spPr>
        <p:txBody>
          <a:bodyPr/>
          <a:lstStyle/>
          <a:p>
            <a:endParaRPr lang="en-IN"/>
          </a:p>
        </p:txBody>
      </p:sp>
      <p:pic>
        <p:nvPicPr>
          <p:cNvPr id="27" name="Image 1" descr="Wrench icon"/>
          <p:cNvPicPr>
            <a:picLocks noChangeAspect="1"/>
          </p:cNvPicPr>
          <p:nvPr/>
        </p:nvPicPr>
        <p:blipFill>
          <a:blip r:embed="rId4"/>
          <a:stretch>
            <a:fillRect/>
          </a:stretch>
        </p:blipFill>
        <p:spPr>
          <a:xfrm>
            <a:off x="8111642" y="2049170"/>
            <a:ext cx="281635" cy="281635"/>
          </a:xfrm>
          <a:prstGeom prst="rect">
            <a:avLst/>
          </a:prstGeom>
        </p:spPr>
      </p:pic>
      <p:sp>
        <p:nvSpPr>
          <p:cNvPr id="28" name="Text 23"/>
          <p:cNvSpPr txBox="1"/>
          <p:nvPr/>
        </p:nvSpPr>
        <p:spPr>
          <a:xfrm>
            <a:off x="8641080" y="1938528"/>
            <a:ext cx="2819095" cy="502920"/>
          </a:xfrm>
          <a:prstGeom prst="rect">
            <a:avLst/>
          </a:prstGeom>
          <a:noFill/>
          <a:ln/>
        </p:spPr>
        <p:txBody>
          <a:bodyPr wrap="square" lIns="0" tIns="0" rIns="0" bIns="0" rtlCol="0" anchor="ctr"/>
          <a:lstStyle/>
          <a:p>
            <a:pPr marL="0" indent="0">
              <a:buNone/>
            </a:pPr>
            <a:r>
              <a:rPr lang="en-US" sz="2100" dirty="0">
                <a:solidFill>
                  <a:schemeClr val="tx1"/>
                </a:solidFill>
                <a:latin typeface="+mj-lt" pitchFamily="34" charset="0"/>
                <a:ea typeface="+mj-lt" pitchFamily="34" charset="-122"/>
                <a:cs typeface="+mj-lt" pitchFamily="34" charset="-120"/>
              </a:rPr>
              <a:t>2 · Verify the code fixes</a:t>
            </a:r>
            <a:endParaRPr lang="en-US" sz="2100" dirty="0"/>
          </a:p>
        </p:txBody>
      </p:sp>
      <p:sp>
        <p:nvSpPr>
          <p:cNvPr id="29" name="Text 24"/>
          <p:cNvSpPr txBox="1"/>
          <p:nvPr/>
        </p:nvSpPr>
        <p:spPr>
          <a:xfrm>
            <a:off x="8001000" y="2606040"/>
            <a:ext cx="3367735" cy="3017520"/>
          </a:xfrm>
          <a:prstGeom prst="rect">
            <a:avLst/>
          </a:prstGeom>
          <a:noFill/>
          <a:ln/>
        </p:spPr>
        <p:txBody>
          <a:bodyPr wrap="square" lIns="0" tIns="0" rIns="0" bIns="0" rtlCol="0" anchor="t"/>
          <a:lstStyle/>
          <a:p>
            <a:pPr marL="0" indent="0">
              <a:spcAft>
                <a:spcPts val="1000"/>
              </a:spcAft>
              <a:buNone/>
            </a:pPr>
            <a:r>
              <a:rPr lang="en-US" sz="1500" dirty="0">
                <a:solidFill>
                  <a:schemeClr val="tx2"/>
                </a:solidFill>
              </a:rPr>
              <a:t>Rebuild checkout to ship before it charges, or refund. Rebuild product-catalog with a query timeout and a circuit breaker.</a:t>
            </a:r>
            <a:endParaRPr lang="en-US" sz="1500" dirty="0"/>
          </a:p>
          <a:p>
            <a:pPr marL="0" indent="0">
              <a:spcAft>
                <a:spcPts val="1000"/>
              </a:spcAft>
              <a:buNone/>
            </a:pPr>
            <a:r>
              <a:rPr lang="en-US" sz="1500" dirty="0">
                <a:solidFill>
                  <a:schemeClr val="tx2"/>
                </a:solidFill>
              </a:rPr>
              <a:t>Then re-run shipping-ship-errors and catalog-db-cutoff: each should drop a tier, and the pool's resilience score should rise.</a:t>
            </a:r>
            <a:endParaRPr lang="en-US" sz="1500" dirty="0"/>
          </a:p>
          <a:p>
            <a:pPr marL="0" indent="0">
              <a:buNone/>
            </a:pPr>
            <a:r>
              <a:rPr lang="en-US" sz="1500" dirty="0">
                <a:solidFill>
                  <a:schemeClr val="tx1"/>
                </a:solidFill>
              </a:rPr>
              <a:t>The same loop that proved the catalog-kill fix.</a:t>
            </a:r>
            <a:endParaRPr lang="en-US" sz="1500" dirty="0"/>
          </a:p>
        </p:txBody>
      </p:sp>
      <p:sp>
        <p:nvSpPr>
          <p:cNvPr id="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00200"/>
            <a:ext cx="10728655" cy="1143000"/>
          </a:xfrm>
          <a:prstGeom prst="rect">
            <a:avLst/>
          </a:prstGeom>
          <a:noFill/>
          <a:ln/>
        </p:spPr>
        <p:txBody>
          <a:bodyPr wrap="square" lIns="0" tIns="0" rIns="0" bIns="0" rtlCol="0" anchor="b"/>
          <a:lstStyle/>
          <a:p>
            <a:pPr marL="0" indent="0" algn="l">
              <a:buNone/>
            </a:pPr>
            <a:r>
              <a:rPr lang="en-US" sz="6000" dirty="0">
                <a:solidFill>
                  <a:schemeClr val="bg1"/>
                </a:solidFill>
              </a:rPr>
              <a:t>Thank you</a:t>
            </a:r>
            <a:endParaRPr lang="en-US" sz="6000" dirty="0"/>
          </a:p>
        </p:txBody>
      </p:sp>
      <p:sp>
        <p:nvSpPr>
          <p:cNvPr id="3" name="Text 0"/>
          <p:cNvSpPr>
            <a:spLocks noGrp="1"/>
          </p:cNvSpPr>
          <p:nvPr>
            <p:ph type="body" idx="101" hasCustomPrompt="1"/>
          </p:nvPr>
        </p:nvSpPr>
        <p:spPr>
          <a:xfrm>
            <a:off x="731520" y="2926080"/>
            <a:ext cx="7863840" cy="1005840"/>
          </a:xfrm>
          <a:prstGeom prst="rect">
            <a:avLst/>
          </a:prstGeom>
          <a:noFill/>
          <a:ln/>
        </p:spPr>
        <p:txBody>
          <a:bodyPr wrap="square" lIns="0" tIns="0" rIns="0" bIns="0" rtlCol="0" anchor="t"/>
          <a:lstStyle/>
          <a:p>
            <a:pPr marL="0" indent="0">
              <a:buNone/>
            </a:pPr>
            <a:r>
              <a:rPr lang="en-US" sz="2000" dirty="0">
                <a:solidFill>
                  <a:schemeClr val="bg2"/>
                </a:solidFill>
              </a:rPr>
              <a:t>Code measures. Models explain. A person decides.</a:t>
            </a:r>
            <a:endParaRPr lang="en-US" sz="2000" dirty="0"/>
          </a:p>
        </p:txBody>
      </p:sp>
      <p:sp>
        <p:nvSpPr>
          <p:cNvPr id="5" name="Text 2"/>
          <p:cNvSpPr txBox="1"/>
          <p:nvPr/>
        </p:nvSpPr>
        <p:spPr>
          <a:xfrm>
            <a:off x="731520" y="4160520"/>
            <a:ext cx="2926080" cy="457200"/>
          </a:xfrm>
          <a:prstGeom prst="rect">
            <a:avLst/>
          </a:prstGeom>
          <a:noFill/>
          <a:ln/>
        </p:spPr>
        <p:txBody>
          <a:bodyPr wrap="square" lIns="0" tIns="0" rIns="0" bIns="0" rtlCol="0" anchor="ctr"/>
          <a:lstStyle/>
          <a:p>
            <a:pPr marL="0" indent="0">
              <a:buNone/>
            </a:pPr>
            <a:r>
              <a:rPr lang="en-US" sz="1500" b="1" dirty="0">
                <a:solidFill>
                  <a:schemeClr val="bg1"/>
                </a:solidFill>
              </a:rPr>
              <a:t>Code and README</a:t>
            </a:r>
            <a:endParaRPr lang="en-US" sz="1500" dirty="0"/>
          </a:p>
        </p:txBody>
      </p:sp>
      <p:sp>
        <p:nvSpPr>
          <p:cNvPr id="6" name="Text 3"/>
          <p:cNvSpPr txBox="1"/>
          <p:nvPr/>
        </p:nvSpPr>
        <p:spPr>
          <a:xfrm>
            <a:off x="3749040" y="4160520"/>
            <a:ext cx="7680960" cy="457200"/>
          </a:xfrm>
          <a:prstGeom prst="rect">
            <a:avLst/>
          </a:prstGeom>
          <a:noFill/>
          <a:ln/>
        </p:spPr>
        <p:txBody>
          <a:bodyPr wrap="square" lIns="0" tIns="0" rIns="0" bIns="0" rtlCol="0" anchor="ctr"/>
          <a:lstStyle/>
          <a:p>
            <a:pPr marL="0" indent="0">
              <a:buNone/>
            </a:pPr>
            <a:r>
              <a:rPr lang="en-US" sz="1500" dirty="0">
                <a:solidFill>
                  <a:schemeClr val="bg2"/>
                </a:solidFill>
                <a:hlinkClick r:id="rId3"/>
              </a:rPr>
              <a:t>github.com/StrikerEureka34/Back-propagandist</a:t>
            </a:r>
            <a:endParaRPr lang="en-US" sz="1500" dirty="0"/>
          </a:p>
        </p:txBody>
      </p:sp>
      <p:sp>
        <p:nvSpPr>
          <p:cNvPr id="7" name="Text 4"/>
          <p:cNvSpPr txBox="1"/>
          <p:nvPr/>
        </p:nvSpPr>
        <p:spPr>
          <a:xfrm>
            <a:off x="731520" y="4754880"/>
            <a:ext cx="2926080" cy="457200"/>
          </a:xfrm>
          <a:prstGeom prst="rect">
            <a:avLst/>
          </a:prstGeom>
          <a:noFill/>
          <a:ln/>
        </p:spPr>
        <p:txBody>
          <a:bodyPr wrap="square" lIns="0" tIns="0" rIns="0" bIns="0" rtlCol="0" anchor="ctr"/>
          <a:lstStyle/>
          <a:p>
            <a:pPr marL="0" indent="0">
              <a:buNone/>
            </a:pPr>
            <a:r>
              <a:rPr lang="en-US" sz="1500" b="1" dirty="0">
                <a:solidFill>
                  <a:schemeClr val="bg1"/>
                </a:solidFill>
              </a:rPr>
              <a:t>Findings report</a:t>
            </a:r>
            <a:endParaRPr lang="en-US" sz="1500" dirty="0"/>
          </a:p>
        </p:txBody>
      </p:sp>
      <p:sp>
        <p:nvSpPr>
          <p:cNvPr id="8" name="Text 5"/>
          <p:cNvSpPr txBox="1"/>
          <p:nvPr/>
        </p:nvSpPr>
        <p:spPr>
          <a:xfrm>
            <a:off x="3749040" y="4754880"/>
            <a:ext cx="7680960" cy="457200"/>
          </a:xfrm>
          <a:prstGeom prst="rect">
            <a:avLst/>
          </a:prstGeom>
          <a:noFill/>
          <a:ln/>
        </p:spPr>
        <p:txBody>
          <a:bodyPr wrap="square" lIns="0" tIns="0" rIns="0" bIns="0" rtlCol="0" anchor="ctr"/>
          <a:lstStyle/>
          <a:p>
            <a:pPr marL="0" indent="0">
              <a:buNone/>
            </a:pPr>
            <a:r>
              <a:rPr lang="en-US" sz="1500" dirty="0">
                <a:solidFill>
                  <a:schemeClr val="bg2"/>
                </a:solidFill>
                <a:hlinkClick r:id="rId4"/>
              </a:rPr>
              <a:t>SUBMIT.md</a:t>
            </a:r>
            <a:r>
              <a:rPr lang="en-US" sz="1500" dirty="0">
                <a:solidFill>
                  <a:schemeClr val="bg2"/>
                </a:solidFill>
              </a:rPr>
              <a:t>, with raw reports in evidence/agent-live-session-1 to 4 </a:t>
            </a:r>
            <a:r>
              <a:rPr lang="en-US" sz="1500" dirty="0">
                <a:solidFill>
                  <a:schemeClr val="bg2"/>
                </a:solidFill>
                <a:hlinkClick r:id="rId5"/>
              </a:rPr>
              <a:t>demo</a:t>
            </a:r>
            <a:endParaRPr lang="en-US" sz="1500" dirty="0"/>
          </a:p>
        </p:txBody>
      </p:sp>
      <p:sp>
        <p:nvSpPr>
          <p:cNvPr id="9" name="Text 6"/>
          <p:cNvSpPr txBox="1"/>
          <p:nvPr/>
        </p:nvSpPr>
        <p:spPr>
          <a:xfrm>
            <a:off x="731520" y="5349240"/>
            <a:ext cx="2926080" cy="457200"/>
          </a:xfrm>
          <a:prstGeom prst="rect">
            <a:avLst/>
          </a:prstGeom>
          <a:noFill/>
          <a:ln/>
        </p:spPr>
        <p:txBody>
          <a:bodyPr wrap="square" lIns="0" tIns="0" rIns="0" bIns="0" rtlCol="0" anchor="ctr"/>
          <a:lstStyle/>
          <a:p>
            <a:pPr marL="0" indent="0">
              <a:buNone/>
            </a:pPr>
            <a:r>
              <a:rPr lang="en-US" sz="1500" b="1" dirty="0">
                <a:solidFill>
                  <a:schemeClr val="bg1"/>
                </a:solidFill>
              </a:rPr>
              <a:t>Try it, no cluster needed</a:t>
            </a:r>
            <a:endParaRPr lang="en-US" sz="1500" dirty="0"/>
          </a:p>
        </p:txBody>
      </p:sp>
      <p:sp>
        <p:nvSpPr>
          <p:cNvPr id="10" name="Text 7"/>
          <p:cNvSpPr txBox="1"/>
          <p:nvPr/>
        </p:nvSpPr>
        <p:spPr>
          <a:xfrm>
            <a:off x="3749040" y="5349240"/>
            <a:ext cx="7680960" cy="457200"/>
          </a:xfrm>
          <a:prstGeom prst="rect">
            <a:avLst/>
          </a:prstGeom>
          <a:noFill/>
          <a:ln/>
        </p:spPr>
        <p:txBody>
          <a:bodyPr wrap="square" lIns="0" tIns="0" rIns="0" bIns="0" rtlCol="0" anchor="ctr"/>
          <a:lstStyle/>
          <a:p>
            <a:pPr marL="0" indent="0">
              <a:buNone/>
            </a:pPr>
            <a:r>
              <a:rPr lang="en-US" sz="1500" dirty="0">
                <a:solidFill>
                  <a:schemeClr val="bg2"/>
                </a:solidFill>
              </a:rPr>
              <a:t>uv sync, then uv run python agent.py --replay bank.json</a:t>
            </a:r>
            <a:endParaRPr lang="en-US" sz="1500" dirty="0"/>
          </a:p>
        </p:txBody>
      </p:sp>
    </p:spTree>
  </p:cSld>
  <p:clrMapOvr>
    <a:masterClrMapping/>
  </p:clrMapOvr>
</p:sld>
</file>

<file path=ppt/theme/theme1.xml><?xml version="1.0" encoding="utf-8"?>
<a:theme xmlns:a="http://schemas.openxmlformats.org/drawingml/2006/main" name="Paper and Signal">
  <a:themeElements>
    <a:clrScheme name="Paper and Signal">
      <a:dk1>
        <a:srgbClr val="17150F"/>
      </a:dk1>
      <a:lt1>
        <a:srgbClr val="FFFFFF"/>
      </a:lt1>
      <a:dk2>
        <a:srgbClr val="5C574C"/>
      </a:dk2>
      <a:lt2>
        <a:srgbClr val="F5F2EA"/>
      </a:lt2>
      <a:accent1>
        <a:srgbClr val="C2410C"/>
      </a:accent1>
      <a:accent2>
        <a:srgbClr val="1C5CAB"/>
      </a:accent2>
      <a:accent3>
        <a:srgbClr val="199E70"/>
      </a:accent3>
      <a:accent4>
        <a:srgbClr val="4A3AA7"/>
      </a:accent4>
      <a:accent5>
        <a:srgbClr val="C98500"/>
      </a:accent5>
      <a:accent6>
        <a:srgbClr val="B42318"/>
      </a:accent6>
      <a:hlink>
        <a:srgbClr val="C2410C"/>
      </a:hlink>
      <a:folHlink>
        <a:srgbClr val="9A3412"/>
      </a:folHlink>
    </a:clrScheme>
    <a:fontScheme name="Paper and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4662</Words>
  <Application>Microsoft Office PowerPoint</Application>
  <PresentationFormat>Widescreen</PresentationFormat>
  <Paragraphs>461</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Paper and Signal</vt:lpstr>
      <vt:lpstr>Back-propagandist</vt:lpstr>
      <vt:lpstr>The team</vt:lpstr>
      <vt:lpstr>Break the shop on purpose, and learn from it</vt:lpstr>
      <vt:lpstr>A hybrid agent: code, models and a person</vt:lpstr>
      <vt:lpstr>A person decides at every critical step</vt:lpstr>
      <vt:lpstr>The sample app: OpenTelemetry Astronomy Shop</vt:lpstr>
      <vt:lpstr>Solution architecture</vt:lpstr>
      <vt:lpstr>How the agents hand off</vt:lpstr>
      <vt:lpstr>Right model, right context, nothing wasted</vt:lpstr>
      <vt:lpstr>Two scores, never mixed</vt:lpstr>
      <vt:lpstr>How far to trust each AI answer</vt:lpstr>
      <vt:lpstr>Tools and technologies</vt:lpstr>
      <vt:lpstr>Failure scenarios we chose, and why</vt:lpstr>
      <vt:lpstr>Measured against a clean baseline</vt:lpstr>
      <vt:lpstr>Safety controls, tested on the cluster</vt:lpstr>
      <vt:lpstr>Demo run: 2 faults, 2 high weaknesses</vt:lpstr>
      <vt:lpstr>Three longer sessions</vt:lpstr>
      <vt:lpstr>Fix verified: catalog-kill, high to low</vt:lpstr>
      <vt:lpstr>What we learned the hard way</vt:lpstr>
      <vt:lpstr>Next: a genetic search, scored by leverage</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Back-propagandist: AI-driven chaos engineering</dc:title>
  <dc:subject>Bosch AI Innovation Challenge submission</dc:subject>
  <dc:creator>PptxGenJS</dc:creator>
  <cp:lastModifiedBy>Vaibhav - 123183741 - MITMPL</cp:lastModifiedBy>
  <cp:revision>3</cp:revision>
  <dcterms:created xsi:type="dcterms:W3CDTF">2026-10-11T07:23:25Z</dcterms:created>
  <dcterms:modified xsi:type="dcterms:W3CDTF">2026-10-11T07:37:18Z</dcterms:modified>
</cp:coreProperties>
</file>